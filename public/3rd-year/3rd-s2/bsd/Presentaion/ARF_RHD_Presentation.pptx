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image" Target="../media/image-4-7.png"/><Relationship Id="rId8" Type="http://schemas.openxmlformats.org/officeDocument/2006/relationships/image" Target="../media/image-4-8.png"/><Relationship Id="rId9" Type="http://schemas.openxmlformats.org/officeDocument/2006/relationships/image" Target="../media/image-4-9.png"/><Relationship Id="rId10" Type="http://schemas.openxmlformats.org/officeDocument/2006/relationships/image" Target="../media/image-4-10.png"/><Relationship Id="rId11" Type="http://schemas.openxmlformats.org/officeDocument/2006/relationships/image" Target="../media/image-4-11.png"/><Relationship Id="rId12" Type="http://schemas.openxmlformats.org/officeDocument/2006/relationships/slideLayout" Target="../slideLayouts/slideLayout1.xml"/><Relationship Id="rId1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image" Target="../media/image-9-6.png"/><Relationship Id="rId7" Type="http://schemas.openxmlformats.org/officeDocument/2006/relationships/image" Target="../media/image-9-7.png"/><Relationship Id="rId8" Type="http://schemas.openxmlformats.org/officeDocument/2006/relationships/image" Target="../media/image-9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3D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206240" cy="6858000"/>
          </a:xfrm>
          <a:prstGeom prst="rect">
            <a:avLst/>
          </a:prstGeom>
          <a:solidFill>
            <a:srgbClr val="1F6FB2"/>
          </a:solidFill>
          <a:ln w="12700">
            <a:solidFill>
              <a:srgbClr val="1F6FB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417320" y="2286000"/>
            <a:ext cx="1371600" cy="13716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91640" y="2560320"/>
            <a:ext cx="822960" cy="8229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48640" y="402336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4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FACULTY OF DENTISTRY</a:t>
            </a:r>
            <a:endParaRPr lang="en-US" sz="1100" dirty="0"/>
          </a:p>
        </p:txBody>
      </p:sp>
      <p:sp>
        <p:nvSpPr>
          <p:cNvPr id="6" name="Text 3"/>
          <p:cNvSpPr/>
          <p:nvPr/>
        </p:nvSpPr>
        <p:spPr>
          <a:xfrm>
            <a:off x="4572000" y="1280160"/>
            <a:ext cx="7132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600" kern="0" dirty="0">
                <a:solidFill>
                  <a:srgbClr val="DCEB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LECTURE PRESENTATION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4572000" y="1783080"/>
            <a:ext cx="71323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Acute Rheumatic Fever</a:t>
            </a:r>
            <a:endParaRPr lang="en-US" sz="38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&amp; Rheumatic Heart Disease</a:t>
            </a:r>
            <a:endParaRPr lang="en-US" sz="3800" dirty="0"/>
          </a:p>
        </p:txBody>
      </p:sp>
      <p:sp>
        <p:nvSpPr>
          <p:cNvPr id="8" name="Shape 5"/>
          <p:cNvSpPr/>
          <p:nvPr/>
        </p:nvSpPr>
        <p:spPr>
          <a:xfrm>
            <a:off x="4572000" y="3520440"/>
            <a:ext cx="548640" cy="54864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4572000" y="3703320"/>
            <a:ext cx="7132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DCEB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PRESENTED BY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4572000" y="402336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Ibrahim Alshahrani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8778240" y="402336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DCEB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2110301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4572000" y="448056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Khalid Baslom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8778240" y="448056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DCEB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1811030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4572000" y="493776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Osama Alomari</a:t>
            </a:r>
            <a:endParaRPr lang="en-US" sz="1600" dirty="0"/>
          </a:p>
        </p:txBody>
      </p:sp>
      <p:sp>
        <p:nvSpPr>
          <p:cNvPr id="15" name="Text 12"/>
          <p:cNvSpPr/>
          <p:nvPr/>
        </p:nvSpPr>
        <p:spPr>
          <a:xfrm>
            <a:off x="8778240" y="493776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DCEB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2110316</a:t>
            </a:r>
            <a:endParaRPr lang="en-US" sz="1400" dirty="0"/>
          </a:p>
        </p:txBody>
      </p:sp>
      <p:sp>
        <p:nvSpPr>
          <p:cNvPr id="16" name="Shape 13"/>
          <p:cNvSpPr/>
          <p:nvPr/>
        </p:nvSpPr>
        <p:spPr>
          <a:xfrm>
            <a:off x="4572000" y="5715000"/>
            <a:ext cx="7132320" cy="0"/>
          </a:xfrm>
          <a:prstGeom prst="line">
            <a:avLst/>
          </a:prstGeom>
          <a:noFill/>
          <a:ln w="9525">
            <a:solidFill>
              <a:srgbClr val="DCEBF7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4572000" y="5806440"/>
            <a:ext cx="7132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DCEB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Reference: Kumar P J. Clinical Medicine. 10th ed. W B Saunders; 2021. p. 544–545.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502920" cy="502920"/>
          </a:xfrm>
          <a:prstGeom prst="roundRect">
            <a:avLst>
              <a:gd name="adj" fmla="val 14545"/>
            </a:avLst>
          </a:prstGeom>
          <a:solidFill>
            <a:srgbClr val="DCEBF7"/>
          </a:solidFill>
          <a:ln w="12700">
            <a:solidFill>
              <a:srgbClr val="DCEBF7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502920"/>
            <a:ext cx="320040" cy="32004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43000" y="365760"/>
            <a:ext cx="10515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3D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Definition &amp; Overview</a:t>
            </a:r>
            <a:endParaRPr lang="en-US" sz="2800" dirty="0"/>
          </a:p>
        </p:txBody>
      </p:sp>
      <p:sp>
        <p:nvSpPr>
          <p:cNvPr id="5" name="Shape 2"/>
          <p:cNvSpPr/>
          <p:nvPr/>
        </p:nvSpPr>
        <p:spPr>
          <a:xfrm>
            <a:off x="457200" y="1051560"/>
            <a:ext cx="11247120" cy="0"/>
          </a:xfrm>
          <a:prstGeom prst="line">
            <a:avLst/>
          </a:prstGeom>
          <a:noFill/>
          <a:ln w="12700">
            <a:solidFill>
              <a:srgbClr val="B9CFE2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Acute Rheumatic Fever &amp; RHD</a:t>
            </a:r>
            <a:endParaRPr lang="en-US" sz="900" dirty="0"/>
          </a:p>
        </p:txBody>
      </p:sp>
      <p:sp>
        <p:nvSpPr>
          <p:cNvPr id="7" name="Shape 4"/>
          <p:cNvSpPr/>
          <p:nvPr/>
        </p:nvSpPr>
        <p:spPr>
          <a:xfrm>
            <a:off x="457200" y="1371600"/>
            <a:ext cx="6400800" cy="4846320"/>
          </a:xfrm>
          <a:prstGeom prst="rect">
            <a:avLst/>
          </a:prstGeom>
          <a:solidFill>
            <a:srgbClr val="DCEBF7"/>
          </a:solidFill>
          <a:ln w="12700">
            <a:solidFill>
              <a:srgbClr val="DCEBF7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10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457200" y="1371600"/>
            <a:ext cx="91440" cy="484632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777240" y="1554480"/>
            <a:ext cx="5943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B3D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ARF?</a:t>
            </a:r>
            <a:endParaRPr lang="en-US" sz="1800" dirty="0"/>
          </a:p>
        </p:txBody>
      </p:sp>
      <p:sp>
        <p:nvSpPr>
          <p:cNvPr id="10" name="Text 7"/>
          <p:cNvSpPr/>
          <p:nvPr/>
        </p:nvSpPr>
        <p:spPr>
          <a:xfrm>
            <a:off x="777240" y="2057400"/>
            <a:ext cx="5943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400" b="1" dirty="0">
                <a:solidFill>
                  <a:srgbClr val="0B3D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Acute Rheumatic Fever (ARF) </a:t>
            </a:r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1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an immune-mediated inflammatory disorder caused by Group A Streptococci, occurring 2–4 weeks after an upper respiratory tract infection (pharyngitis) or skin infection.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777240" y="3520440"/>
            <a:ext cx="5943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i="1" dirty="0">
                <a:solidFill>
                  <a:srgbClr val="1F6F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Affects: heart • skin • joints • CNS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777240" y="4023360"/>
            <a:ext cx="5943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3D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features: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868680" y="4389120"/>
            <a:ext cx="58521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Polyarthritis, chorea, or carditis (alone or combined)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Subcutaneous nodules and erythema marginatum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Repeated attacks → permanent valve damage = RHD</a:t>
            </a:r>
            <a:endParaRPr lang="en-US" sz="1300" dirty="0"/>
          </a:p>
        </p:txBody>
      </p:sp>
      <p:sp>
        <p:nvSpPr>
          <p:cNvPr id="14" name="Shape 11"/>
          <p:cNvSpPr/>
          <p:nvPr/>
        </p:nvSpPr>
        <p:spPr>
          <a:xfrm>
            <a:off x="7223760" y="1371600"/>
            <a:ext cx="448056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B9CFE2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10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7223760" y="1371600"/>
            <a:ext cx="73152" cy="1463040"/>
          </a:xfrm>
          <a:prstGeom prst="rect">
            <a:avLst/>
          </a:prstGeom>
          <a:solidFill>
            <a:srgbClr val="1F6FB2"/>
          </a:solidFill>
          <a:ln w="12700">
            <a:solidFill>
              <a:srgbClr val="1F6FB2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7406640" y="1463040"/>
            <a:ext cx="18288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0B3D6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2–4</a:t>
            </a:r>
            <a:endParaRPr lang="en-US" sz="4400" dirty="0"/>
          </a:p>
        </p:txBody>
      </p:sp>
      <p:sp>
        <p:nvSpPr>
          <p:cNvPr id="17" name="Text 14"/>
          <p:cNvSpPr/>
          <p:nvPr/>
        </p:nvSpPr>
        <p:spPr>
          <a:xfrm>
            <a:off x="9326880" y="160020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WEEKS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9326880" y="201168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strep infection</a:t>
            </a:r>
            <a:endParaRPr lang="en-US" sz="1200" dirty="0"/>
          </a:p>
        </p:txBody>
      </p:sp>
      <p:sp>
        <p:nvSpPr>
          <p:cNvPr id="19" name="Shape 16"/>
          <p:cNvSpPr/>
          <p:nvPr/>
        </p:nvSpPr>
        <p:spPr>
          <a:xfrm>
            <a:off x="7223760" y="2999232"/>
            <a:ext cx="448056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B9CFE2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10000"/>
              </a:srgbClr>
            </a:outerShdw>
          </a:effectLst>
        </p:spPr>
      </p:sp>
      <p:sp>
        <p:nvSpPr>
          <p:cNvPr id="20" name="Shape 17"/>
          <p:cNvSpPr/>
          <p:nvPr/>
        </p:nvSpPr>
        <p:spPr>
          <a:xfrm>
            <a:off x="7223760" y="2999232"/>
            <a:ext cx="73152" cy="1463040"/>
          </a:xfrm>
          <a:prstGeom prst="rect">
            <a:avLst/>
          </a:prstGeom>
          <a:solidFill>
            <a:srgbClr val="1F6FB2"/>
          </a:solidFill>
          <a:ln w="12700">
            <a:solidFill>
              <a:srgbClr val="1F6FB2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7406640" y="3090672"/>
            <a:ext cx="18288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0B3D6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5–15</a:t>
            </a:r>
            <a:endParaRPr lang="en-US" sz="4400" dirty="0"/>
          </a:p>
        </p:txBody>
      </p:sp>
      <p:sp>
        <p:nvSpPr>
          <p:cNvPr id="22" name="Text 19"/>
          <p:cNvSpPr/>
          <p:nvPr/>
        </p:nvSpPr>
        <p:spPr>
          <a:xfrm>
            <a:off x="9326880" y="3227832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YEARS</a:t>
            </a:r>
            <a:endParaRPr lang="en-US" sz="1200" dirty="0"/>
          </a:p>
        </p:txBody>
      </p:sp>
      <p:sp>
        <p:nvSpPr>
          <p:cNvPr id="23" name="Text 20"/>
          <p:cNvSpPr/>
          <p:nvPr/>
        </p:nvSpPr>
        <p:spPr>
          <a:xfrm>
            <a:off x="9326880" y="3639312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peak age affected</a:t>
            </a:r>
            <a:endParaRPr lang="en-US" sz="1200" dirty="0"/>
          </a:p>
        </p:txBody>
      </p:sp>
      <p:sp>
        <p:nvSpPr>
          <p:cNvPr id="24" name="Shape 21"/>
          <p:cNvSpPr/>
          <p:nvPr/>
        </p:nvSpPr>
        <p:spPr>
          <a:xfrm>
            <a:off x="7223760" y="4626864"/>
            <a:ext cx="448056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B9CFE2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10000"/>
              </a:srgbClr>
            </a:outerShdw>
          </a:effectLst>
        </p:spPr>
      </p:sp>
      <p:sp>
        <p:nvSpPr>
          <p:cNvPr id="25" name="Shape 22"/>
          <p:cNvSpPr/>
          <p:nvPr/>
        </p:nvSpPr>
        <p:spPr>
          <a:xfrm>
            <a:off x="7223760" y="4626864"/>
            <a:ext cx="73152" cy="1463040"/>
          </a:xfrm>
          <a:prstGeom prst="rect">
            <a:avLst/>
          </a:prstGeom>
          <a:solidFill>
            <a:srgbClr val="1F6FB2"/>
          </a:solidFill>
          <a:ln w="12700">
            <a:solidFill>
              <a:srgbClr val="1F6FB2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7406640" y="4718304"/>
            <a:ext cx="18288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0B3D6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&lt;5%</a:t>
            </a:r>
            <a:endParaRPr lang="en-US" sz="4400" dirty="0"/>
          </a:p>
        </p:txBody>
      </p:sp>
      <p:sp>
        <p:nvSpPr>
          <p:cNvPr id="27" name="Text 24"/>
          <p:cNvSpPr/>
          <p:nvPr/>
        </p:nvSpPr>
        <p:spPr>
          <a:xfrm>
            <a:off x="9326880" y="4855464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CHRONIC</a:t>
            </a:r>
            <a:endParaRPr lang="en-US" sz="1200" dirty="0"/>
          </a:p>
        </p:txBody>
      </p:sp>
      <p:sp>
        <p:nvSpPr>
          <p:cNvPr id="28" name="Text 25"/>
          <p:cNvSpPr/>
          <p:nvPr/>
        </p:nvSpPr>
        <p:spPr>
          <a:xfrm>
            <a:off x="9326880" y="5266944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persists &gt; 6 months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502920" cy="502920"/>
          </a:xfrm>
          <a:prstGeom prst="roundRect">
            <a:avLst>
              <a:gd name="adj" fmla="val 14545"/>
            </a:avLst>
          </a:prstGeom>
          <a:solidFill>
            <a:srgbClr val="DCEBF7"/>
          </a:solidFill>
          <a:ln w="12700">
            <a:solidFill>
              <a:srgbClr val="DCEBF7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502920"/>
            <a:ext cx="320040" cy="32004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43000" y="365760"/>
            <a:ext cx="10515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3D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Etiology &amp; Risk Factors</a:t>
            </a:r>
            <a:endParaRPr lang="en-US" sz="2800" dirty="0"/>
          </a:p>
        </p:txBody>
      </p:sp>
      <p:sp>
        <p:nvSpPr>
          <p:cNvPr id="5" name="Shape 2"/>
          <p:cNvSpPr/>
          <p:nvPr/>
        </p:nvSpPr>
        <p:spPr>
          <a:xfrm>
            <a:off x="457200" y="1051560"/>
            <a:ext cx="11247120" cy="0"/>
          </a:xfrm>
          <a:prstGeom prst="line">
            <a:avLst/>
          </a:prstGeom>
          <a:noFill/>
          <a:ln w="12700">
            <a:solidFill>
              <a:srgbClr val="B9CFE2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Acute Rheumatic Fever &amp; RHD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457200" y="128016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CAUSE &amp; PATHOGENESIS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457200" y="1691640"/>
            <a:ext cx="5486400" cy="4480560"/>
          </a:xfrm>
          <a:prstGeom prst="rect">
            <a:avLst/>
          </a:prstGeom>
          <a:solidFill>
            <a:srgbClr val="FFFFFF"/>
          </a:solidFill>
          <a:ln w="12700">
            <a:solidFill>
              <a:srgbClr val="B9CFE2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10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685800" y="1828800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B3D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A Streptococcus</a:t>
            </a:r>
            <a:endParaRPr lang="en-US" sz="1800" dirty="0"/>
          </a:p>
        </p:txBody>
      </p:sp>
      <p:sp>
        <p:nvSpPr>
          <p:cNvPr id="10" name="Text 7"/>
          <p:cNvSpPr/>
          <p:nvPr/>
        </p:nvSpPr>
        <p:spPr>
          <a:xfrm>
            <a:off x="685800" y="2331720"/>
            <a:ext cx="51206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1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Triggers an abnormal autoimmune reaction through molecular mimicry — cell-wall M proteins resemble cardiac myosin and other host tissues.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685800" y="3886200"/>
            <a:ext cx="5120640" cy="502920"/>
          </a:xfrm>
          <a:prstGeom prst="roundRect">
            <a:avLst>
              <a:gd name="adj" fmla="val 14545"/>
            </a:avLst>
          </a:prstGeom>
          <a:solidFill>
            <a:srgbClr val="DCEBF7"/>
          </a:solidFill>
          <a:ln w="12700">
            <a:solidFill>
              <a:srgbClr val="DCEBF7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777240" y="3977640"/>
            <a:ext cx="320040" cy="320040"/>
          </a:xfrm>
          <a:prstGeom prst="ellipse">
            <a:avLst/>
          </a:prstGeom>
          <a:solidFill>
            <a:srgbClr val="1F6FB2"/>
          </a:solidFill>
          <a:ln w="12700">
            <a:solidFill>
              <a:srgbClr val="1F6FB2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777240" y="397764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1234440" y="3886200"/>
            <a:ext cx="4480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3D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Strep infection</a:t>
            </a:r>
            <a:endParaRPr lang="en-US" sz="1300" dirty="0"/>
          </a:p>
        </p:txBody>
      </p:sp>
      <p:sp>
        <p:nvSpPr>
          <p:cNvPr id="15" name="Shape 12"/>
          <p:cNvSpPr/>
          <p:nvPr/>
        </p:nvSpPr>
        <p:spPr>
          <a:xfrm>
            <a:off x="685800" y="4572000"/>
            <a:ext cx="5120640" cy="502920"/>
          </a:xfrm>
          <a:prstGeom prst="roundRect">
            <a:avLst>
              <a:gd name="adj" fmla="val 14545"/>
            </a:avLst>
          </a:prstGeom>
          <a:solidFill>
            <a:srgbClr val="DCEBF7"/>
          </a:solidFill>
          <a:ln w="12700">
            <a:solidFill>
              <a:srgbClr val="DCEBF7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777240" y="4663440"/>
            <a:ext cx="320040" cy="320040"/>
          </a:xfrm>
          <a:prstGeom prst="ellipse">
            <a:avLst/>
          </a:prstGeom>
          <a:solidFill>
            <a:srgbClr val="1F6FB2"/>
          </a:solidFill>
          <a:ln w="12700">
            <a:solidFill>
              <a:srgbClr val="1F6FB2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777240" y="466344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8" name="Text 15"/>
          <p:cNvSpPr/>
          <p:nvPr/>
        </p:nvSpPr>
        <p:spPr>
          <a:xfrm>
            <a:off x="1234440" y="4572000"/>
            <a:ext cx="4480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3D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Molecular mimicry</a:t>
            </a:r>
            <a:endParaRPr lang="en-US" sz="1300" dirty="0"/>
          </a:p>
        </p:txBody>
      </p:sp>
      <p:sp>
        <p:nvSpPr>
          <p:cNvPr id="19" name="Shape 16"/>
          <p:cNvSpPr/>
          <p:nvPr/>
        </p:nvSpPr>
        <p:spPr>
          <a:xfrm>
            <a:off x="685800" y="5257800"/>
            <a:ext cx="5120640" cy="502920"/>
          </a:xfrm>
          <a:prstGeom prst="roundRect">
            <a:avLst>
              <a:gd name="adj" fmla="val 14545"/>
            </a:avLst>
          </a:prstGeom>
          <a:solidFill>
            <a:srgbClr val="DCEBF7"/>
          </a:solidFill>
          <a:ln w="12700">
            <a:solidFill>
              <a:srgbClr val="DCEBF7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777240" y="5349240"/>
            <a:ext cx="320040" cy="320040"/>
          </a:xfrm>
          <a:prstGeom prst="ellipse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777240" y="534924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22" name="Text 19"/>
          <p:cNvSpPr/>
          <p:nvPr/>
        </p:nvSpPr>
        <p:spPr>
          <a:xfrm>
            <a:off x="1234440" y="5257800"/>
            <a:ext cx="4480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3D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Autoimmune attack</a:t>
            </a:r>
            <a:endParaRPr lang="en-US" sz="1300" dirty="0"/>
          </a:p>
        </p:txBody>
      </p:sp>
      <p:sp>
        <p:nvSpPr>
          <p:cNvPr id="23" name="Text 20"/>
          <p:cNvSpPr/>
          <p:nvPr/>
        </p:nvSpPr>
        <p:spPr>
          <a:xfrm>
            <a:off x="6309360" y="128016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FACTORS</a:t>
            </a:r>
            <a:endParaRPr lang="en-US" sz="1200" dirty="0"/>
          </a:p>
        </p:txBody>
      </p:sp>
      <p:sp>
        <p:nvSpPr>
          <p:cNvPr id="24" name="Shape 21"/>
          <p:cNvSpPr/>
          <p:nvPr/>
        </p:nvSpPr>
        <p:spPr>
          <a:xfrm>
            <a:off x="6309360" y="1691640"/>
            <a:ext cx="539496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B9CFE2"/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>
            <a:off x="6309360" y="1691640"/>
            <a:ext cx="73152" cy="777240"/>
          </a:xfrm>
          <a:prstGeom prst="rect">
            <a:avLst/>
          </a:prstGeom>
          <a:solidFill>
            <a:srgbClr val="1F6FB2"/>
          </a:solidFill>
          <a:ln w="12700">
            <a:solidFill>
              <a:srgbClr val="1F6FB2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6537960" y="1755648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3D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 5–15 years</a:t>
            </a:r>
            <a:endParaRPr lang="en-US" sz="1300" dirty="0"/>
          </a:p>
        </p:txBody>
      </p:sp>
      <p:sp>
        <p:nvSpPr>
          <p:cNvPr id="27" name="Text 24"/>
          <p:cNvSpPr/>
          <p:nvPr/>
        </p:nvSpPr>
        <p:spPr>
          <a:xfrm>
            <a:off x="6537960" y="2075688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Peak incidence; rare under 4 or after 18</a:t>
            </a:r>
            <a:endParaRPr lang="en-US" sz="1100" dirty="0"/>
          </a:p>
        </p:txBody>
      </p:sp>
      <p:sp>
        <p:nvSpPr>
          <p:cNvPr id="28" name="Shape 25"/>
          <p:cNvSpPr/>
          <p:nvPr/>
        </p:nvSpPr>
        <p:spPr>
          <a:xfrm>
            <a:off x="6309360" y="2560320"/>
            <a:ext cx="539496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B9CFE2"/>
            </a:solidFill>
            <a:prstDash val="solid"/>
          </a:ln>
        </p:spPr>
      </p:sp>
      <p:sp>
        <p:nvSpPr>
          <p:cNvPr id="29" name="Shape 26"/>
          <p:cNvSpPr/>
          <p:nvPr/>
        </p:nvSpPr>
        <p:spPr>
          <a:xfrm>
            <a:off x="6309360" y="2560320"/>
            <a:ext cx="73152" cy="777240"/>
          </a:xfrm>
          <a:prstGeom prst="rect">
            <a:avLst/>
          </a:prstGeom>
          <a:solidFill>
            <a:srgbClr val="1F6FB2"/>
          </a:solidFill>
          <a:ln w="12700">
            <a:solidFill>
              <a:srgbClr val="1F6FB2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6537960" y="2624328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3D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Family history</a:t>
            </a:r>
            <a:endParaRPr lang="en-US" sz="1300" dirty="0"/>
          </a:p>
        </p:txBody>
      </p:sp>
      <p:sp>
        <p:nvSpPr>
          <p:cNvPr id="31" name="Text 28"/>
          <p:cNvSpPr/>
          <p:nvPr/>
        </p:nvSpPr>
        <p:spPr>
          <a:xfrm>
            <a:off x="6537960" y="2944368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rheumatic fever or RHD</a:t>
            </a:r>
            <a:endParaRPr lang="en-US" sz="1100" dirty="0"/>
          </a:p>
        </p:txBody>
      </p:sp>
      <p:sp>
        <p:nvSpPr>
          <p:cNvPr id="32" name="Shape 29"/>
          <p:cNvSpPr/>
          <p:nvPr/>
        </p:nvSpPr>
        <p:spPr>
          <a:xfrm>
            <a:off x="6309360" y="3429000"/>
            <a:ext cx="539496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B9CFE2"/>
            </a:solidFill>
            <a:prstDash val="solid"/>
          </a:ln>
        </p:spPr>
      </p:sp>
      <p:sp>
        <p:nvSpPr>
          <p:cNvPr id="33" name="Shape 30"/>
          <p:cNvSpPr/>
          <p:nvPr/>
        </p:nvSpPr>
        <p:spPr>
          <a:xfrm>
            <a:off x="6309360" y="3429000"/>
            <a:ext cx="73152" cy="777240"/>
          </a:xfrm>
          <a:prstGeom prst="rect">
            <a:avLst/>
          </a:prstGeom>
          <a:solidFill>
            <a:srgbClr val="1F6FB2"/>
          </a:solidFill>
          <a:ln w="12700">
            <a:solidFill>
              <a:srgbClr val="1F6FB2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6537960" y="3493008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3D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Malnutrition</a:t>
            </a:r>
            <a:endParaRPr lang="en-US" sz="1300" dirty="0"/>
          </a:p>
        </p:txBody>
      </p:sp>
      <p:sp>
        <p:nvSpPr>
          <p:cNvPr id="35" name="Text 32"/>
          <p:cNvSpPr/>
          <p:nvPr/>
        </p:nvSpPr>
        <p:spPr>
          <a:xfrm>
            <a:off x="6537960" y="3813048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Weakened host defenses</a:t>
            </a:r>
            <a:endParaRPr lang="en-US" sz="1100" dirty="0"/>
          </a:p>
        </p:txBody>
      </p:sp>
      <p:sp>
        <p:nvSpPr>
          <p:cNvPr id="36" name="Shape 33"/>
          <p:cNvSpPr/>
          <p:nvPr/>
        </p:nvSpPr>
        <p:spPr>
          <a:xfrm>
            <a:off x="6309360" y="4297680"/>
            <a:ext cx="539496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B9CFE2"/>
            </a:solidFill>
            <a:prstDash val="solid"/>
          </a:ln>
        </p:spPr>
      </p:sp>
      <p:sp>
        <p:nvSpPr>
          <p:cNvPr id="37" name="Shape 34"/>
          <p:cNvSpPr/>
          <p:nvPr/>
        </p:nvSpPr>
        <p:spPr>
          <a:xfrm>
            <a:off x="6309360" y="4297680"/>
            <a:ext cx="73152" cy="777240"/>
          </a:xfrm>
          <a:prstGeom prst="rect">
            <a:avLst/>
          </a:prstGeom>
          <a:solidFill>
            <a:srgbClr val="1F6FB2"/>
          </a:solidFill>
          <a:ln w="12700">
            <a:solidFill>
              <a:srgbClr val="1F6FB2"/>
            </a:solidFill>
            <a:prstDash val="solid"/>
          </a:ln>
        </p:spPr>
      </p:sp>
      <p:sp>
        <p:nvSpPr>
          <p:cNvPr id="38" name="Text 35"/>
          <p:cNvSpPr/>
          <p:nvPr/>
        </p:nvSpPr>
        <p:spPr>
          <a:xfrm>
            <a:off x="6537960" y="4361688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3D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Overcrowding</a:t>
            </a:r>
            <a:endParaRPr lang="en-US" sz="1300" dirty="0"/>
          </a:p>
        </p:txBody>
      </p:sp>
      <p:sp>
        <p:nvSpPr>
          <p:cNvPr id="39" name="Text 36"/>
          <p:cNvSpPr/>
          <p:nvPr/>
        </p:nvSpPr>
        <p:spPr>
          <a:xfrm>
            <a:off x="6537960" y="4681728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Increased strep transmission</a:t>
            </a:r>
            <a:endParaRPr lang="en-US" sz="1100" dirty="0"/>
          </a:p>
        </p:txBody>
      </p:sp>
      <p:sp>
        <p:nvSpPr>
          <p:cNvPr id="40" name="Shape 37"/>
          <p:cNvSpPr/>
          <p:nvPr/>
        </p:nvSpPr>
        <p:spPr>
          <a:xfrm>
            <a:off x="6309360" y="5166360"/>
            <a:ext cx="539496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B9CFE2"/>
            </a:solidFill>
            <a:prstDash val="solid"/>
          </a:ln>
        </p:spPr>
      </p:sp>
      <p:sp>
        <p:nvSpPr>
          <p:cNvPr id="41" name="Shape 38"/>
          <p:cNvSpPr/>
          <p:nvPr/>
        </p:nvSpPr>
        <p:spPr>
          <a:xfrm>
            <a:off x="6309360" y="5166360"/>
            <a:ext cx="73152" cy="777240"/>
          </a:xfrm>
          <a:prstGeom prst="rect">
            <a:avLst/>
          </a:prstGeom>
          <a:solidFill>
            <a:srgbClr val="1F6FB2"/>
          </a:solidFill>
          <a:ln w="12700">
            <a:solidFill>
              <a:srgbClr val="1F6FB2"/>
            </a:solidFill>
            <a:prstDash val="solid"/>
          </a:ln>
        </p:spPr>
      </p:sp>
      <p:sp>
        <p:nvSpPr>
          <p:cNvPr id="42" name="Text 39"/>
          <p:cNvSpPr/>
          <p:nvPr/>
        </p:nvSpPr>
        <p:spPr>
          <a:xfrm>
            <a:off x="6537960" y="5230368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3D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socioeconomic status</a:t>
            </a:r>
            <a:endParaRPr lang="en-US" sz="1300" dirty="0"/>
          </a:p>
        </p:txBody>
      </p:sp>
      <p:sp>
        <p:nvSpPr>
          <p:cNvPr id="43" name="Text 40"/>
          <p:cNvSpPr/>
          <p:nvPr/>
        </p:nvSpPr>
        <p:spPr>
          <a:xfrm>
            <a:off x="6537960" y="5550408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Predisposes to recurrent strep infections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502920" cy="502920"/>
          </a:xfrm>
          <a:prstGeom prst="roundRect">
            <a:avLst>
              <a:gd name="adj" fmla="val 14545"/>
            </a:avLst>
          </a:prstGeom>
          <a:solidFill>
            <a:srgbClr val="DCEBF7"/>
          </a:solidFill>
          <a:ln w="12700">
            <a:solidFill>
              <a:srgbClr val="DCEBF7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502920"/>
            <a:ext cx="320040" cy="32004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43000" y="365760"/>
            <a:ext cx="10515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3D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Major Clinical Manifestations</a:t>
            </a:r>
            <a:endParaRPr lang="en-US" sz="2800" dirty="0"/>
          </a:p>
        </p:txBody>
      </p:sp>
      <p:sp>
        <p:nvSpPr>
          <p:cNvPr id="5" name="Shape 2"/>
          <p:cNvSpPr/>
          <p:nvPr/>
        </p:nvSpPr>
        <p:spPr>
          <a:xfrm>
            <a:off x="457200" y="1051560"/>
            <a:ext cx="11247120" cy="0"/>
          </a:xfrm>
          <a:prstGeom prst="line">
            <a:avLst/>
          </a:prstGeom>
          <a:noFill/>
          <a:ln w="12700">
            <a:solidFill>
              <a:srgbClr val="B9CFE2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Acute Rheumatic Fever &amp; RHD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457200" y="118872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Clinical features begin 2–3 (up to 5) weeks after streptococcal infection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457200" y="1691640"/>
            <a:ext cx="2212848" cy="4663440"/>
          </a:xfrm>
          <a:prstGeom prst="rect">
            <a:avLst/>
          </a:prstGeom>
          <a:solidFill>
            <a:srgbClr val="FFFFFF"/>
          </a:solidFill>
          <a:ln w="12700">
            <a:solidFill>
              <a:srgbClr val="B9CFE2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10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457200" y="1691640"/>
            <a:ext cx="2212848" cy="9144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594360" y="1892808"/>
            <a:ext cx="457200" cy="457200"/>
          </a:xfrm>
          <a:prstGeom prst="ellipse">
            <a:avLst/>
          </a:prstGeom>
          <a:solidFill>
            <a:srgbClr val="DCEBF7"/>
          </a:solidFill>
          <a:ln w="12700">
            <a:solidFill>
              <a:srgbClr val="DCEBF7"/>
            </a:solidFill>
            <a:prstDash val="solid"/>
          </a:ln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1984248"/>
            <a:ext cx="274320" cy="27432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097280" y="1874520"/>
            <a:ext cx="143560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0B3D6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92%</a:t>
            </a:r>
            <a:endParaRPr lang="en-US" sz="1800" dirty="0"/>
          </a:p>
        </p:txBody>
      </p:sp>
      <p:sp>
        <p:nvSpPr>
          <p:cNvPr id="13" name="Text 9"/>
          <p:cNvSpPr/>
          <p:nvPr/>
        </p:nvSpPr>
        <p:spPr>
          <a:xfrm>
            <a:off x="548640" y="2468880"/>
            <a:ext cx="202996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3D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Arthritis</a:t>
            </a: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822960" y="2898648"/>
            <a:ext cx="1481328" cy="0"/>
          </a:xfrm>
          <a:prstGeom prst="line">
            <a:avLst/>
          </a:prstGeom>
          <a:noFill/>
          <a:ln w="9525">
            <a:solidFill>
              <a:srgbClr val="B9CFE2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548640" y="3017520"/>
            <a:ext cx="2029968" cy="1522476"/>
          </a:xfrm>
          <a:prstGeom prst="rect">
            <a:avLst/>
          </a:prstGeom>
          <a:solidFill>
            <a:srgbClr val="DCEBF7"/>
          </a:solidFill>
          <a:ln w="9525">
            <a:solidFill>
              <a:srgbClr val="B9CFE2"/>
            </a:solidFill>
            <a:prstDash val="solid"/>
          </a:ln>
        </p:spPr>
      </p:sp>
      <p:pic>
        <p:nvPicPr>
          <p:cNvPr id="16" name="Image 2" descr="/home/claude/arf_pres/img_arthritis_crop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548640" y="3017520"/>
            <a:ext cx="2029968" cy="1522476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621792" y="4649724"/>
            <a:ext cx="1883664" cy="16139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1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Earliest &amp; most common. Migratory polyarthritis of large joints. Resolves in 4–6 wks without damage.</a:t>
            </a:r>
            <a:endParaRPr lang="en-US" sz="950" dirty="0"/>
          </a:p>
        </p:txBody>
      </p:sp>
      <p:sp>
        <p:nvSpPr>
          <p:cNvPr id="18" name="Shape 13"/>
          <p:cNvSpPr/>
          <p:nvPr/>
        </p:nvSpPr>
        <p:spPr>
          <a:xfrm>
            <a:off x="2761488" y="1691640"/>
            <a:ext cx="2212848" cy="4663440"/>
          </a:xfrm>
          <a:prstGeom prst="rect">
            <a:avLst/>
          </a:prstGeom>
          <a:solidFill>
            <a:srgbClr val="FFFFFF"/>
          </a:solidFill>
          <a:ln w="12700">
            <a:solidFill>
              <a:srgbClr val="B9CFE2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10000"/>
              </a:srgbClr>
            </a:outerShdw>
          </a:effectLst>
        </p:spPr>
      </p:sp>
      <p:sp>
        <p:nvSpPr>
          <p:cNvPr id="19" name="Shape 14"/>
          <p:cNvSpPr/>
          <p:nvPr/>
        </p:nvSpPr>
        <p:spPr>
          <a:xfrm>
            <a:off x="2761488" y="1691640"/>
            <a:ext cx="2212848" cy="91440"/>
          </a:xfrm>
          <a:prstGeom prst="rect">
            <a:avLst/>
          </a:prstGeom>
          <a:solidFill>
            <a:srgbClr val="1F6FB2"/>
          </a:solidFill>
          <a:ln w="12700">
            <a:solidFill>
              <a:srgbClr val="1F6FB2"/>
            </a:solidFill>
            <a:prstDash val="solid"/>
          </a:ln>
        </p:spPr>
      </p:sp>
      <p:sp>
        <p:nvSpPr>
          <p:cNvPr id="20" name="Shape 15"/>
          <p:cNvSpPr/>
          <p:nvPr/>
        </p:nvSpPr>
        <p:spPr>
          <a:xfrm>
            <a:off x="2898648" y="1892808"/>
            <a:ext cx="457200" cy="457200"/>
          </a:xfrm>
          <a:prstGeom prst="ellipse">
            <a:avLst/>
          </a:prstGeom>
          <a:solidFill>
            <a:srgbClr val="DCEBF7"/>
          </a:solidFill>
          <a:ln w="12700">
            <a:solidFill>
              <a:srgbClr val="DCEBF7"/>
            </a:solidFill>
            <a:prstDash val="solid"/>
          </a:ln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90088" y="1984248"/>
            <a:ext cx="274320" cy="274320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3401568" y="1874520"/>
            <a:ext cx="143560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0B3D6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30–60%</a:t>
            </a:r>
            <a:endParaRPr lang="en-US" sz="1800" dirty="0"/>
          </a:p>
        </p:txBody>
      </p:sp>
      <p:sp>
        <p:nvSpPr>
          <p:cNvPr id="23" name="Text 17"/>
          <p:cNvSpPr/>
          <p:nvPr/>
        </p:nvSpPr>
        <p:spPr>
          <a:xfrm>
            <a:off x="2852928" y="2468880"/>
            <a:ext cx="202996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3D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Pancarditis</a:t>
            </a:r>
            <a:endParaRPr lang="en-US" sz="1300" dirty="0"/>
          </a:p>
        </p:txBody>
      </p:sp>
      <p:sp>
        <p:nvSpPr>
          <p:cNvPr id="24" name="Shape 18"/>
          <p:cNvSpPr/>
          <p:nvPr/>
        </p:nvSpPr>
        <p:spPr>
          <a:xfrm>
            <a:off x="3127248" y="2898648"/>
            <a:ext cx="1481328" cy="0"/>
          </a:xfrm>
          <a:prstGeom prst="line">
            <a:avLst/>
          </a:prstGeom>
          <a:noFill/>
          <a:ln w="9525">
            <a:solidFill>
              <a:srgbClr val="B9CFE2"/>
            </a:solidFill>
            <a:prstDash val="solid"/>
          </a:ln>
        </p:spPr>
      </p:sp>
      <p:sp>
        <p:nvSpPr>
          <p:cNvPr id="25" name="Shape 19"/>
          <p:cNvSpPr/>
          <p:nvPr/>
        </p:nvSpPr>
        <p:spPr>
          <a:xfrm>
            <a:off x="2852928" y="3017520"/>
            <a:ext cx="2029968" cy="1522476"/>
          </a:xfrm>
          <a:prstGeom prst="rect">
            <a:avLst/>
          </a:prstGeom>
          <a:solidFill>
            <a:srgbClr val="DCEBF7"/>
          </a:solidFill>
          <a:ln w="9525">
            <a:solidFill>
              <a:srgbClr val="B9CFE2"/>
            </a:solidFill>
            <a:prstDash val="solid"/>
          </a:ln>
        </p:spPr>
      </p:sp>
      <p:pic>
        <p:nvPicPr>
          <p:cNvPr id="26" name="Image 4" descr="/home/claude/arf_pres/img_pancarditis_crop.png">    </p:cNvPr>
          <p:cNvPicPr>
            <a:picLocks noChangeAspect="1"/>
          </p:cNvPicPr>
          <p:nvPr/>
        </p:nvPicPr>
        <p:blipFill>
          <a:blip r:embed="rId5"/>
          <a:srcRect l="0" r="0" t="0" b="0"/>
          <a:stretch/>
        </p:blipFill>
        <p:spPr>
          <a:xfrm>
            <a:off x="2852928" y="3017520"/>
            <a:ext cx="2029968" cy="1522476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2926080" y="4649724"/>
            <a:ext cx="1883664" cy="16139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1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Chest pain, dyspnea, edema, palpitations, new murmurs. Risk of permanent valve damage.</a:t>
            </a:r>
            <a:endParaRPr lang="en-US" sz="950" dirty="0"/>
          </a:p>
        </p:txBody>
      </p:sp>
      <p:sp>
        <p:nvSpPr>
          <p:cNvPr id="28" name="Shape 21"/>
          <p:cNvSpPr/>
          <p:nvPr/>
        </p:nvSpPr>
        <p:spPr>
          <a:xfrm>
            <a:off x="5065776" y="1691640"/>
            <a:ext cx="2212848" cy="4663440"/>
          </a:xfrm>
          <a:prstGeom prst="rect">
            <a:avLst/>
          </a:prstGeom>
          <a:solidFill>
            <a:srgbClr val="FFFFFF"/>
          </a:solidFill>
          <a:ln w="12700">
            <a:solidFill>
              <a:srgbClr val="B9CFE2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10000"/>
              </a:srgbClr>
            </a:outerShdw>
          </a:effectLst>
        </p:spPr>
      </p:sp>
      <p:sp>
        <p:nvSpPr>
          <p:cNvPr id="29" name="Shape 22"/>
          <p:cNvSpPr/>
          <p:nvPr/>
        </p:nvSpPr>
        <p:spPr>
          <a:xfrm>
            <a:off x="5065776" y="1691640"/>
            <a:ext cx="2212848" cy="91440"/>
          </a:xfrm>
          <a:prstGeom prst="rect">
            <a:avLst/>
          </a:prstGeom>
          <a:solidFill>
            <a:srgbClr val="1F6FB2"/>
          </a:solidFill>
          <a:ln w="12700">
            <a:solidFill>
              <a:srgbClr val="1F6FB2"/>
            </a:solidFill>
            <a:prstDash val="solid"/>
          </a:ln>
        </p:spPr>
      </p:sp>
      <p:sp>
        <p:nvSpPr>
          <p:cNvPr id="30" name="Shape 23"/>
          <p:cNvSpPr/>
          <p:nvPr/>
        </p:nvSpPr>
        <p:spPr>
          <a:xfrm>
            <a:off x="5202936" y="1892808"/>
            <a:ext cx="457200" cy="457200"/>
          </a:xfrm>
          <a:prstGeom prst="ellipse">
            <a:avLst/>
          </a:prstGeom>
          <a:solidFill>
            <a:srgbClr val="DCEBF7"/>
          </a:solidFill>
          <a:ln w="12700">
            <a:solidFill>
              <a:srgbClr val="DCEBF7"/>
            </a:solidFill>
            <a:prstDash val="solid"/>
          </a:ln>
        </p:spPr>
      </p:sp>
      <p:pic>
        <p:nvPicPr>
          <p:cNvPr id="31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294376" y="1984248"/>
            <a:ext cx="274320" cy="274320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5705856" y="1874520"/>
            <a:ext cx="143560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0B3D6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10–30%</a:t>
            </a:r>
            <a:endParaRPr lang="en-US" sz="1800" dirty="0"/>
          </a:p>
        </p:txBody>
      </p:sp>
      <p:sp>
        <p:nvSpPr>
          <p:cNvPr id="33" name="Text 25"/>
          <p:cNvSpPr/>
          <p:nvPr/>
        </p:nvSpPr>
        <p:spPr>
          <a:xfrm>
            <a:off x="5157216" y="2468880"/>
            <a:ext cx="202996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3D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Sydenham's Chorea</a:t>
            </a:r>
            <a:endParaRPr lang="en-US" sz="1300" dirty="0"/>
          </a:p>
        </p:txBody>
      </p:sp>
      <p:sp>
        <p:nvSpPr>
          <p:cNvPr id="34" name="Shape 26"/>
          <p:cNvSpPr/>
          <p:nvPr/>
        </p:nvSpPr>
        <p:spPr>
          <a:xfrm>
            <a:off x="5431536" y="2898648"/>
            <a:ext cx="1481328" cy="0"/>
          </a:xfrm>
          <a:prstGeom prst="line">
            <a:avLst/>
          </a:prstGeom>
          <a:noFill/>
          <a:ln w="9525">
            <a:solidFill>
              <a:srgbClr val="B9CFE2"/>
            </a:solidFill>
            <a:prstDash val="solid"/>
          </a:ln>
        </p:spPr>
      </p:sp>
      <p:sp>
        <p:nvSpPr>
          <p:cNvPr id="35" name="Shape 27"/>
          <p:cNvSpPr/>
          <p:nvPr/>
        </p:nvSpPr>
        <p:spPr>
          <a:xfrm>
            <a:off x="5157216" y="3017520"/>
            <a:ext cx="2029968" cy="1522476"/>
          </a:xfrm>
          <a:prstGeom prst="rect">
            <a:avLst/>
          </a:prstGeom>
          <a:solidFill>
            <a:srgbClr val="DCEBF7"/>
          </a:solidFill>
          <a:ln w="9525">
            <a:solidFill>
              <a:srgbClr val="B9CFE2"/>
            </a:solidFill>
            <a:prstDash val="solid"/>
          </a:ln>
        </p:spPr>
      </p:sp>
      <p:pic>
        <p:nvPicPr>
          <p:cNvPr id="36" name="Image 6" descr="/home/claude/arf_pres/img_chorea_crop.png">    </p:cNvPr>
          <p:cNvPicPr>
            <a:picLocks noChangeAspect="1"/>
          </p:cNvPicPr>
          <p:nvPr/>
        </p:nvPicPr>
        <p:blipFill>
          <a:blip r:embed="rId7"/>
          <a:srcRect l="0" r="0" t="0" b="0"/>
          <a:stretch/>
        </p:blipFill>
        <p:spPr>
          <a:xfrm>
            <a:off x="5157216" y="3017520"/>
            <a:ext cx="2029968" cy="1522476"/>
          </a:xfrm>
          <a:prstGeom prst="rect">
            <a:avLst/>
          </a:prstGeom>
        </p:spPr>
      </p:pic>
      <p:sp>
        <p:nvSpPr>
          <p:cNvPr id="37" name="Text 28"/>
          <p:cNvSpPr/>
          <p:nvPr/>
        </p:nvSpPr>
        <p:spPr>
          <a:xfrm>
            <a:off x="5230368" y="4649724"/>
            <a:ext cx="1883664" cy="16139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1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 onset (≥ 6 mo). Purposeless movements; disappears in sleep. Mostly females.</a:t>
            </a:r>
            <a:endParaRPr lang="en-US" sz="950" dirty="0"/>
          </a:p>
        </p:txBody>
      </p:sp>
      <p:sp>
        <p:nvSpPr>
          <p:cNvPr id="38" name="Shape 29"/>
          <p:cNvSpPr/>
          <p:nvPr/>
        </p:nvSpPr>
        <p:spPr>
          <a:xfrm>
            <a:off x="7370064" y="1691640"/>
            <a:ext cx="2212848" cy="4663440"/>
          </a:xfrm>
          <a:prstGeom prst="rect">
            <a:avLst/>
          </a:prstGeom>
          <a:solidFill>
            <a:srgbClr val="FFFFFF"/>
          </a:solidFill>
          <a:ln w="12700">
            <a:solidFill>
              <a:srgbClr val="B9CFE2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10000"/>
              </a:srgbClr>
            </a:outerShdw>
          </a:effectLst>
        </p:spPr>
      </p:sp>
      <p:sp>
        <p:nvSpPr>
          <p:cNvPr id="39" name="Shape 30"/>
          <p:cNvSpPr/>
          <p:nvPr/>
        </p:nvSpPr>
        <p:spPr>
          <a:xfrm>
            <a:off x="7370064" y="1691640"/>
            <a:ext cx="2212848" cy="91440"/>
          </a:xfrm>
          <a:prstGeom prst="rect">
            <a:avLst/>
          </a:prstGeom>
          <a:solidFill>
            <a:srgbClr val="1F6FB2"/>
          </a:solidFill>
          <a:ln w="12700">
            <a:solidFill>
              <a:srgbClr val="1F6FB2"/>
            </a:solidFill>
            <a:prstDash val="solid"/>
          </a:ln>
        </p:spPr>
      </p:sp>
      <p:sp>
        <p:nvSpPr>
          <p:cNvPr id="40" name="Shape 31"/>
          <p:cNvSpPr/>
          <p:nvPr/>
        </p:nvSpPr>
        <p:spPr>
          <a:xfrm>
            <a:off x="7507224" y="1892808"/>
            <a:ext cx="457200" cy="457200"/>
          </a:xfrm>
          <a:prstGeom prst="ellipse">
            <a:avLst/>
          </a:prstGeom>
          <a:solidFill>
            <a:srgbClr val="DCEBF7"/>
          </a:solidFill>
          <a:ln w="12700">
            <a:solidFill>
              <a:srgbClr val="DCEBF7"/>
            </a:solidFill>
            <a:prstDash val="solid"/>
          </a:ln>
        </p:spPr>
      </p:sp>
      <p:pic>
        <p:nvPicPr>
          <p:cNvPr id="41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598664" y="1984248"/>
            <a:ext cx="274320" cy="274320"/>
          </a:xfrm>
          <a:prstGeom prst="rect">
            <a:avLst/>
          </a:prstGeom>
        </p:spPr>
      </p:pic>
      <p:sp>
        <p:nvSpPr>
          <p:cNvPr id="42" name="Text 32"/>
          <p:cNvSpPr/>
          <p:nvPr/>
        </p:nvSpPr>
        <p:spPr>
          <a:xfrm>
            <a:off x="8010144" y="1874520"/>
            <a:ext cx="143560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0B3D6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0–8%</a:t>
            </a:r>
            <a:endParaRPr lang="en-US" sz="1800" dirty="0"/>
          </a:p>
        </p:txBody>
      </p:sp>
      <p:sp>
        <p:nvSpPr>
          <p:cNvPr id="43" name="Text 33"/>
          <p:cNvSpPr/>
          <p:nvPr/>
        </p:nvSpPr>
        <p:spPr>
          <a:xfrm>
            <a:off x="7461504" y="2468880"/>
            <a:ext cx="202996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3D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Subcutaneous Nodules</a:t>
            </a:r>
            <a:endParaRPr lang="en-US" sz="1300" dirty="0"/>
          </a:p>
        </p:txBody>
      </p:sp>
      <p:sp>
        <p:nvSpPr>
          <p:cNvPr id="44" name="Shape 34"/>
          <p:cNvSpPr/>
          <p:nvPr/>
        </p:nvSpPr>
        <p:spPr>
          <a:xfrm>
            <a:off x="7735824" y="2898648"/>
            <a:ext cx="1481328" cy="0"/>
          </a:xfrm>
          <a:prstGeom prst="line">
            <a:avLst/>
          </a:prstGeom>
          <a:noFill/>
          <a:ln w="9525">
            <a:solidFill>
              <a:srgbClr val="B9CFE2"/>
            </a:solidFill>
            <a:prstDash val="solid"/>
          </a:ln>
        </p:spPr>
      </p:sp>
      <p:sp>
        <p:nvSpPr>
          <p:cNvPr id="45" name="Shape 35"/>
          <p:cNvSpPr/>
          <p:nvPr/>
        </p:nvSpPr>
        <p:spPr>
          <a:xfrm>
            <a:off x="7461504" y="3017520"/>
            <a:ext cx="2029968" cy="1522476"/>
          </a:xfrm>
          <a:prstGeom prst="rect">
            <a:avLst/>
          </a:prstGeom>
          <a:solidFill>
            <a:srgbClr val="DCEBF7"/>
          </a:solidFill>
          <a:ln w="9525">
            <a:solidFill>
              <a:srgbClr val="B9CFE2"/>
            </a:solidFill>
            <a:prstDash val="solid"/>
          </a:ln>
        </p:spPr>
      </p:sp>
      <p:pic>
        <p:nvPicPr>
          <p:cNvPr id="46" name="Image 8" descr="/home/claude/arf_pres/img_nodule_crop.png">    </p:cNvPr>
          <p:cNvPicPr>
            <a:picLocks noChangeAspect="1"/>
          </p:cNvPicPr>
          <p:nvPr/>
        </p:nvPicPr>
        <p:blipFill>
          <a:blip r:embed="rId9"/>
          <a:srcRect l="0" r="0" t="0" b="0"/>
          <a:stretch/>
        </p:blipFill>
        <p:spPr>
          <a:xfrm>
            <a:off x="7461504" y="3017520"/>
            <a:ext cx="2029968" cy="1522476"/>
          </a:xfrm>
          <a:prstGeom prst="rect">
            <a:avLst/>
          </a:prstGeom>
        </p:spPr>
      </p:pic>
      <p:sp>
        <p:nvSpPr>
          <p:cNvPr id="47" name="Text 36"/>
          <p:cNvSpPr/>
          <p:nvPr/>
        </p:nvSpPr>
        <p:spPr>
          <a:xfrm>
            <a:off x="7534656" y="4649724"/>
            <a:ext cx="1883664" cy="16139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1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Painless, firm, 0.5–2 cm. Over extensor surfaces &amp; bony prominences. Linked to severe carditis.</a:t>
            </a:r>
            <a:endParaRPr lang="en-US" sz="950" dirty="0"/>
          </a:p>
        </p:txBody>
      </p:sp>
      <p:sp>
        <p:nvSpPr>
          <p:cNvPr id="48" name="Shape 37"/>
          <p:cNvSpPr/>
          <p:nvPr/>
        </p:nvSpPr>
        <p:spPr>
          <a:xfrm>
            <a:off x="9674352" y="1691640"/>
            <a:ext cx="2212848" cy="4663440"/>
          </a:xfrm>
          <a:prstGeom prst="rect">
            <a:avLst/>
          </a:prstGeom>
          <a:solidFill>
            <a:srgbClr val="FFFFFF"/>
          </a:solidFill>
          <a:ln w="12700">
            <a:solidFill>
              <a:srgbClr val="B9CFE2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10000"/>
              </a:srgbClr>
            </a:outerShdw>
          </a:effectLst>
        </p:spPr>
      </p:sp>
      <p:sp>
        <p:nvSpPr>
          <p:cNvPr id="49" name="Shape 38"/>
          <p:cNvSpPr/>
          <p:nvPr/>
        </p:nvSpPr>
        <p:spPr>
          <a:xfrm>
            <a:off x="9674352" y="1691640"/>
            <a:ext cx="2212848" cy="91440"/>
          </a:xfrm>
          <a:prstGeom prst="rect">
            <a:avLst/>
          </a:prstGeom>
          <a:solidFill>
            <a:srgbClr val="1F6FB2"/>
          </a:solidFill>
          <a:ln w="12700">
            <a:solidFill>
              <a:srgbClr val="1F6FB2"/>
            </a:solidFill>
            <a:prstDash val="solid"/>
          </a:ln>
        </p:spPr>
      </p:sp>
      <p:sp>
        <p:nvSpPr>
          <p:cNvPr id="50" name="Shape 39"/>
          <p:cNvSpPr/>
          <p:nvPr/>
        </p:nvSpPr>
        <p:spPr>
          <a:xfrm>
            <a:off x="9811512" y="1892808"/>
            <a:ext cx="457200" cy="457200"/>
          </a:xfrm>
          <a:prstGeom prst="ellipse">
            <a:avLst/>
          </a:prstGeom>
          <a:solidFill>
            <a:srgbClr val="DCEBF7"/>
          </a:solidFill>
          <a:ln w="12700">
            <a:solidFill>
              <a:srgbClr val="DCEBF7"/>
            </a:solidFill>
            <a:prstDash val="solid"/>
          </a:ln>
        </p:spPr>
      </p:sp>
      <p:pic>
        <p:nvPicPr>
          <p:cNvPr id="51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902952" y="1984248"/>
            <a:ext cx="274320" cy="274320"/>
          </a:xfrm>
          <a:prstGeom prst="rect">
            <a:avLst/>
          </a:prstGeom>
        </p:spPr>
      </p:pic>
      <p:sp>
        <p:nvSpPr>
          <p:cNvPr id="52" name="Text 40"/>
          <p:cNvSpPr/>
          <p:nvPr/>
        </p:nvSpPr>
        <p:spPr>
          <a:xfrm>
            <a:off x="10314432" y="1874520"/>
            <a:ext cx="143560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0B3D6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&lt; 2%</a:t>
            </a:r>
            <a:endParaRPr lang="en-US" sz="1800" dirty="0"/>
          </a:p>
        </p:txBody>
      </p:sp>
      <p:sp>
        <p:nvSpPr>
          <p:cNvPr id="53" name="Text 41"/>
          <p:cNvSpPr/>
          <p:nvPr/>
        </p:nvSpPr>
        <p:spPr>
          <a:xfrm>
            <a:off x="9765792" y="2468880"/>
            <a:ext cx="202996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3D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Erythema Marginatum</a:t>
            </a:r>
            <a:endParaRPr lang="en-US" sz="1300" dirty="0"/>
          </a:p>
        </p:txBody>
      </p:sp>
      <p:sp>
        <p:nvSpPr>
          <p:cNvPr id="54" name="Shape 42"/>
          <p:cNvSpPr/>
          <p:nvPr/>
        </p:nvSpPr>
        <p:spPr>
          <a:xfrm>
            <a:off x="10040112" y="2898648"/>
            <a:ext cx="1481328" cy="0"/>
          </a:xfrm>
          <a:prstGeom prst="line">
            <a:avLst/>
          </a:prstGeom>
          <a:noFill/>
          <a:ln w="9525">
            <a:solidFill>
              <a:srgbClr val="B9CFE2"/>
            </a:solidFill>
            <a:prstDash val="solid"/>
          </a:ln>
        </p:spPr>
      </p:sp>
      <p:sp>
        <p:nvSpPr>
          <p:cNvPr id="55" name="Shape 43"/>
          <p:cNvSpPr/>
          <p:nvPr/>
        </p:nvSpPr>
        <p:spPr>
          <a:xfrm>
            <a:off x="9765792" y="3017520"/>
            <a:ext cx="2029968" cy="1522476"/>
          </a:xfrm>
          <a:prstGeom prst="rect">
            <a:avLst/>
          </a:prstGeom>
          <a:solidFill>
            <a:srgbClr val="DCEBF7"/>
          </a:solidFill>
          <a:ln w="9525">
            <a:solidFill>
              <a:srgbClr val="B9CFE2"/>
            </a:solidFill>
            <a:prstDash val="solid"/>
          </a:ln>
        </p:spPr>
      </p:sp>
      <p:pic>
        <p:nvPicPr>
          <p:cNvPr id="56" name="Image 10" descr="/home/claude/arf_pres/img_erythema_crop.png">    </p:cNvPr>
          <p:cNvPicPr>
            <a:picLocks noChangeAspect="1"/>
          </p:cNvPicPr>
          <p:nvPr/>
        </p:nvPicPr>
        <p:blipFill>
          <a:blip r:embed="rId11"/>
          <a:srcRect l="0" r="0" t="0" b="0"/>
          <a:stretch/>
        </p:blipFill>
        <p:spPr>
          <a:xfrm>
            <a:off x="9765792" y="3017520"/>
            <a:ext cx="2029968" cy="1522476"/>
          </a:xfrm>
          <a:prstGeom prst="rect">
            <a:avLst/>
          </a:prstGeom>
        </p:spPr>
      </p:pic>
      <p:sp>
        <p:nvSpPr>
          <p:cNvPr id="57" name="Text 44"/>
          <p:cNvSpPr/>
          <p:nvPr/>
        </p:nvSpPr>
        <p:spPr>
          <a:xfrm>
            <a:off x="9838944" y="4649724"/>
            <a:ext cx="1883664" cy="16139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1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Highly specific. Transient pink rash with raised edges on trunk &amp; proximal limbs.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502920" cy="502920"/>
          </a:xfrm>
          <a:prstGeom prst="roundRect">
            <a:avLst>
              <a:gd name="adj" fmla="val 14545"/>
            </a:avLst>
          </a:prstGeom>
          <a:solidFill>
            <a:srgbClr val="DCEBF7"/>
          </a:solidFill>
          <a:ln w="12700">
            <a:solidFill>
              <a:srgbClr val="DCEBF7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502920"/>
            <a:ext cx="320040" cy="32004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43000" y="365760"/>
            <a:ext cx="10515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3D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Diagnosis — Jones Criteria</a:t>
            </a:r>
            <a:endParaRPr lang="en-US" sz="2800" dirty="0"/>
          </a:p>
        </p:txBody>
      </p:sp>
      <p:sp>
        <p:nvSpPr>
          <p:cNvPr id="5" name="Shape 2"/>
          <p:cNvSpPr/>
          <p:nvPr/>
        </p:nvSpPr>
        <p:spPr>
          <a:xfrm>
            <a:off x="457200" y="1051560"/>
            <a:ext cx="11247120" cy="0"/>
          </a:xfrm>
          <a:prstGeom prst="line">
            <a:avLst/>
          </a:prstGeom>
          <a:noFill/>
          <a:ln w="12700">
            <a:solidFill>
              <a:srgbClr val="B9CFE2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Acute Rheumatic Fever &amp; RHD</a:t>
            </a:r>
            <a:endParaRPr lang="en-US" sz="900" dirty="0"/>
          </a:p>
        </p:txBody>
      </p:sp>
      <p:sp>
        <p:nvSpPr>
          <p:cNvPr id="7" name="Shape 4"/>
          <p:cNvSpPr/>
          <p:nvPr/>
        </p:nvSpPr>
        <p:spPr>
          <a:xfrm>
            <a:off x="457200" y="1280160"/>
            <a:ext cx="11247120" cy="777240"/>
          </a:xfrm>
          <a:prstGeom prst="rect">
            <a:avLst/>
          </a:prstGeom>
          <a:solidFill>
            <a:srgbClr val="0B3D6E"/>
          </a:solidFill>
          <a:ln w="12700">
            <a:solidFill>
              <a:srgbClr val="0B3D6E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640080" y="1280160"/>
            <a:ext cx="10972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Diagnosis requires:  </a:t>
            </a:r>
            <a:pPr indent="0" marL="0">
              <a:buNone/>
            </a:pPr>
            <a:r>
              <a:rPr lang="en-US" sz="1600" b="1" dirty="0">
                <a:solidFill>
                  <a:srgbClr val="DCEB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major 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  </a:t>
            </a:r>
            <a:pPr indent="0" marL="0">
              <a:buNone/>
            </a:pPr>
            <a:r>
              <a:rPr lang="en-US" sz="1600" b="1" dirty="0">
                <a:solidFill>
                  <a:srgbClr val="DCEB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major + 2 minor  </a:t>
            </a:r>
            <a:pPr indent="0" marL="0">
              <a:buNone/>
            </a:pPr>
            <a:r>
              <a:rPr lang="en-US" sz="13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PLUS evidence of recent streptococcal infection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457200" y="2286000"/>
            <a:ext cx="3703320" cy="3931920"/>
          </a:xfrm>
          <a:prstGeom prst="rect">
            <a:avLst/>
          </a:prstGeom>
          <a:solidFill>
            <a:srgbClr val="FFFFFF"/>
          </a:solidFill>
          <a:ln w="12700">
            <a:solidFill>
              <a:srgbClr val="B9CFE2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57200" y="2286000"/>
            <a:ext cx="3703320" cy="50292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457200" y="2286000"/>
            <a:ext cx="3703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MAJOR CRITERIA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685800" y="2926080"/>
            <a:ext cx="329184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0"/>
              </a:spcAft>
              <a:buNone/>
            </a:pPr>
            <a:r>
              <a:rPr lang="en-US" sz="1400" dirty="0">
                <a:solidFill>
                  <a:srgbClr val="1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  – Joint involvement (polyarthritis)</a:t>
            </a:r>
            <a:endParaRPr lang="en-US" sz="14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400" dirty="0">
                <a:solidFill>
                  <a:srgbClr val="1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 – ♥ (carditis / myocarditis)</a:t>
            </a:r>
            <a:endParaRPr lang="en-US" sz="14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400" dirty="0">
                <a:solidFill>
                  <a:srgbClr val="1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  – Nodules (subcutaneous)</a:t>
            </a:r>
            <a:endParaRPr lang="en-US" sz="14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400" dirty="0">
                <a:solidFill>
                  <a:srgbClr val="1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  – Erythema marginatum</a:t>
            </a:r>
            <a:endParaRPr lang="en-US" sz="14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400" dirty="0">
                <a:solidFill>
                  <a:srgbClr val="1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  – Sydenham's chorea</a:t>
            </a:r>
            <a:endParaRPr lang="en-US" sz="1400" dirty="0"/>
          </a:p>
        </p:txBody>
      </p:sp>
      <p:sp>
        <p:nvSpPr>
          <p:cNvPr id="13" name="Shape 10"/>
          <p:cNvSpPr/>
          <p:nvPr/>
        </p:nvSpPr>
        <p:spPr>
          <a:xfrm>
            <a:off x="4251960" y="2286000"/>
            <a:ext cx="3703320" cy="3931920"/>
          </a:xfrm>
          <a:prstGeom prst="rect">
            <a:avLst/>
          </a:prstGeom>
          <a:solidFill>
            <a:srgbClr val="FFFFFF"/>
          </a:solidFill>
          <a:ln w="12700">
            <a:solidFill>
              <a:srgbClr val="B9CFE2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10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4251960" y="2286000"/>
            <a:ext cx="3703320" cy="502920"/>
          </a:xfrm>
          <a:prstGeom prst="rect">
            <a:avLst/>
          </a:prstGeom>
          <a:solidFill>
            <a:srgbClr val="1F6FB2"/>
          </a:solidFill>
          <a:ln w="12700">
            <a:solidFill>
              <a:srgbClr val="1F6FB2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4251960" y="2286000"/>
            <a:ext cx="3703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MINOR CRITERIA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4480560" y="2926080"/>
            <a:ext cx="329184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Fever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Arthralgia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Elevated ESR / CRP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Prolonged PR interval (ECG)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Leukocytosis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Previous rheumatic fever</a:t>
            </a:r>
            <a:endParaRPr lang="en-US" sz="1300" dirty="0"/>
          </a:p>
        </p:txBody>
      </p:sp>
      <p:sp>
        <p:nvSpPr>
          <p:cNvPr id="17" name="Shape 14"/>
          <p:cNvSpPr/>
          <p:nvPr/>
        </p:nvSpPr>
        <p:spPr>
          <a:xfrm>
            <a:off x="8046720" y="2286000"/>
            <a:ext cx="3657600" cy="3931920"/>
          </a:xfrm>
          <a:prstGeom prst="rect">
            <a:avLst/>
          </a:prstGeom>
          <a:solidFill>
            <a:srgbClr val="FFFFFF"/>
          </a:solidFill>
          <a:ln w="12700">
            <a:solidFill>
              <a:srgbClr val="B9CFE2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10000"/>
              </a:srgbClr>
            </a:outerShdw>
          </a:effectLst>
        </p:spPr>
      </p:sp>
      <p:sp>
        <p:nvSpPr>
          <p:cNvPr id="18" name="Shape 15"/>
          <p:cNvSpPr/>
          <p:nvPr/>
        </p:nvSpPr>
        <p:spPr>
          <a:xfrm>
            <a:off x="8046720" y="2286000"/>
            <a:ext cx="3657600" cy="502920"/>
          </a:xfrm>
          <a:prstGeom prst="rect">
            <a:avLst/>
          </a:prstGeom>
          <a:solidFill>
            <a:srgbClr val="0B3D6E"/>
          </a:solidFill>
          <a:ln w="12700">
            <a:solidFill>
              <a:srgbClr val="0B3D6E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8046720" y="2286000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STREP EVIDENCE</a:t>
            </a:r>
            <a:endParaRPr lang="en-US" sz="1300" dirty="0"/>
          </a:p>
        </p:txBody>
      </p:sp>
      <p:sp>
        <p:nvSpPr>
          <p:cNvPr id="20" name="Text 17"/>
          <p:cNvSpPr/>
          <p:nvPr/>
        </p:nvSpPr>
        <p:spPr>
          <a:xfrm>
            <a:off x="8275320" y="2926080"/>
            <a:ext cx="329184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Positive throat culture for Group A Strep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Elevated ASO titer (&gt; 200 U/mL)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History of scarlet fever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Other serological assay for streptococci</a:t>
            </a:r>
            <a:endParaRPr lang="en-US" sz="12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502920" cy="502920"/>
          </a:xfrm>
          <a:prstGeom prst="roundRect">
            <a:avLst>
              <a:gd name="adj" fmla="val 14545"/>
            </a:avLst>
          </a:prstGeom>
          <a:solidFill>
            <a:srgbClr val="DCEBF7"/>
          </a:solidFill>
          <a:ln w="12700">
            <a:solidFill>
              <a:srgbClr val="DCEBF7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502920"/>
            <a:ext cx="320040" cy="32004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43000" y="365760"/>
            <a:ext cx="10515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3D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Investigations</a:t>
            </a:r>
            <a:endParaRPr lang="en-US" sz="2800" dirty="0"/>
          </a:p>
        </p:txBody>
      </p:sp>
      <p:sp>
        <p:nvSpPr>
          <p:cNvPr id="5" name="Shape 2"/>
          <p:cNvSpPr/>
          <p:nvPr/>
        </p:nvSpPr>
        <p:spPr>
          <a:xfrm>
            <a:off x="457200" y="1051560"/>
            <a:ext cx="11247120" cy="0"/>
          </a:xfrm>
          <a:prstGeom prst="line">
            <a:avLst/>
          </a:prstGeom>
          <a:noFill/>
          <a:ln w="12700">
            <a:solidFill>
              <a:srgbClr val="B9CFE2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Acute Rheumatic Fever &amp; RHD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457200" y="118872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single laboratory test confirms ARF — diagnosis is clinical, supported by labs.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457200" y="1691640"/>
            <a:ext cx="5669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LABORATORY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457200" y="2103120"/>
            <a:ext cx="566928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B9CFE2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457200" y="2103120"/>
            <a:ext cx="73152" cy="685800"/>
          </a:xfrm>
          <a:prstGeom prst="rect">
            <a:avLst/>
          </a:prstGeom>
          <a:solidFill>
            <a:srgbClr val="1F6FB2"/>
          </a:solidFill>
          <a:ln w="12700">
            <a:solidFill>
              <a:srgbClr val="1F6FB2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685800" y="2176272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3D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CBC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2697480" y="2176272"/>
            <a:ext cx="3337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↑ WBC (12,000–20,000/µL)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457200" y="2880360"/>
            <a:ext cx="566928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B9CFE2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457200" y="2880360"/>
            <a:ext cx="73152" cy="685800"/>
          </a:xfrm>
          <a:prstGeom prst="rect">
            <a:avLst/>
          </a:prstGeom>
          <a:solidFill>
            <a:srgbClr val="1F6FB2"/>
          </a:solidFill>
          <a:ln w="12700">
            <a:solidFill>
              <a:srgbClr val="1F6FB2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685800" y="2953512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3D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ESR &amp; CRP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2697480" y="2953512"/>
            <a:ext cx="3337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Elevated (acute inflammation)</a:t>
            </a:r>
            <a:endParaRPr lang="en-US" sz="1200" dirty="0"/>
          </a:p>
        </p:txBody>
      </p:sp>
      <p:sp>
        <p:nvSpPr>
          <p:cNvPr id="17" name="Shape 14"/>
          <p:cNvSpPr/>
          <p:nvPr/>
        </p:nvSpPr>
        <p:spPr>
          <a:xfrm>
            <a:off x="457200" y="3657600"/>
            <a:ext cx="566928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B9CFE2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457200" y="3657600"/>
            <a:ext cx="73152" cy="685800"/>
          </a:xfrm>
          <a:prstGeom prst="rect">
            <a:avLst/>
          </a:prstGeom>
          <a:solidFill>
            <a:srgbClr val="1F6FB2"/>
          </a:solidFill>
          <a:ln w="12700">
            <a:solidFill>
              <a:srgbClr val="1F6FB2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685800" y="3730752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3D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Throat swab culture</a:t>
            </a:r>
            <a:endParaRPr lang="en-US" sz="1300" dirty="0"/>
          </a:p>
        </p:txBody>
      </p:sp>
      <p:sp>
        <p:nvSpPr>
          <p:cNvPr id="20" name="Text 17"/>
          <p:cNvSpPr/>
          <p:nvPr/>
        </p:nvSpPr>
        <p:spPr>
          <a:xfrm>
            <a:off x="2697480" y="3730752"/>
            <a:ext cx="3337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Positive for Group A β-hemolytic strep</a:t>
            </a:r>
            <a:endParaRPr lang="en-US" sz="1200" dirty="0"/>
          </a:p>
        </p:txBody>
      </p:sp>
      <p:sp>
        <p:nvSpPr>
          <p:cNvPr id="21" name="Shape 18"/>
          <p:cNvSpPr/>
          <p:nvPr/>
        </p:nvSpPr>
        <p:spPr>
          <a:xfrm>
            <a:off x="457200" y="4434840"/>
            <a:ext cx="566928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B9CFE2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457200" y="4434840"/>
            <a:ext cx="73152" cy="685800"/>
          </a:xfrm>
          <a:prstGeom prst="rect">
            <a:avLst/>
          </a:prstGeom>
          <a:solidFill>
            <a:srgbClr val="1F6FB2"/>
          </a:solidFill>
          <a:ln w="12700">
            <a:solidFill>
              <a:srgbClr val="1F6FB2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685800" y="4507992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3D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ASO titer</a:t>
            </a:r>
            <a:endParaRPr lang="en-US" sz="1300" dirty="0"/>
          </a:p>
        </p:txBody>
      </p:sp>
      <p:sp>
        <p:nvSpPr>
          <p:cNvPr id="24" name="Text 21"/>
          <p:cNvSpPr/>
          <p:nvPr/>
        </p:nvSpPr>
        <p:spPr>
          <a:xfrm>
            <a:off x="2697480" y="4507992"/>
            <a:ext cx="3337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Elevated; &gt; 200 U/mL is positive</a:t>
            </a:r>
            <a:endParaRPr lang="en-US" sz="1200" dirty="0"/>
          </a:p>
        </p:txBody>
      </p:sp>
      <p:sp>
        <p:nvSpPr>
          <p:cNvPr id="25" name="Shape 22"/>
          <p:cNvSpPr/>
          <p:nvPr/>
        </p:nvSpPr>
        <p:spPr>
          <a:xfrm>
            <a:off x="457200" y="5212080"/>
            <a:ext cx="566928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B9CFE2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457200" y="5212080"/>
            <a:ext cx="73152" cy="685800"/>
          </a:xfrm>
          <a:prstGeom prst="rect">
            <a:avLst/>
          </a:prstGeom>
          <a:solidFill>
            <a:srgbClr val="1F6FB2"/>
          </a:solidFill>
          <a:ln w="12700">
            <a:solidFill>
              <a:srgbClr val="1F6FB2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685800" y="5285232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3D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Blood cultures</a:t>
            </a:r>
            <a:endParaRPr lang="en-US" sz="1300" dirty="0"/>
          </a:p>
        </p:txBody>
      </p:sp>
      <p:sp>
        <p:nvSpPr>
          <p:cNvPr id="28" name="Text 25"/>
          <p:cNvSpPr/>
          <p:nvPr/>
        </p:nvSpPr>
        <p:spPr>
          <a:xfrm>
            <a:off x="2697480" y="5285232"/>
            <a:ext cx="3337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rule out infective endocarditis</a:t>
            </a:r>
            <a:endParaRPr lang="en-US" sz="1200" dirty="0"/>
          </a:p>
        </p:txBody>
      </p:sp>
      <p:sp>
        <p:nvSpPr>
          <p:cNvPr id="29" name="Text 26"/>
          <p:cNvSpPr/>
          <p:nvPr/>
        </p:nvSpPr>
        <p:spPr>
          <a:xfrm>
            <a:off x="6309360" y="1691640"/>
            <a:ext cx="5394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IMAGING &amp; ECG</a:t>
            </a:r>
            <a:endParaRPr lang="en-US" sz="1200" dirty="0"/>
          </a:p>
        </p:txBody>
      </p:sp>
      <p:sp>
        <p:nvSpPr>
          <p:cNvPr id="30" name="Shape 27"/>
          <p:cNvSpPr/>
          <p:nvPr/>
        </p:nvSpPr>
        <p:spPr>
          <a:xfrm>
            <a:off x="6309360" y="2103120"/>
            <a:ext cx="5394960" cy="960120"/>
          </a:xfrm>
          <a:prstGeom prst="rect">
            <a:avLst/>
          </a:prstGeom>
          <a:solidFill>
            <a:srgbClr val="DCEBF7"/>
          </a:solidFill>
          <a:ln w="12700">
            <a:solidFill>
              <a:srgbClr val="DCEBF7"/>
            </a:solidFill>
            <a:prstDash val="solid"/>
          </a:ln>
        </p:spPr>
      </p:sp>
      <p:sp>
        <p:nvSpPr>
          <p:cNvPr id="31" name="Shape 28"/>
          <p:cNvSpPr/>
          <p:nvPr/>
        </p:nvSpPr>
        <p:spPr>
          <a:xfrm>
            <a:off x="6309360" y="2103120"/>
            <a:ext cx="73152" cy="960120"/>
          </a:xfrm>
          <a:prstGeom prst="rect">
            <a:avLst/>
          </a:prstGeom>
          <a:solidFill>
            <a:srgbClr val="0B3D6E"/>
          </a:solidFill>
          <a:ln w="12700">
            <a:solidFill>
              <a:srgbClr val="0B3D6E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6537960" y="219456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3D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ECG</a:t>
            </a:r>
            <a:endParaRPr lang="en-US" sz="1400" dirty="0"/>
          </a:p>
        </p:txBody>
      </p:sp>
      <p:sp>
        <p:nvSpPr>
          <p:cNvPr id="33" name="Text 30"/>
          <p:cNvSpPr/>
          <p:nvPr/>
        </p:nvSpPr>
        <p:spPr>
          <a:xfrm>
            <a:off x="6537960" y="256032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1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Prolonged PR interval (minor criterion)</a:t>
            </a:r>
            <a:endParaRPr lang="en-US" sz="1200" dirty="0"/>
          </a:p>
        </p:txBody>
      </p:sp>
      <p:sp>
        <p:nvSpPr>
          <p:cNvPr id="34" name="Shape 31"/>
          <p:cNvSpPr/>
          <p:nvPr/>
        </p:nvSpPr>
        <p:spPr>
          <a:xfrm>
            <a:off x="6309360" y="3154680"/>
            <a:ext cx="5394960" cy="960120"/>
          </a:xfrm>
          <a:prstGeom prst="rect">
            <a:avLst/>
          </a:prstGeom>
          <a:solidFill>
            <a:srgbClr val="DCEBF7"/>
          </a:solidFill>
          <a:ln w="12700">
            <a:solidFill>
              <a:srgbClr val="DCEBF7"/>
            </a:solidFill>
            <a:prstDash val="solid"/>
          </a:ln>
        </p:spPr>
      </p:sp>
      <p:sp>
        <p:nvSpPr>
          <p:cNvPr id="35" name="Shape 32"/>
          <p:cNvSpPr/>
          <p:nvPr/>
        </p:nvSpPr>
        <p:spPr>
          <a:xfrm>
            <a:off x="6309360" y="3154680"/>
            <a:ext cx="73152" cy="960120"/>
          </a:xfrm>
          <a:prstGeom prst="rect">
            <a:avLst/>
          </a:prstGeom>
          <a:solidFill>
            <a:srgbClr val="0B3D6E"/>
          </a:solidFill>
          <a:ln w="12700">
            <a:solidFill>
              <a:srgbClr val="0B3D6E"/>
            </a:solidFill>
            <a:prstDash val="solid"/>
          </a:ln>
        </p:spPr>
      </p:sp>
      <p:sp>
        <p:nvSpPr>
          <p:cNvPr id="36" name="Text 33"/>
          <p:cNvSpPr/>
          <p:nvPr/>
        </p:nvSpPr>
        <p:spPr>
          <a:xfrm>
            <a:off x="6537960" y="324612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3D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Chest X-ray</a:t>
            </a:r>
            <a:endParaRPr lang="en-US" sz="1400" dirty="0"/>
          </a:p>
        </p:txBody>
      </p:sp>
      <p:sp>
        <p:nvSpPr>
          <p:cNvPr id="37" name="Text 34"/>
          <p:cNvSpPr/>
          <p:nvPr/>
        </p:nvSpPr>
        <p:spPr>
          <a:xfrm>
            <a:off x="6537960" y="361188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1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Cardiomegaly, pulmonary congestion</a:t>
            </a:r>
            <a:endParaRPr lang="en-US" sz="1200" dirty="0"/>
          </a:p>
        </p:txBody>
      </p:sp>
      <p:sp>
        <p:nvSpPr>
          <p:cNvPr id="38" name="Shape 35"/>
          <p:cNvSpPr/>
          <p:nvPr/>
        </p:nvSpPr>
        <p:spPr>
          <a:xfrm>
            <a:off x="6309360" y="4206240"/>
            <a:ext cx="5394960" cy="960120"/>
          </a:xfrm>
          <a:prstGeom prst="rect">
            <a:avLst/>
          </a:prstGeom>
          <a:solidFill>
            <a:srgbClr val="DCEBF7"/>
          </a:solidFill>
          <a:ln w="12700">
            <a:solidFill>
              <a:srgbClr val="DCEBF7"/>
            </a:solidFill>
            <a:prstDash val="solid"/>
          </a:ln>
        </p:spPr>
      </p:sp>
      <p:sp>
        <p:nvSpPr>
          <p:cNvPr id="39" name="Shape 36"/>
          <p:cNvSpPr/>
          <p:nvPr/>
        </p:nvSpPr>
        <p:spPr>
          <a:xfrm>
            <a:off x="6309360" y="4206240"/>
            <a:ext cx="73152" cy="960120"/>
          </a:xfrm>
          <a:prstGeom prst="rect">
            <a:avLst/>
          </a:prstGeom>
          <a:solidFill>
            <a:srgbClr val="0B3D6E"/>
          </a:solidFill>
          <a:ln w="12700">
            <a:solidFill>
              <a:srgbClr val="0B3D6E"/>
            </a:solidFill>
            <a:prstDash val="solid"/>
          </a:ln>
        </p:spPr>
      </p:sp>
      <p:sp>
        <p:nvSpPr>
          <p:cNvPr id="40" name="Text 37"/>
          <p:cNvSpPr/>
          <p:nvPr/>
        </p:nvSpPr>
        <p:spPr>
          <a:xfrm>
            <a:off x="6537960" y="429768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3D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Echocardiography</a:t>
            </a:r>
            <a:endParaRPr lang="en-US" sz="1400" dirty="0"/>
          </a:p>
        </p:txBody>
      </p:sp>
      <p:sp>
        <p:nvSpPr>
          <p:cNvPr id="41" name="Text 38"/>
          <p:cNvSpPr/>
          <p:nvPr/>
        </p:nvSpPr>
        <p:spPr>
          <a:xfrm>
            <a:off x="6537960" y="466344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1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Cardiac dilatation, valve abnormalities — gold standard for carditis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502920" cy="502920"/>
          </a:xfrm>
          <a:prstGeom prst="roundRect">
            <a:avLst>
              <a:gd name="adj" fmla="val 14545"/>
            </a:avLst>
          </a:prstGeom>
          <a:solidFill>
            <a:srgbClr val="DCEBF7"/>
          </a:solidFill>
          <a:ln w="12700">
            <a:solidFill>
              <a:srgbClr val="DCEBF7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502920"/>
            <a:ext cx="320040" cy="32004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43000" y="365760"/>
            <a:ext cx="10515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3D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Treatment</a:t>
            </a:r>
            <a:endParaRPr lang="en-US" sz="2800" dirty="0"/>
          </a:p>
        </p:txBody>
      </p:sp>
      <p:sp>
        <p:nvSpPr>
          <p:cNvPr id="5" name="Shape 2"/>
          <p:cNvSpPr/>
          <p:nvPr/>
        </p:nvSpPr>
        <p:spPr>
          <a:xfrm>
            <a:off x="457200" y="1051560"/>
            <a:ext cx="11247120" cy="0"/>
          </a:xfrm>
          <a:prstGeom prst="line">
            <a:avLst/>
          </a:prstGeom>
          <a:noFill/>
          <a:ln w="12700">
            <a:solidFill>
              <a:srgbClr val="B9CFE2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Acute Rheumatic Fever &amp; RHD</a:t>
            </a:r>
            <a:endParaRPr lang="en-US" sz="900" dirty="0"/>
          </a:p>
        </p:txBody>
      </p:sp>
      <p:sp>
        <p:nvSpPr>
          <p:cNvPr id="7" name="Shape 4"/>
          <p:cNvSpPr/>
          <p:nvPr/>
        </p:nvSpPr>
        <p:spPr>
          <a:xfrm>
            <a:off x="457200" y="1280160"/>
            <a:ext cx="3703320" cy="64008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457200" y="1280160"/>
            <a:ext cx="3703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ACUTE ATTACK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457200" y="1920240"/>
            <a:ext cx="3703320" cy="4251960"/>
          </a:xfrm>
          <a:prstGeom prst="rect">
            <a:avLst/>
          </a:prstGeom>
          <a:solidFill>
            <a:srgbClr val="FFFFFF"/>
          </a:solidFill>
          <a:ln w="12700">
            <a:solidFill>
              <a:srgbClr val="B9CFE2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10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640080" y="2057400"/>
            <a:ext cx="3337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3D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Bed rest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640080" y="2377440"/>
            <a:ext cx="3337560" cy="6057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Especially with carditis</a:t>
            </a:r>
            <a:endParaRPr lang="en-US" sz="1150" dirty="0"/>
          </a:p>
        </p:txBody>
      </p:sp>
      <p:sp>
        <p:nvSpPr>
          <p:cNvPr id="12" name="Shape 9"/>
          <p:cNvSpPr/>
          <p:nvPr/>
        </p:nvSpPr>
        <p:spPr>
          <a:xfrm>
            <a:off x="640080" y="3028950"/>
            <a:ext cx="3337560" cy="0"/>
          </a:xfrm>
          <a:prstGeom prst="line">
            <a:avLst/>
          </a:prstGeom>
          <a:noFill/>
          <a:ln w="6350">
            <a:solidFill>
              <a:srgbClr val="B9CFE2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640080" y="3074670"/>
            <a:ext cx="3337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3D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Aspirin / NSAIDs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640080" y="3394710"/>
            <a:ext cx="3337560" cy="6057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arthritis, fever</a:t>
            </a:r>
            <a:endParaRPr lang="en-US" sz="1150" dirty="0"/>
          </a:p>
        </p:txBody>
      </p:sp>
      <p:sp>
        <p:nvSpPr>
          <p:cNvPr id="15" name="Shape 12"/>
          <p:cNvSpPr/>
          <p:nvPr/>
        </p:nvSpPr>
        <p:spPr>
          <a:xfrm>
            <a:off x="640080" y="4046220"/>
            <a:ext cx="3337560" cy="0"/>
          </a:xfrm>
          <a:prstGeom prst="line">
            <a:avLst/>
          </a:prstGeom>
          <a:noFill/>
          <a:ln w="6350">
            <a:solidFill>
              <a:srgbClr val="B9CFE2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640080" y="4091940"/>
            <a:ext cx="3337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3D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Prednisolone</a:t>
            </a:r>
            <a:endParaRPr lang="en-US" sz="1300" dirty="0"/>
          </a:p>
        </p:txBody>
      </p:sp>
      <p:sp>
        <p:nvSpPr>
          <p:cNvPr id="17" name="Text 14"/>
          <p:cNvSpPr/>
          <p:nvPr/>
        </p:nvSpPr>
        <p:spPr>
          <a:xfrm>
            <a:off x="640080" y="4411980"/>
            <a:ext cx="3337560" cy="6057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Moderate–severe carditis; taper 25%/wk after 2–3 wks</a:t>
            </a:r>
            <a:endParaRPr lang="en-US" sz="1150" dirty="0"/>
          </a:p>
        </p:txBody>
      </p:sp>
      <p:sp>
        <p:nvSpPr>
          <p:cNvPr id="18" name="Shape 15"/>
          <p:cNvSpPr/>
          <p:nvPr/>
        </p:nvSpPr>
        <p:spPr>
          <a:xfrm>
            <a:off x="640080" y="5063490"/>
            <a:ext cx="3337560" cy="0"/>
          </a:xfrm>
          <a:prstGeom prst="line">
            <a:avLst/>
          </a:prstGeom>
          <a:noFill/>
          <a:ln w="6350">
            <a:solidFill>
              <a:srgbClr val="B9CFE2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640080" y="5109210"/>
            <a:ext cx="3337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3D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Treat heart failure</a:t>
            </a:r>
            <a:endParaRPr lang="en-US" sz="1300" dirty="0"/>
          </a:p>
        </p:txBody>
      </p:sp>
      <p:sp>
        <p:nvSpPr>
          <p:cNvPr id="20" name="Text 17"/>
          <p:cNvSpPr/>
          <p:nvPr/>
        </p:nvSpPr>
        <p:spPr>
          <a:xfrm>
            <a:off x="640080" y="5429250"/>
            <a:ext cx="3337560" cy="6057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arrhythmias as needed</a:t>
            </a:r>
            <a:endParaRPr lang="en-US" sz="1150" dirty="0"/>
          </a:p>
        </p:txBody>
      </p:sp>
      <p:sp>
        <p:nvSpPr>
          <p:cNvPr id="21" name="Shape 18"/>
          <p:cNvSpPr/>
          <p:nvPr/>
        </p:nvSpPr>
        <p:spPr>
          <a:xfrm>
            <a:off x="4361688" y="1280160"/>
            <a:ext cx="3703320" cy="640080"/>
          </a:xfrm>
          <a:prstGeom prst="rect">
            <a:avLst/>
          </a:prstGeom>
          <a:solidFill>
            <a:srgbClr val="1F6FB2"/>
          </a:solidFill>
          <a:ln w="12700">
            <a:solidFill>
              <a:srgbClr val="1F6FB2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4361688" y="1280160"/>
            <a:ext cx="3703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INFECTION</a:t>
            </a:r>
            <a:endParaRPr lang="en-US" sz="1400" dirty="0"/>
          </a:p>
        </p:txBody>
      </p:sp>
      <p:sp>
        <p:nvSpPr>
          <p:cNvPr id="23" name="Shape 20"/>
          <p:cNvSpPr/>
          <p:nvPr/>
        </p:nvSpPr>
        <p:spPr>
          <a:xfrm>
            <a:off x="4361688" y="1920240"/>
            <a:ext cx="3703320" cy="4251960"/>
          </a:xfrm>
          <a:prstGeom prst="rect">
            <a:avLst/>
          </a:prstGeom>
          <a:solidFill>
            <a:srgbClr val="FFFFFF"/>
          </a:solidFill>
          <a:ln w="12700">
            <a:solidFill>
              <a:srgbClr val="B9CFE2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10000"/>
              </a:srgbClr>
            </a:outerShdw>
          </a:effectLst>
        </p:spPr>
      </p:sp>
      <p:sp>
        <p:nvSpPr>
          <p:cNvPr id="24" name="Text 21"/>
          <p:cNvSpPr/>
          <p:nvPr/>
        </p:nvSpPr>
        <p:spPr>
          <a:xfrm>
            <a:off x="4544568" y="2057400"/>
            <a:ext cx="3337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3D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Procaine penicillin</a:t>
            </a:r>
            <a:endParaRPr lang="en-US" sz="1300" dirty="0"/>
          </a:p>
        </p:txBody>
      </p:sp>
      <p:sp>
        <p:nvSpPr>
          <p:cNvPr id="25" name="Text 22"/>
          <p:cNvSpPr/>
          <p:nvPr/>
        </p:nvSpPr>
        <p:spPr>
          <a:xfrm>
            <a:off x="4544568" y="2377440"/>
            <a:ext cx="3337560" cy="944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First-line antibiotic</a:t>
            </a:r>
            <a:endParaRPr lang="en-US" sz="1150" dirty="0"/>
          </a:p>
        </p:txBody>
      </p:sp>
      <p:sp>
        <p:nvSpPr>
          <p:cNvPr id="26" name="Shape 23"/>
          <p:cNvSpPr/>
          <p:nvPr/>
        </p:nvSpPr>
        <p:spPr>
          <a:xfrm>
            <a:off x="4544568" y="3368040"/>
            <a:ext cx="3337560" cy="0"/>
          </a:xfrm>
          <a:prstGeom prst="line">
            <a:avLst/>
          </a:prstGeom>
          <a:noFill/>
          <a:ln w="6350">
            <a:solidFill>
              <a:srgbClr val="B9CFE2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4544568" y="3413760"/>
            <a:ext cx="3337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3D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Erythromycin / Clarithromycin</a:t>
            </a:r>
            <a:endParaRPr lang="en-US" sz="1300" dirty="0"/>
          </a:p>
        </p:txBody>
      </p:sp>
      <p:sp>
        <p:nvSpPr>
          <p:cNvPr id="28" name="Text 25"/>
          <p:cNvSpPr/>
          <p:nvPr/>
        </p:nvSpPr>
        <p:spPr>
          <a:xfrm>
            <a:off x="4544568" y="3733800"/>
            <a:ext cx="3337560" cy="944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penicillin-allergic</a:t>
            </a:r>
            <a:endParaRPr lang="en-US" sz="1150" dirty="0"/>
          </a:p>
        </p:txBody>
      </p:sp>
      <p:sp>
        <p:nvSpPr>
          <p:cNvPr id="29" name="Shape 26"/>
          <p:cNvSpPr/>
          <p:nvPr/>
        </p:nvSpPr>
        <p:spPr>
          <a:xfrm>
            <a:off x="4544568" y="4724400"/>
            <a:ext cx="3337560" cy="0"/>
          </a:xfrm>
          <a:prstGeom prst="line">
            <a:avLst/>
          </a:prstGeom>
          <a:noFill/>
          <a:ln w="6350">
            <a:solidFill>
              <a:srgbClr val="B9CFE2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4544568" y="4770120"/>
            <a:ext cx="3337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3D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Eradicate strep</a:t>
            </a:r>
            <a:endParaRPr lang="en-US" sz="1300" dirty="0"/>
          </a:p>
        </p:txBody>
      </p:sp>
      <p:sp>
        <p:nvSpPr>
          <p:cNvPr id="31" name="Text 28"/>
          <p:cNvSpPr/>
          <p:nvPr/>
        </p:nvSpPr>
        <p:spPr>
          <a:xfrm>
            <a:off x="4544568" y="5090160"/>
            <a:ext cx="3337560" cy="944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throat / skin</a:t>
            </a:r>
            <a:endParaRPr lang="en-US" sz="1150" dirty="0"/>
          </a:p>
        </p:txBody>
      </p:sp>
      <p:sp>
        <p:nvSpPr>
          <p:cNvPr id="32" name="Shape 29"/>
          <p:cNvSpPr/>
          <p:nvPr/>
        </p:nvSpPr>
        <p:spPr>
          <a:xfrm>
            <a:off x="8266176" y="1280160"/>
            <a:ext cx="3703320" cy="640080"/>
          </a:xfrm>
          <a:prstGeom prst="rect">
            <a:avLst/>
          </a:prstGeom>
          <a:solidFill>
            <a:srgbClr val="0B3D6E"/>
          </a:solidFill>
          <a:ln w="12700">
            <a:solidFill>
              <a:srgbClr val="0B3D6E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8266176" y="1280160"/>
            <a:ext cx="3703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PREVENTION</a:t>
            </a:r>
            <a:endParaRPr lang="en-US" sz="1400" dirty="0"/>
          </a:p>
        </p:txBody>
      </p:sp>
      <p:sp>
        <p:nvSpPr>
          <p:cNvPr id="34" name="Shape 31"/>
          <p:cNvSpPr/>
          <p:nvPr/>
        </p:nvSpPr>
        <p:spPr>
          <a:xfrm>
            <a:off x="8266176" y="1920240"/>
            <a:ext cx="3703320" cy="4251960"/>
          </a:xfrm>
          <a:prstGeom prst="rect">
            <a:avLst/>
          </a:prstGeom>
          <a:solidFill>
            <a:srgbClr val="FFFFFF"/>
          </a:solidFill>
          <a:ln w="12700">
            <a:solidFill>
              <a:srgbClr val="B9CFE2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10000"/>
              </a:srgbClr>
            </a:outerShdw>
          </a:effectLst>
        </p:spPr>
      </p:sp>
      <p:sp>
        <p:nvSpPr>
          <p:cNvPr id="35" name="Text 32"/>
          <p:cNvSpPr/>
          <p:nvPr/>
        </p:nvSpPr>
        <p:spPr>
          <a:xfrm>
            <a:off x="8449056" y="2057400"/>
            <a:ext cx="3337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3D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</a:t>
            </a:r>
            <a:endParaRPr lang="en-US" sz="1300" dirty="0"/>
          </a:p>
        </p:txBody>
      </p:sp>
      <p:sp>
        <p:nvSpPr>
          <p:cNvPr id="36" name="Text 33"/>
          <p:cNvSpPr/>
          <p:nvPr/>
        </p:nvSpPr>
        <p:spPr>
          <a:xfrm>
            <a:off x="8449056" y="2377440"/>
            <a:ext cx="3337560" cy="944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IM benzathine penicillin for strep pharyngitis</a:t>
            </a:r>
            <a:endParaRPr lang="en-US" sz="1150" dirty="0"/>
          </a:p>
        </p:txBody>
      </p:sp>
      <p:sp>
        <p:nvSpPr>
          <p:cNvPr id="37" name="Shape 34"/>
          <p:cNvSpPr/>
          <p:nvPr/>
        </p:nvSpPr>
        <p:spPr>
          <a:xfrm>
            <a:off x="8449056" y="3368040"/>
            <a:ext cx="3337560" cy="0"/>
          </a:xfrm>
          <a:prstGeom prst="line">
            <a:avLst/>
          </a:prstGeom>
          <a:noFill/>
          <a:ln w="6350">
            <a:solidFill>
              <a:srgbClr val="B9CFE2"/>
            </a:solidFill>
            <a:prstDash val="solid"/>
          </a:ln>
        </p:spPr>
      </p:sp>
      <p:sp>
        <p:nvSpPr>
          <p:cNvPr id="38" name="Text 35"/>
          <p:cNvSpPr/>
          <p:nvPr/>
        </p:nvSpPr>
        <p:spPr>
          <a:xfrm>
            <a:off x="8449056" y="3413760"/>
            <a:ext cx="3337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3D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Secondary</a:t>
            </a:r>
            <a:endParaRPr lang="en-US" sz="1300" dirty="0"/>
          </a:p>
        </p:txBody>
      </p:sp>
      <p:sp>
        <p:nvSpPr>
          <p:cNvPr id="39" name="Text 36"/>
          <p:cNvSpPr/>
          <p:nvPr/>
        </p:nvSpPr>
        <p:spPr>
          <a:xfrm>
            <a:off x="8449056" y="3733800"/>
            <a:ext cx="3337560" cy="944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Benzathine penicillin G 1.2 M units IM every 3–4 weeks</a:t>
            </a:r>
            <a:endParaRPr lang="en-US" sz="1150" dirty="0"/>
          </a:p>
        </p:txBody>
      </p:sp>
      <p:sp>
        <p:nvSpPr>
          <p:cNvPr id="40" name="Shape 37"/>
          <p:cNvSpPr/>
          <p:nvPr/>
        </p:nvSpPr>
        <p:spPr>
          <a:xfrm>
            <a:off x="8449056" y="4724400"/>
            <a:ext cx="3337560" cy="0"/>
          </a:xfrm>
          <a:prstGeom prst="line">
            <a:avLst/>
          </a:prstGeom>
          <a:noFill/>
          <a:ln w="6350">
            <a:solidFill>
              <a:srgbClr val="B9CFE2"/>
            </a:solidFill>
            <a:prstDash val="solid"/>
          </a:ln>
        </p:spPr>
      </p:sp>
      <p:sp>
        <p:nvSpPr>
          <p:cNvPr id="41" name="Text 38"/>
          <p:cNvSpPr/>
          <p:nvPr/>
        </p:nvSpPr>
        <p:spPr>
          <a:xfrm>
            <a:off x="8449056" y="4770120"/>
            <a:ext cx="3337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3D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Duration</a:t>
            </a:r>
            <a:endParaRPr lang="en-US" sz="1300" dirty="0"/>
          </a:p>
        </p:txBody>
      </p:sp>
      <p:sp>
        <p:nvSpPr>
          <p:cNvPr id="42" name="Text 39"/>
          <p:cNvSpPr/>
          <p:nvPr/>
        </p:nvSpPr>
        <p:spPr>
          <a:xfrm>
            <a:off x="8449056" y="5090160"/>
            <a:ext cx="3337560" cy="944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Until age 20 or ≥ 10 yrs after last attack</a:t>
            </a:r>
            <a:endParaRPr lang="en-US" sz="1150" dirty="0"/>
          </a:p>
        </p:txBody>
      </p:sp>
      <p:sp>
        <p:nvSpPr>
          <p:cNvPr id="43" name="Shape 40"/>
          <p:cNvSpPr/>
          <p:nvPr/>
        </p:nvSpPr>
        <p:spPr>
          <a:xfrm>
            <a:off x="457200" y="5897880"/>
            <a:ext cx="11247120" cy="411480"/>
          </a:xfrm>
          <a:prstGeom prst="rect">
            <a:avLst/>
          </a:prstGeom>
          <a:solidFill>
            <a:srgbClr val="DCEBF7"/>
          </a:solidFill>
          <a:ln w="12700">
            <a:solidFill>
              <a:srgbClr val="DCEBF7"/>
            </a:solidFill>
            <a:prstDash val="solid"/>
          </a:ln>
        </p:spPr>
      </p:sp>
      <p:sp>
        <p:nvSpPr>
          <p:cNvPr id="44" name="Text 41"/>
          <p:cNvSpPr/>
          <p:nvPr/>
        </p:nvSpPr>
        <p:spPr>
          <a:xfrm>
            <a:off x="640080" y="5897880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i="1" dirty="0">
                <a:solidFill>
                  <a:srgbClr val="0B3D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Sydenham's chorea: </a:t>
            </a:r>
            <a:pPr indent="0" marL="0">
              <a:buNone/>
            </a:pPr>
            <a:r>
              <a:rPr lang="en-US" sz="1150" i="1" dirty="0">
                <a:solidFill>
                  <a:srgbClr val="1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anticonvulsants (valproate, carbamazepine) or neuroleptics (haloperidol); withdraw gradually after 1 month symptom-free.</a:t>
            </a:r>
            <a:endParaRPr lang="en-US" sz="11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502920" cy="502920"/>
          </a:xfrm>
          <a:prstGeom prst="roundRect">
            <a:avLst>
              <a:gd name="adj" fmla="val 14545"/>
            </a:avLst>
          </a:prstGeom>
          <a:solidFill>
            <a:srgbClr val="DCEBF7"/>
          </a:solidFill>
          <a:ln w="12700">
            <a:solidFill>
              <a:srgbClr val="DCEBF7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502920"/>
            <a:ext cx="320040" cy="32004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43000" y="365760"/>
            <a:ext cx="10515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3D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Rheumatic Valvular Lesions</a:t>
            </a:r>
            <a:endParaRPr lang="en-US" sz="2800" dirty="0"/>
          </a:p>
        </p:txBody>
      </p:sp>
      <p:sp>
        <p:nvSpPr>
          <p:cNvPr id="5" name="Shape 2"/>
          <p:cNvSpPr/>
          <p:nvPr/>
        </p:nvSpPr>
        <p:spPr>
          <a:xfrm>
            <a:off x="457200" y="1051560"/>
            <a:ext cx="11247120" cy="0"/>
          </a:xfrm>
          <a:prstGeom prst="line">
            <a:avLst/>
          </a:prstGeom>
          <a:noFill/>
          <a:ln w="12700">
            <a:solidFill>
              <a:srgbClr val="B9CFE2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Acute Rheumatic Fever &amp; RHD</a:t>
            </a:r>
            <a:endParaRPr lang="en-US" sz="900" dirty="0"/>
          </a:p>
        </p:txBody>
      </p:sp>
      <p:sp>
        <p:nvSpPr>
          <p:cNvPr id="7" name="Shape 4"/>
          <p:cNvSpPr/>
          <p:nvPr/>
        </p:nvSpPr>
        <p:spPr>
          <a:xfrm>
            <a:off x="457200" y="1234440"/>
            <a:ext cx="11247120" cy="640080"/>
          </a:xfrm>
          <a:prstGeom prst="rect">
            <a:avLst/>
          </a:prstGeom>
          <a:solidFill>
            <a:srgbClr val="0B3D6E"/>
          </a:solidFill>
          <a:ln w="12700">
            <a:solidFill>
              <a:srgbClr val="0B3D6E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640080" y="123444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DCEB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 50% 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patients with carditis develop chronic rheumatic valvular disease 10–20 years later — predominantly affecting the </a:t>
            </a:r>
            <a:pPr indent="0" marL="0">
              <a:buNone/>
            </a:pPr>
            <a:r>
              <a:rPr lang="en-US" sz="1300" b="1" dirty="0">
                <a:solidFill>
                  <a:srgbClr val="DCEB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mitral and aortic valves</a:t>
            </a:r>
            <a:endParaRPr lang="en-US" sz="1800" dirty="0"/>
          </a:p>
        </p:txBody>
      </p:sp>
      <p:sp>
        <p:nvSpPr>
          <p:cNvPr id="9" name="Shape 6"/>
          <p:cNvSpPr/>
          <p:nvPr/>
        </p:nvSpPr>
        <p:spPr>
          <a:xfrm>
            <a:off x="457200" y="2011680"/>
            <a:ext cx="2743200" cy="4206240"/>
          </a:xfrm>
          <a:prstGeom prst="rect">
            <a:avLst/>
          </a:prstGeom>
          <a:solidFill>
            <a:srgbClr val="FFFFFF"/>
          </a:solidFill>
          <a:ln w="12700">
            <a:solidFill>
              <a:srgbClr val="B9CFE2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57200" y="2011680"/>
            <a:ext cx="2743200" cy="96012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457200" y="210312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MS</a:t>
            </a:r>
            <a:endParaRPr lang="en-US" sz="3000" dirty="0"/>
          </a:p>
        </p:txBody>
      </p:sp>
      <p:sp>
        <p:nvSpPr>
          <p:cNvPr id="12" name="Text 9"/>
          <p:cNvSpPr/>
          <p:nvPr/>
        </p:nvSpPr>
        <p:spPr>
          <a:xfrm>
            <a:off x="457200" y="260604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Mitral Stenosis</a:t>
            </a:r>
            <a:endParaRPr lang="en-US" sz="1250" dirty="0"/>
          </a:p>
        </p:txBody>
      </p:sp>
      <p:sp>
        <p:nvSpPr>
          <p:cNvPr id="13" name="Text 10"/>
          <p:cNvSpPr/>
          <p:nvPr/>
        </p:nvSpPr>
        <p:spPr>
          <a:xfrm>
            <a:off x="640080" y="3108960"/>
            <a:ext cx="237744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20000"/>
              </a:lnSpc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common rheumatic lesion</a:t>
            </a:r>
            <a:endParaRPr lang="en-US" sz="1150" dirty="0"/>
          </a:p>
          <a:p>
            <a:pPr marL="342900" indent="-342900">
              <a:lnSpc>
                <a:spcPct val="120000"/>
              </a:lnSpc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Severe when orifice ≤ 1 cm²</a:t>
            </a:r>
            <a:endParaRPr lang="en-US" sz="1150" dirty="0"/>
          </a:p>
          <a:p>
            <a:pPr marL="342900" indent="-342900">
              <a:lnSpc>
                <a:spcPct val="120000"/>
              </a:lnSpc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↑ LA pressure → pulmonary HTN</a:t>
            </a:r>
            <a:endParaRPr lang="en-US" sz="1150" dirty="0"/>
          </a:p>
          <a:p>
            <a:pPr marL="342900" indent="-342900">
              <a:lnSpc>
                <a:spcPct val="120000"/>
              </a:lnSpc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Atrial fibrillation common</a:t>
            </a:r>
            <a:endParaRPr lang="en-US" sz="1150" dirty="0"/>
          </a:p>
        </p:txBody>
      </p:sp>
      <p:sp>
        <p:nvSpPr>
          <p:cNvPr id="14" name="Shape 11"/>
          <p:cNvSpPr/>
          <p:nvPr/>
        </p:nvSpPr>
        <p:spPr>
          <a:xfrm>
            <a:off x="3291840" y="2011680"/>
            <a:ext cx="2743200" cy="4206240"/>
          </a:xfrm>
          <a:prstGeom prst="rect">
            <a:avLst/>
          </a:prstGeom>
          <a:solidFill>
            <a:srgbClr val="FFFFFF"/>
          </a:solidFill>
          <a:ln w="12700">
            <a:solidFill>
              <a:srgbClr val="B9CFE2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10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3291840" y="2011680"/>
            <a:ext cx="2743200" cy="960120"/>
          </a:xfrm>
          <a:prstGeom prst="rect">
            <a:avLst/>
          </a:prstGeom>
          <a:solidFill>
            <a:srgbClr val="1F6FB2"/>
          </a:solidFill>
          <a:ln w="12700">
            <a:solidFill>
              <a:srgbClr val="1F6FB2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3291840" y="210312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MR</a:t>
            </a:r>
            <a:endParaRPr lang="en-US" sz="3000" dirty="0"/>
          </a:p>
        </p:txBody>
      </p:sp>
      <p:sp>
        <p:nvSpPr>
          <p:cNvPr id="17" name="Text 14"/>
          <p:cNvSpPr/>
          <p:nvPr/>
        </p:nvSpPr>
        <p:spPr>
          <a:xfrm>
            <a:off x="3291840" y="260604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Mitral Regurgitation</a:t>
            </a:r>
            <a:endParaRPr lang="en-US" sz="1250" dirty="0"/>
          </a:p>
        </p:txBody>
      </p:sp>
      <p:sp>
        <p:nvSpPr>
          <p:cNvPr id="18" name="Text 15"/>
          <p:cNvSpPr/>
          <p:nvPr/>
        </p:nvSpPr>
        <p:spPr>
          <a:xfrm>
            <a:off x="3474720" y="3108960"/>
            <a:ext cx="237744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20000"/>
              </a:lnSpc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common in children &amp; adolescents</a:t>
            </a:r>
            <a:endParaRPr lang="en-US" sz="1150" dirty="0"/>
          </a:p>
          <a:p>
            <a:pPr marL="342900" indent="-342900">
              <a:lnSpc>
                <a:spcPct val="120000"/>
              </a:lnSpc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dilatation, little ↑ in pressure</a:t>
            </a:r>
            <a:endParaRPr lang="en-US" sz="1150" dirty="0"/>
          </a:p>
          <a:p>
            <a:pPr marL="342900" indent="-342900">
              <a:lnSpc>
                <a:spcPct val="120000"/>
              </a:lnSpc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↑ stroke volume → LV enlargement</a:t>
            </a:r>
            <a:endParaRPr lang="en-US" sz="1150" dirty="0"/>
          </a:p>
          <a:p>
            <a:pPr marL="342900" indent="-342900">
              <a:lnSpc>
                <a:spcPct val="120000"/>
              </a:lnSpc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'Pounding' of the heart</a:t>
            </a:r>
            <a:endParaRPr lang="en-US" sz="1150" dirty="0"/>
          </a:p>
        </p:txBody>
      </p:sp>
      <p:sp>
        <p:nvSpPr>
          <p:cNvPr id="19" name="Shape 16"/>
          <p:cNvSpPr/>
          <p:nvPr/>
        </p:nvSpPr>
        <p:spPr>
          <a:xfrm>
            <a:off x="6126480" y="2011680"/>
            <a:ext cx="2743200" cy="4206240"/>
          </a:xfrm>
          <a:prstGeom prst="rect">
            <a:avLst/>
          </a:prstGeom>
          <a:solidFill>
            <a:srgbClr val="FFFFFF"/>
          </a:solidFill>
          <a:ln w="12700">
            <a:solidFill>
              <a:srgbClr val="B9CFE2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10000"/>
              </a:srgbClr>
            </a:outerShdw>
          </a:effectLst>
        </p:spPr>
      </p:sp>
      <p:sp>
        <p:nvSpPr>
          <p:cNvPr id="20" name="Shape 17"/>
          <p:cNvSpPr/>
          <p:nvPr/>
        </p:nvSpPr>
        <p:spPr>
          <a:xfrm>
            <a:off x="6126480" y="2011680"/>
            <a:ext cx="2743200" cy="960120"/>
          </a:xfrm>
          <a:prstGeom prst="rect">
            <a:avLst/>
          </a:prstGeom>
          <a:solidFill>
            <a:srgbClr val="1F6FB2"/>
          </a:solidFill>
          <a:ln w="12700">
            <a:solidFill>
              <a:srgbClr val="1F6FB2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6126480" y="210312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AS</a:t>
            </a:r>
            <a:endParaRPr lang="en-US" sz="3000" dirty="0"/>
          </a:p>
        </p:txBody>
      </p:sp>
      <p:sp>
        <p:nvSpPr>
          <p:cNvPr id="22" name="Text 19"/>
          <p:cNvSpPr/>
          <p:nvPr/>
        </p:nvSpPr>
        <p:spPr>
          <a:xfrm>
            <a:off x="6126480" y="260604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Aortic Stenosis</a:t>
            </a:r>
            <a:endParaRPr lang="en-US" sz="1250" dirty="0"/>
          </a:p>
        </p:txBody>
      </p:sp>
      <p:sp>
        <p:nvSpPr>
          <p:cNvPr id="23" name="Text 20"/>
          <p:cNvSpPr/>
          <p:nvPr/>
        </p:nvSpPr>
        <p:spPr>
          <a:xfrm>
            <a:off x="6309360" y="3108960"/>
            <a:ext cx="237744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20000"/>
              </a:lnSpc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Obstructed LV emptying</a:t>
            </a:r>
            <a:endParaRPr lang="en-US" sz="1150" dirty="0"/>
          </a:p>
          <a:p>
            <a:pPr marL="342900" indent="-342900">
              <a:lnSpc>
                <a:spcPct val="120000"/>
              </a:lnSpc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Compensatory LV hypertrophy</a:t>
            </a:r>
            <a:endParaRPr lang="en-US" sz="1150" dirty="0"/>
          </a:p>
          <a:p>
            <a:pPr marL="342900" indent="-342900">
              <a:lnSpc>
                <a:spcPct val="120000"/>
              </a:lnSpc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Relative myocardial ischemia</a:t>
            </a:r>
            <a:endParaRPr lang="en-US" sz="1150" dirty="0"/>
          </a:p>
          <a:p>
            <a:pPr marL="342900" indent="-342900">
              <a:lnSpc>
                <a:spcPct val="120000"/>
              </a:lnSpc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Angina, arrhythmias, LV failure</a:t>
            </a:r>
            <a:endParaRPr lang="en-US" sz="1150" dirty="0"/>
          </a:p>
        </p:txBody>
      </p:sp>
      <p:sp>
        <p:nvSpPr>
          <p:cNvPr id="24" name="Shape 21"/>
          <p:cNvSpPr/>
          <p:nvPr/>
        </p:nvSpPr>
        <p:spPr>
          <a:xfrm>
            <a:off x="8961120" y="2011680"/>
            <a:ext cx="2743200" cy="4206240"/>
          </a:xfrm>
          <a:prstGeom prst="rect">
            <a:avLst/>
          </a:prstGeom>
          <a:solidFill>
            <a:srgbClr val="FFFFFF"/>
          </a:solidFill>
          <a:ln w="12700">
            <a:solidFill>
              <a:srgbClr val="B9CFE2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10000"/>
              </a:srgbClr>
            </a:outerShdw>
          </a:effectLst>
        </p:spPr>
      </p:sp>
      <p:sp>
        <p:nvSpPr>
          <p:cNvPr id="25" name="Shape 22"/>
          <p:cNvSpPr/>
          <p:nvPr/>
        </p:nvSpPr>
        <p:spPr>
          <a:xfrm>
            <a:off x="8961120" y="2011680"/>
            <a:ext cx="2743200" cy="960120"/>
          </a:xfrm>
          <a:prstGeom prst="rect">
            <a:avLst/>
          </a:prstGeom>
          <a:solidFill>
            <a:srgbClr val="0B3D6E"/>
          </a:solidFill>
          <a:ln w="12700">
            <a:solidFill>
              <a:srgbClr val="0B3D6E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8961120" y="210312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AR</a:t>
            </a:r>
            <a:endParaRPr lang="en-US" sz="3000" dirty="0"/>
          </a:p>
        </p:txBody>
      </p:sp>
      <p:sp>
        <p:nvSpPr>
          <p:cNvPr id="27" name="Text 24"/>
          <p:cNvSpPr/>
          <p:nvPr/>
        </p:nvSpPr>
        <p:spPr>
          <a:xfrm>
            <a:off x="8961120" y="260604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Aortic Regurgitation</a:t>
            </a:r>
            <a:endParaRPr lang="en-US" sz="1250" dirty="0"/>
          </a:p>
        </p:txBody>
      </p:sp>
      <p:sp>
        <p:nvSpPr>
          <p:cNvPr id="28" name="Text 25"/>
          <p:cNvSpPr/>
          <p:nvPr/>
        </p:nvSpPr>
        <p:spPr>
          <a:xfrm>
            <a:off x="9144000" y="3108960"/>
            <a:ext cx="237744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20000"/>
              </a:lnSpc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Symptoms occur late</a:t>
            </a:r>
            <a:endParaRPr lang="en-US" sz="1150" dirty="0"/>
          </a:p>
          <a:p>
            <a:pPr marL="342900" indent="-342900">
              <a:lnSpc>
                <a:spcPct val="120000"/>
              </a:lnSpc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'Pounding' due to large LV</a:t>
            </a:r>
            <a:endParaRPr lang="en-US" sz="1150" dirty="0"/>
          </a:p>
          <a:p>
            <a:pPr marL="342900" indent="-342900">
              <a:lnSpc>
                <a:spcPct val="120000"/>
              </a:lnSpc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Frequent angina pectoris</a:t>
            </a:r>
            <a:endParaRPr lang="en-US" sz="1150" dirty="0"/>
          </a:p>
          <a:p>
            <a:pPr marL="342900" indent="-342900">
              <a:lnSpc>
                <a:spcPct val="120000"/>
              </a:lnSpc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Dyspnea with LV dysfunction</a:t>
            </a:r>
            <a:endParaRPr lang="en-US" sz="11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502920" cy="502920"/>
          </a:xfrm>
          <a:prstGeom prst="roundRect">
            <a:avLst>
              <a:gd name="adj" fmla="val 14545"/>
            </a:avLst>
          </a:prstGeom>
          <a:solidFill>
            <a:srgbClr val="DCEBF7"/>
          </a:solidFill>
          <a:ln w="12700">
            <a:solidFill>
              <a:srgbClr val="DCEBF7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502920"/>
            <a:ext cx="320040" cy="32004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43000" y="365760"/>
            <a:ext cx="10515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3D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Dental Care in ARF / RHD</a:t>
            </a:r>
            <a:endParaRPr lang="en-US" sz="2800" dirty="0"/>
          </a:p>
        </p:txBody>
      </p:sp>
      <p:sp>
        <p:nvSpPr>
          <p:cNvPr id="5" name="Shape 2"/>
          <p:cNvSpPr/>
          <p:nvPr/>
        </p:nvSpPr>
        <p:spPr>
          <a:xfrm>
            <a:off x="457200" y="1051560"/>
            <a:ext cx="11247120" cy="0"/>
          </a:xfrm>
          <a:prstGeom prst="line">
            <a:avLst/>
          </a:prstGeom>
          <a:noFill/>
          <a:ln w="12700">
            <a:solidFill>
              <a:srgbClr val="B9CFE2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Acute Rheumatic Fever &amp; RHD</a:t>
            </a:r>
            <a:endParaRPr lang="en-US" sz="900" dirty="0"/>
          </a:p>
        </p:txBody>
      </p:sp>
      <p:sp>
        <p:nvSpPr>
          <p:cNvPr id="7" name="Shape 4"/>
          <p:cNvSpPr/>
          <p:nvPr/>
        </p:nvSpPr>
        <p:spPr>
          <a:xfrm>
            <a:off x="457200" y="1234440"/>
            <a:ext cx="11247120" cy="77724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417320"/>
            <a:ext cx="411480" cy="41148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188720" y="1234440"/>
            <a:ext cx="10424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dental care matters: dental procedures can cause bacteremia → ↑ risk of infective endocarditis in patients with valvular damage</a:t>
            </a:r>
            <a:endParaRPr lang="en-US" sz="1300" dirty="0"/>
          </a:p>
        </p:txBody>
      </p:sp>
      <p:sp>
        <p:nvSpPr>
          <p:cNvPr id="10" name="Shape 6"/>
          <p:cNvSpPr/>
          <p:nvPr/>
        </p:nvSpPr>
        <p:spPr>
          <a:xfrm>
            <a:off x="457200" y="2194560"/>
            <a:ext cx="3703320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B9CFE2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10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457200" y="2194560"/>
            <a:ext cx="914400" cy="1508760"/>
          </a:xfrm>
          <a:prstGeom prst="rect">
            <a:avLst/>
          </a:prstGeom>
          <a:solidFill>
            <a:srgbClr val="DCEBF7"/>
          </a:solidFill>
          <a:ln w="12700">
            <a:solidFill>
              <a:srgbClr val="DCEBF7"/>
            </a:solidFill>
            <a:prstDash val="solid"/>
          </a:ln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2766060"/>
            <a:ext cx="365760" cy="36576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508760" y="2377440"/>
            <a:ext cx="2514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3D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Antibiotic Prophylaxis</a:t>
            </a:r>
            <a:endParaRPr lang="en-US" sz="1300" dirty="0"/>
          </a:p>
        </p:txBody>
      </p:sp>
      <p:sp>
        <p:nvSpPr>
          <p:cNvPr id="14" name="Text 9"/>
          <p:cNvSpPr/>
          <p:nvPr/>
        </p:nvSpPr>
        <p:spPr>
          <a:xfrm>
            <a:off x="1508760" y="2743200"/>
            <a:ext cx="2514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1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Recommended before invasive dental procedures in at-risk RHD patients</a:t>
            </a:r>
            <a:endParaRPr lang="en-US" sz="1100" dirty="0"/>
          </a:p>
        </p:txBody>
      </p:sp>
      <p:sp>
        <p:nvSpPr>
          <p:cNvPr id="15" name="Shape 10"/>
          <p:cNvSpPr/>
          <p:nvPr/>
        </p:nvSpPr>
        <p:spPr>
          <a:xfrm>
            <a:off x="4251960" y="2194560"/>
            <a:ext cx="3703320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B9CFE2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10000"/>
              </a:srgbClr>
            </a:outerShdw>
          </a:effectLst>
        </p:spPr>
      </p:sp>
      <p:sp>
        <p:nvSpPr>
          <p:cNvPr id="16" name="Shape 11"/>
          <p:cNvSpPr/>
          <p:nvPr/>
        </p:nvSpPr>
        <p:spPr>
          <a:xfrm>
            <a:off x="4251960" y="2194560"/>
            <a:ext cx="914400" cy="1508760"/>
          </a:xfrm>
          <a:prstGeom prst="rect">
            <a:avLst/>
          </a:prstGeom>
          <a:solidFill>
            <a:srgbClr val="DCEBF7"/>
          </a:solidFill>
          <a:ln w="12700">
            <a:solidFill>
              <a:srgbClr val="DCEBF7"/>
            </a:solidFill>
            <a:prstDash val="solid"/>
          </a:ln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26280" y="2766060"/>
            <a:ext cx="365760" cy="365760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5303520" y="2377440"/>
            <a:ext cx="2514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3D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Oral Hygiene Education</a:t>
            </a:r>
            <a:endParaRPr lang="en-US" sz="1300" dirty="0"/>
          </a:p>
        </p:txBody>
      </p:sp>
      <p:sp>
        <p:nvSpPr>
          <p:cNvPr id="19" name="Text 13"/>
          <p:cNvSpPr/>
          <p:nvPr/>
        </p:nvSpPr>
        <p:spPr>
          <a:xfrm>
            <a:off x="5303520" y="2743200"/>
            <a:ext cx="2514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1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patients should receive education and routine dental assessment</a:t>
            </a:r>
            <a:endParaRPr lang="en-US" sz="1100" dirty="0"/>
          </a:p>
        </p:txBody>
      </p:sp>
      <p:sp>
        <p:nvSpPr>
          <p:cNvPr id="20" name="Shape 14"/>
          <p:cNvSpPr/>
          <p:nvPr/>
        </p:nvSpPr>
        <p:spPr>
          <a:xfrm>
            <a:off x="8046720" y="2194560"/>
            <a:ext cx="3703320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B9CFE2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10000"/>
              </a:srgbClr>
            </a:outerShdw>
          </a:effectLst>
        </p:spPr>
      </p:sp>
      <p:sp>
        <p:nvSpPr>
          <p:cNvPr id="21" name="Shape 15"/>
          <p:cNvSpPr/>
          <p:nvPr/>
        </p:nvSpPr>
        <p:spPr>
          <a:xfrm>
            <a:off x="8046720" y="2194560"/>
            <a:ext cx="914400" cy="1508760"/>
          </a:xfrm>
          <a:prstGeom prst="rect">
            <a:avLst/>
          </a:prstGeom>
          <a:solidFill>
            <a:srgbClr val="DCEBF7"/>
          </a:solidFill>
          <a:ln w="12700">
            <a:solidFill>
              <a:srgbClr val="DCEBF7"/>
            </a:solidFill>
            <a:prstDash val="solid"/>
          </a:ln>
        </p:spPr>
      </p:sp>
      <p:pic>
        <p:nvPicPr>
          <p:cNvPr id="22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21040" y="2766060"/>
            <a:ext cx="365760" cy="365760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9098280" y="2377440"/>
            <a:ext cx="2514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3D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Anticoagulation Caution</a:t>
            </a:r>
            <a:endParaRPr lang="en-US" sz="1300" dirty="0"/>
          </a:p>
        </p:txBody>
      </p:sp>
      <p:sp>
        <p:nvSpPr>
          <p:cNvPr id="24" name="Text 17"/>
          <p:cNvSpPr/>
          <p:nvPr/>
        </p:nvSpPr>
        <p:spPr>
          <a:xfrm>
            <a:off x="9098280" y="2743200"/>
            <a:ext cx="2514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1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Many RHD patients are anticoagulated — consult physician before treatment</a:t>
            </a:r>
            <a:endParaRPr lang="en-US" sz="1100" dirty="0"/>
          </a:p>
        </p:txBody>
      </p:sp>
      <p:sp>
        <p:nvSpPr>
          <p:cNvPr id="25" name="Shape 18"/>
          <p:cNvSpPr/>
          <p:nvPr/>
        </p:nvSpPr>
        <p:spPr>
          <a:xfrm>
            <a:off x="457200" y="3840480"/>
            <a:ext cx="3703320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B9CFE2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10000"/>
              </a:srgbClr>
            </a:outerShdw>
          </a:effectLst>
        </p:spPr>
      </p:sp>
      <p:sp>
        <p:nvSpPr>
          <p:cNvPr id="26" name="Shape 19"/>
          <p:cNvSpPr/>
          <p:nvPr/>
        </p:nvSpPr>
        <p:spPr>
          <a:xfrm>
            <a:off x="457200" y="3840480"/>
            <a:ext cx="914400" cy="1508760"/>
          </a:xfrm>
          <a:prstGeom prst="rect">
            <a:avLst/>
          </a:prstGeom>
          <a:solidFill>
            <a:srgbClr val="DCEBF7"/>
          </a:solidFill>
          <a:ln w="12700">
            <a:solidFill>
              <a:srgbClr val="DCEBF7"/>
            </a:solidFill>
            <a:prstDash val="solid"/>
          </a:ln>
        </p:spPr>
      </p:sp>
      <p:pic>
        <p:nvPicPr>
          <p:cNvPr id="27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1520" y="4411980"/>
            <a:ext cx="365760" cy="365760"/>
          </a:xfrm>
          <a:prstGeom prst="rect">
            <a:avLst/>
          </a:prstGeom>
        </p:spPr>
      </p:pic>
      <p:sp>
        <p:nvSpPr>
          <p:cNvPr id="28" name="Text 20"/>
          <p:cNvSpPr/>
          <p:nvPr/>
        </p:nvSpPr>
        <p:spPr>
          <a:xfrm>
            <a:off x="1508760" y="4023360"/>
            <a:ext cx="2514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3D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Anesthesia</a:t>
            </a:r>
            <a:endParaRPr lang="en-US" sz="1300" dirty="0"/>
          </a:p>
        </p:txBody>
      </p:sp>
      <p:sp>
        <p:nvSpPr>
          <p:cNvPr id="29" name="Text 21"/>
          <p:cNvSpPr/>
          <p:nvPr/>
        </p:nvSpPr>
        <p:spPr>
          <a:xfrm>
            <a:off x="1508760" y="4389120"/>
            <a:ext cx="2514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1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Treatment can be done under LA in consultation with the cardiologist</a:t>
            </a:r>
            <a:endParaRPr lang="en-US" sz="1100" dirty="0"/>
          </a:p>
        </p:txBody>
      </p:sp>
      <p:sp>
        <p:nvSpPr>
          <p:cNvPr id="30" name="Shape 22"/>
          <p:cNvSpPr/>
          <p:nvPr/>
        </p:nvSpPr>
        <p:spPr>
          <a:xfrm>
            <a:off x="4251960" y="3840480"/>
            <a:ext cx="3703320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B9CFE2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10000"/>
              </a:srgbClr>
            </a:outerShdw>
          </a:effectLst>
        </p:spPr>
      </p:sp>
      <p:sp>
        <p:nvSpPr>
          <p:cNvPr id="31" name="Shape 23"/>
          <p:cNvSpPr/>
          <p:nvPr/>
        </p:nvSpPr>
        <p:spPr>
          <a:xfrm>
            <a:off x="4251960" y="3840480"/>
            <a:ext cx="914400" cy="1508760"/>
          </a:xfrm>
          <a:prstGeom prst="rect">
            <a:avLst/>
          </a:prstGeom>
          <a:solidFill>
            <a:srgbClr val="DCEBF7"/>
          </a:solidFill>
          <a:ln w="12700">
            <a:solidFill>
              <a:srgbClr val="DCEBF7"/>
            </a:solidFill>
            <a:prstDash val="solid"/>
          </a:ln>
        </p:spPr>
      </p:sp>
      <p:pic>
        <p:nvPicPr>
          <p:cNvPr id="32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526280" y="4411980"/>
            <a:ext cx="365760" cy="365760"/>
          </a:xfrm>
          <a:prstGeom prst="rect">
            <a:avLst/>
          </a:prstGeom>
        </p:spPr>
      </p:pic>
      <p:sp>
        <p:nvSpPr>
          <p:cNvPr id="33" name="Text 24"/>
          <p:cNvSpPr/>
          <p:nvPr/>
        </p:nvSpPr>
        <p:spPr>
          <a:xfrm>
            <a:off x="5303520" y="4023360"/>
            <a:ext cx="2514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3D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Conscious Sedation</a:t>
            </a:r>
            <a:endParaRPr lang="en-US" sz="1300" dirty="0"/>
          </a:p>
        </p:txBody>
      </p:sp>
      <p:sp>
        <p:nvSpPr>
          <p:cNvPr id="34" name="Text 25"/>
          <p:cNvSpPr/>
          <p:nvPr/>
        </p:nvSpPr>
        <p:spPr>
          <a:xfrm>
            <a:off x="5303520" y="4389120"/>
            <a:ext cx="2514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1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Nitrous oxide acceptable if cardiac function is good and physician approves</a:t>
            </a:r>
            <a:endParaRPr lang="en-US" sz="1100" dirty="0"/>
          </a:p>
        </p:txBody>
      </p:sp>
      <p:sp>
        <p:nvSpPr>
          <p:cNvPr id="35" name="Shape 26"/>
          <p:cNvSpPr/>
          <p:nvPr/>
        </p:nvSpPr>
        <p:spPr>
          <a:xfrm>
            <a:off x="8046720" y="3840480"/>
            <a:ext cx="3703320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B9CFE2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10000"/>
              </a:srgbClr>
            </a:outerShdw>
          </a:effectLst>
        </p:spPr>
      </p:sp>
      <p:sp>
        <p:nvSpPr>
          <p:cNvPr id="36" name="Shape 27"/>
          <p:cNvSpPr/>
          <p:nvPr/>
        </p:nvSpPr>
        <p:spPr>
          <a:xfrm>
            <a:off x="8046720" y="3840480"/>
            <a:ext cx="914400" cy="1508760"/>
          </a:xfrm>
          <a:prstGeom prst="rect">
            <a:avLst/>
          </a:prstGeom>
          <a:solidFill>
            <a:srgbClr val="DCEBF7"/>
          </a:solidFill>
          <a:ln w="12700">
            <a:solidFill>
              <a:srgbClr val="DCEBF7"/>
            </a:solidFill>
            <a:prstDash val="solid"/>
          </a:ln>
        </p:spPr>
      </p:sp>
      <p:pic>
        <p:nvPicPr>
          <p:cNvPr id="37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321040" y="4411980"/>
            <a:ext cx="365760" cy="365760"/>
          </a:xfrm>
          <a:prstGeom prst="rect">
            <a:avLst/>
          </a:prstGeom>
        </p:spPr>
      </p:pic>
      <p:sp>
        <p:nvSpPr>
          <p:cNvPr id="38" name="Text 28"/>
          <p:cNvSpPr/>
          <p:nvPr/>
        </p:nvSpPr>
        <p:spPr>
          <a:xfrm>
            <a:off x="9098280" y="4023360"/>
            <a:ext cx="2514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3D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Coordinated Care</a:t>
            </a:r>
            <a:endParaRPr lang="en-US" sz="1300" dirty="0"/>
          </a:p>
        </p:txBody>
      </p:sp>
      <p:sp>
        <p:nvSpPr>
          <p:cNvPr id="39" name="Text 29"/>
          <p:cNvSpPr/>
          <p:nvPr/>
        </p:nvSpPr>
        <p:spPr>
          <a:xfrm>
            <a:off x="9098280" y="4389120"/>
            <a:ext cx="2514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1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Always communicate with the patient's physician before invasive work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B3D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572000" cy="6858000"/>
          </a:xfrm>
          <a:prstGeom prst="rect">
            <a:avLst/>
          </a:prstGeom>
          <a:solidFill>
            <a:srgbClr val="1F6FB2"/>
          </a:solidFill>
          <a:ln w="12700">
            <a:solidFill>
              <a:srgbClr val="1F6FB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554480" y="2103120"/>
            <a:ext cx="1554480" cy="155448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74520" y="2423160"/>
            <a:ext cx="914400" cy="9144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1993392" y="2542032"/>
            <a:ext cx="685800" cy="685800"/>
          </a:xfrm>
          <a:prstGeom prst="ellipse">
            <a:avLst/>
          </a:prstGeom>
          <a:solidFill>
            <a:srgbClr val="1F6FB2"/>
          </a:solidFill>
          <a:ln w="12700">
            <a:solidFill>
              <a:srgbClr val="1F6FB2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1993392" y="2542032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?</a:t>
            </a:r>
            <a:endParaRPr lang="en-US" sz="4400" dirty="0"/>
          </a:p>
        </p:txBody>
      </p:sp>
      <p:sp>
        <p:nvSpPr>
          <p:cNvPr id="7" name="Text 4"/>
          <p:cNvSpPr/>
          <p:nvPr/>
        </p:nvSpPr>
        <p:spPr>
          <a:xfrm>
            <a:off x="457200" y="402336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5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DISCUSSION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4937760" y="1280160"/>
            <a:ext cx="69494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Thank You</a:t>
            </a:r>
            <a:endParaRPr lang="en-US" sz="6000" dirty="0"/>
          </a:p>
        </p:txBody>
      </p:sp>
      <p:sp>
        <p:nvSpPr>
          <p:cNvPr id="9" name="Shape 6"/>
          <p:cNvSpPr/>
          <p:nvPr/>
        </p:nvSpPr>
        <p:spPr>
          <a:xfrm>
            <a:off x="4937760" y="2423160"/>
            <a:ext cx="640080" cy="64008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4937760" y="2606040"/>
            <a:ext cx="6949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i="1" dirty="0">
                <a:solidFill>
                  <a:srgbClr val="DCEB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questions?</a:t>
            </a:r>
            <a:endParaRPr lang="en-US" sz="2400" dirty="0"/>
          </a:p>
        </p:txBody>
      </p:sp>
      <p:sp>
        <p:nvSpPr>
          <p:cNvPr id="11" name="Shape 8"/>
          <p:cNvSpPr/>
          <p:nvPr/>
        </p:nvSpPr>
        <p:spPr>
          <a:xfrm>
            <a:off x="4937760" y="3703320"/>
            <a:ext cx="6858000" cy="2606040"/>
          </a:xfrm>
          <a:prstGeom prst="rect">
            <a:avLst/>
          </a:prstGeom>
          <a:solidFill>
            <a:srgbClr val="FFFFFF">
              <a:alpha val="8000"/>
            </a:srgbClr>
          </a:solidFill>
          <a:ln w="9525">
            <a:solidFill>
              <a:srgbClr val="DCEBF7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5120640" y="3840480"/>
            <a:ext cx="6583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DCEB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REFERENCES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5120640" y="4206240"/>
            <a:ext cx="6492240" cy="0"/>
          </a:xfrm>
          <a:prstGeom prst="line">
            <a:avLst/>
          </a:prstGeom>
          <a:noFill/>
          <a:ln w="6350">
            <a:solidFill>
              <a:srgbClr val="DCEBF7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5120640" y="4343400"/>
            <a:ext cx="6492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b="1" dirty="0">
                <a:solidFill>
                  <a:srgbClr val="DCEB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Kumar P J. </a:t>
            </a:r>
            <a:pPr indent="0" marL="0">
              <a:lnSpc>
                <a:spcPct val="130000"/>
              </a:lnSpc>
              <a:buNone/>
            </a:pPr>
            <a:r>
              <a:rPr lang="en-US" sz="13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Clinical Medicine. 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10th ed. London: W B Saunders; 2021. p. 544–545.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5120640" y="5120640"/>
            <a:ext cx="6492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DCEB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Lecture by:  Dr. Hanaa Elsayed Abozeid — Assistant Professor of Internal Medicine</a:t>
            </a:r>
            <a:endParaRPr lang="en-US" sz="1150" dirty="0"/>
          </a:p>
        </p:txBody>
      </p:sp>
      <p:sp>
        <p:nvSpPr>
          <p:cNvPr id="16" name="Text 13"/>
          <p:cNvSpPr/>
          <p:nvPr/>
        </p:nvSpPr>
        <p:spPr>
          <a:xfrm>
            <a:off x="5120640" y="5669280"/>
            <a:ext cx="6492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Acute Rheumatic Fever &amp; Rheumatic Heart Disease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Acute Rheumatic Fever and Rheumatic Heart Disease</dc:title>
  <dc:subject>PptxGenJS Presentation</dc:subject>
  <dc:creator>Medical Lecture</dc:creator>
  <cp:lastModifiedBy>Medical Lecture</cp:lastModifiedBy>
  <cp:revision>1</cp:revision>
  <dcterms:created xsi:type="dcterms:W3CDTF">2026-04-27T19:06:19Z</dcterms:created>
  <dcterms:modified xsi:type="dcterms:W3CDTF">2026-04-27T19:06:19Z</dcterms:modified>
</cp:coreProperties>
</file>