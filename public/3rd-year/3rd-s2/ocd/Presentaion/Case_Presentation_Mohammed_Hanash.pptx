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EDE0"/>
        </a:solidFill>
      </p:bgPr>
    </p:bg>
    <p:spTree>
      <p:nvGrpSpPr>
        <p:cNvPr id="1" name=""/>
        <p:cNvGrpSpPr/>
        <p:nvPr/>
      </p:nvGrpSpPr>
      <p:grpSpPr>
        <a:xfrm>
          <a:off x="0" y="0"/>
          <a:ext cx="0" cy="0"/>
          <a:chOff x="0" y="0"/>
          <a:chExt cx="0" cy="0"/>
        </a:xfrm>
      </p:grpSpPr>
      <p:sp>
        <p:nvSpPr>
          <p:cNvPr id="2" name="Shape 0"/>
          <p:cNvSpPr/>
          <p:nvPr/>
        </p:nvSpPr>
        <p:spPr>
          <a:xfrm>
            <a:off x="6400800" y="0"/>
            <a:ext cx="5760720" cy="6858000"/>
          </a:xfrm>
          <a:prstGeom prst="rect">
            <a:avLst/>
          </a:prstGeom>
          <a:solidFill>
            <a:srgbClr val="6B1F2E"/>
          </a:solidFill>
          <a:ln/>
        </p:spPr>
      </p:sp>
      <p:sp>
        <p:nvSpPr>
          <p:cNvPr id="3" name="Shape 1"/>
          <p:cNvSpPr/>
          <p:nvPr/>
        </p:nvSpPr>
        <p:spPr>
          <a:xfrm>
            <a:off x="457200" y="457200"/>
            <a:ext cx="5486400" cy="18288"/>
          </a:xfrm>
          <a:prstGeom prst="rect">
            <a:avLst/>
          </a:prstGeom>
          <a:solidFill>
            <a:srgbClr val="1A1A1A"/>
          </a:solidFill>
          <a:ln/>
        </p:spPr>
      </p:sp>
      <p:sp>
        <p:nvSpPr>
          <p:cNvPr id="4" name="Text 2"/>
          <p:cNvSpPr/>
          <p:nvPr/>
        </p:nvSpPr>
        <p:spPr>
          <a:xfrm>
            <a:off x="457200" y="548640"/>
            <a:ext cx="5486400" cy="274320"/>
          </a:xfrm>
          <a:prstGeom prst="rect">
            <a:avLst/>
          </a:prstGeom>
          <a:noFill/>
          <a:ln/>
        </p:spPr>
        <p:txBody>
          <a:bodyPr wrap="square" rtlCol="0" anchor="ctr"/>
          <a:lstStyle/>
          <a:p>
            <a:pPr indent="0" marL="0">
              <a:buNone/>
            </a:pPr>
            <a:r>
              <a:rPr lang="en-US" sz="1000" b="1" spc="1200" kern="0" dirty="0">
                <a:solidFill>
                  <a:srgbClr val="1A1A1A"/>
                </a:solidFill>
                <a:latin typeface="Calibri" pitchFamily="34" charset="0"/>
                <a:ea typeface="Calibri" pitchFamily="34" charset="-122"/>
                <a:cs typeface="Calibri" pitchFamily="34" charset="-120"/>
              </a:rPr>
              <a:t>THE  ORAL  MEDICINE  QUARTERLY</a:t>
            </a:r>
            <a:endParaRPr lang="en-US" sz="1000" dirty="0"/>
          </a:p>
        </p:txBody>
      </p:sp>
      <p:sp>
        <p:nvSpPr>
          <p:cNvPr id="5" name="Text 3"/>
          <p:cNvSpPr/>
          <p:nvPr/>
        </p:nvSpPr>
        <p:spPr>
          <a:xfrm>
            <a:off x="457200" y="822960"/>
            <a:ext cx="5486400" cy="228600"/>
          </a:xfrm>
          <a:prstGeom prst="rect">
            <a:avLst/>
          </a:prstGeom>
          <a:noFill/>
          <a:ln/>
        </p:spPr>
        <p:txBody>
          <a:bodyPr wrap="square" rtlCol="0" anchor="ctr"/>
          <a:lstStyle/>
          <a:p>
            <a:pPr indent="0" marL="0">
              <a:buNone/>
            </a:pPr>
            <a:r>
              <a:rPr lang="en-US" sz="800" spc="800" kern="0" dirty="0">
                <a:solidFill>
                  <a:srgbClr val="5C4F3A"/>
                </a:solidFill>
                <a:latin typeface="Calibri" pitchFamily="34" charset="0"/>
                <a:ea typeface="Calibri" pitchFamily="34" charset="-122"/>
                <a:cs typeface="Calibri" pitchFamily="34" charset="-120"/>
              </a:rPr>
              <a:t>VOL. 03  —  2025/26</a:t>
            </a:r>
            <a:endParaRPr lang="en-US" sz="800" dirty="0"/>
          </a:p>
        </p:txBody>
      </p:sp>
      <p:sp>
        <p:nvSpPr>
          <p:cNvPr id="6" name="Shape 4"/>
          <p:cNvSpPr/>
          <p:nvPr/>
        </p:nvSpPr>
        <p:spPr>
          <a:xfrm>
            <a:off x="6766560" y="457200"/>
            <a:ext cx="4937760" cy="18288"/>
          </a:xfrm>
          <a:prstGeom prst="rect">
            <a:avLst/>
          </a:prstGeom>
          <a:solidFill>
            <a:srgbClr val="F4EDE0"/>
          </a:solidFill>
          <a:ln/>
        </p:spPr>
      </p:sp>
      <p:sp>
        <p:nvSpPr>
          <p:cNvPr id="7" name="Text 5"/>
          <p:cNvSpPr/>
          <p:nvPr/>
        </p:nvSpPr>
        <p:spPr>
          <a:xfrm>
            <a:off x="6766560" y="548640"/>
            <a:ext cx="4937760" cy="274320"/>
          </a:xfrm>
          <a:prstGeom prst="rect">
            <a:avLst/>
          </a:prstGeom>
          <a:noFill/>
          <a:ln/>
        </p:spPr>
        <p:txBody>
          <a:bodyPr wrap="square" rtlCol="0" anchor="ctr"/>
          <a:lstStyle/>
          <a:p>
            <a:pPr algn="r" indent="0" marL="0">
              <a:buNone/>
            </a:pPr>
            <a:r>
              <a:rPr lang="en-US" sz="1000" b="1" spc="1200" kern="0" dirty="0">
                <a:solidFill>
                  <a:srgbClr val="F4EDE0"/>
                </a:solidFill>
                <a:latin typeface="Calibri" pitchFamily="34" charset="0"/>
                <a:ea typeface="Calibri" pitchFamily="34" charset="-122"/>
                <a:cs typeface="Calibri" pitchFamily="34" charset="-120"/>
              </a:rPr>
              <a:t>EDITION  N°  17</a:t>
            </a:r>
            <a:endParaRPr lang="en-US" sz="1000" dirty="0"/>
          </a:p>
        </p:txBody>
      </p:sp>
      <p:sp>
        <p:nvSpPr>
          <p:cNvPr id="8" name="Text 6"/>
          <p:cNvSpPr/>
          <p:nvPr/>
        </p:nvSpPr>
        <p:spPr>
          <a:xfrm>
            <a:off x="6766560" y="822960"/>
            <a:ext cx="4937760" cy="228600"/>
          </a:xfrm>
          <a:prstGeom prst="rect">
            <a:avLst/>
          </a:prstGeom>
          <a:noFill/>
          <a:ln/>
        </p:spPr>
        <p:txBody>
          <a:bodyPr wrap="square" rtlCol="0" anchor="ctr"/>
          <a:lstStyle/>
          <a:p>
            <a:pPr algn="r" indent="0" marL="0">
              <a:buNone/>
            </a:pPr>
            <a:r>
              <a:rPr lang="en-US" sz="800" spc="800" kern="0" dirty="0">
                <a:solidFill>
                  <a:srgbClr val="E8DCC4"/>
                </a:solidFill>
                <a:latin typeface="Calibri" pitchFamily="34" charset="0"/>
                <a:ea typeface="Calibri" pitchFamily="34" charset="-122"/>
                <a:cs typeface="Calibri" pitchFamily="34" charset="-120"/>
              </a:rPr>
              <a:t>3RD  BDS</a:t>
            </a:r>
            <a:endParaRPr lang="en-US" sz="800" dirty="0"/>
          </a:p>
        </p:txBody>
      </p:sp>
      <p:sp>
        <p:nvSpPr>
          <p:cNvPr id="9" name="Text 7"/>
          <p:cNvSpPr/>
          <p:nvPr/>
        </p:nvSpPr>
        <p:spPr>
          <a:xfrm>
            <a:off x="365760" y="1371600"/>
            <a:ext cx="5943600" cy="1554480"/>
          </a:xfrm>
          <a:prstGeom prst="rect">
            <a:avLst/>
          </a:prstGeom>
          <a:noFill/>
          <a:ln/>
        </p:spPr>
        <p:txBody>
          <a:bodyPr wrap="square" lIns="0" tIns="0" rIns="0" bIns="0" rtlCol="0" anchor="ctr"/>
          <a:lstStyle/>
          <a:p>
            <a:pPr indent="0" marL="0">
              <a:buNone/>
            </a:pPr>
            <a:r>
              <a:rPr lang="en-US" sz="14000" b="1" i="1" dirty="0">
                <a:solidFill>
                  <a:srgbClr val="6B1F2E"/>
                </a:solidFill>
                <a:latin typeface="Georgia" pitchFamily="34" charset="0"/>
                <a:ea typeface="Georgia" pitchFamily="34" charset="-122"/>
                <a:cs typeface="Georgia" pitchFamily="34" charset="-120"/>
              </a:rPr>
              <a:t>Case</a:t>
            </a:r>
            <a:endParaRPr lang="en-US" sz="14000" dirty="0"/>
          </a:p>
        </p:txBody>
      </p:sp>
      <p:sp>
        <p:nvSpPr>
          <p:cNvPr id="10" name="Text 8"/>
          <p:cNvSpPr/>
          <p:nvPr/>
        </p:nvSpPr>
        <p:spPr>
          <a:xfrm>
            <a:off x="457200" y="2880360"/>
            <a:ext cx="5852160" cy="822960"/>
          </a:xfrm>
          <a:prstGeom prst="rect">
            <a:avLst/>
          </a:prstGeom>
          <a:noFill/>
          <a:ln/>
        </p:spPr>
        <p:txBody>
          <a:bodyPr wrap="square" lIns="0" tIns="0" rIns="0" bIns="0" rtlCol="0" anchor="ctr"/>
          <a:lstStyle/>
          <a:p>
            <a:pPr indent="0" marL="0">
              <a:buNone/>
            </a:pPr>
            <a:r>
              <a:rPr lang="en-US" sz="6400" b="1" spc="1200" kern="0" dirty="0">
                <a:solidFill>
                  <a:srgbClr val="1A1A1A"/>
                </a:solidFill>
                <a:latin typeface="Georgia" pitchFamily="34" charset="0"/>
                <a:ea typeface="Georgia" pitchFamily="34" charset="-122"/>
                <a:cs typeface="Georgia" pitchFamily="34" charset="-120"/>
              </a:rPr>
              <a:t>STUDY</a:t>
            </a:r>
            <a:endParaRPr lang="en-US" sz="6400" dirty="0"/>
          </a:p>
        </p:txBody>
      </p:sp>
      <p:sp>
        <p:nvSpPr>
          <p:cNvPr id="11" name="Text 9"/>
          <p:cNvSpPr/>
          <p:nvPr/>
        </p:nvSpPr>
        <p:spPr>
          <a:xfrm>
            <a:off x="457200" y="3794760"/>
            <a:ext cx="6400800" cy="320040"/>
          </a:xfrm>
          <a:prstGeom prst="rect">
            <a:avLst/>
          </a:prstGeom>
          <a:noFill/>
          <a:ln/>
        </p:spPr>
        <p:txBody>
          <a:bodyPr wrap="square" rtlCol="0" anchor="ctr"/>
          <a:lstStyle/>
          <a:p>
            <a:pPr indent="0" marL="0">
              <a:buNone/>
            </a:pPr>
            <a:r>
              <a:rPr lang="en-US" sz="1200" b="1" spc="1000" kern="0" dirty="0">
                <a:solidFill>
                  <a:srgbClr val="5C4F3A"/>
                </a:solidFill>
                <a:latin typeface="Calibri" pitchFamily="34" charset="0"/>
                <a:ea typeface="Calibri" pitchFamily="34" charset="-122"/>
                <a:cs typeface="Calibri" pitchFamily="34" charset="-120"/>
              </a:rPr>
              <a:t>ON  ORAL  CAVITY  IN  DISEASE</a:t>
            </a:r>
            <a:endParaRPr lang="en-US" sz="1200" dirty="0"/>
          </a:p>
        </p:txBody>
      </p:sp>
      <p:sp>
        <p:nvSpPr>
          <p:cNvPr id="12" name="Shape 10"/>
          <p:cNvSpPr/>
          <p:nvPr/>
        </p:nvSpPr>
        <p:spPr>
          <a:xfrm>
            <a:off x="457200" y="4160520"/>
            <a:ext cx="914400" cy="36576"/>
          </a:xfrm>
          <a:prstGeom prst="rect">
            <a:avLst/>
          </a:prstGeom>
          <a:solidFill>
            <a:srgbClr val="B8893E"/>
          </a:solidFill>
          <a:ln/>
        </p:spPr>
      </p:sp>
      <p:sp>
        <p:nvSpPr>
          <p:cNvPr id="13" name="Text 11"/>
          <p:cNvSpPr/>
          <p:nvPr/>
        </p:nvSpPr>
        <p:spPr>
          <a:xfrm>
            <a:off x="457200" y="4572000"/>
            <a:ext cx="5486400" cy="274320"/>
          </a:xfrm>
          <a:prstGeom prst="rect">
            <a:avLst/>
          </a:prstGeom>
          <a:noFill/>
          <a:ln/>
        </p:spPr>
        <p:txBody>
          <a:bodyPr wrap="square" rtlCol="0" anchor="ctr"/>
          <a:lstStyle/>
          <a:p>
            <a:pPr indent="0" marL="0">
              <a:buNone/>
            </a:pPr>
            <a:r>
              <a:rPr lang="en-US" sz="900" b="1" spc="800" kern="0" dirty="0">
                <a:solidFill>
                  <a:srgbClr val="B8893E"/>
                </a:solidFill>
                <a:latin typeface="Calibri" pitchFamily="34" charset="0"/>
                <a:ea typeface="Calibri" pitchFamily="34" charset="-122"/>
                <a:cs typeface="Calibri" pitchFamily="34" charset="-120"/>
              </a:rPr>
              <a:t>THIS ISSUE'S CASE</a:t>
            </a:r>
            <a:endParaRPr lang="en-US" sz="900" dirty="0"/>
          </a:p>
        </p:txBody>
      </p:sp>
      <p:sp>
        <p:nvSpPr>
          <p:cNvPr id="14" name="Text 12"/>
          <p:cNvSpPr/>
          <p:nvPr/>
        </p:nvSpPr>
        <p:spPr>
          <a:xfrm>
            <a:off x="457200" y="4846320"/>
            <a:ext cx="5852160" cy="1463040"/>
          </a:xfrm>
          <a:prstGeom prst="rect">
            <a:avLst/>
          </a:prstGeom>
          <a:noFill/>
          <a:ln/>
        </p:spPr>
        <p:txBody>
          <a:bodyPr wrap="square" lIns="0" tIns="0" rIns="0" bIns="0" rtlCol="0" anchor="ctr"/>
          <a:lstStyle/>
          <a:p>
            <a:pPr indent="0" marL="0">
              <a:buNone/>
            </a:pPr>
            <a:r>
              <a:rPr lang="en-US" sz="2400" i="1" dirty="0">
                <a:solidFill>
                  <a:srgbClr val="1A1A1A"/>
                </a:solidFill>
                <a:latin typeface="Georgia" pitchFamily="34" charset="0"/>
                <a:ea typeface="Georgia" pitchFamily="34" charset="-122"/>
                <a:cs typeface="Georgia" pitchFamily="34" charset="-120"/>
              </a:rPr>
              <a:t>“Mild pain, upper back</a:t>
            </a:r>
            <a:endParaRPr lang="en-US" sz="2400" dirty="0"/>
          </a:p>
          <a:p>
            <a:pPr indent="0" marL="0">
              <a:buNone/>
            </a:pPr>
            <a:r>
              <a:rPr lang="en-US" sz="2400" i="1" dirty="0">
                <a:solidFill>
                  <a:srgbClr val="1A1A1A"/>
                </a:solidFill>
                <a:latin typeface="Georgia" pitchFamily="34" charset="0"/>
                <a:ea typeface="Georgia" pitchFamily="34" charset="-122"/>
                <a:cs typeface="Georgia" pitchFamily="34" charset="-120"/>
              </a:rPr>
              <a:t>right, while eating.”</a:t>
            </a:r>
            <a:endParaRPr lang="en-US" sz="2400" dirty="0"/>
          </a:p>
        </p:txBody>
      </p:sp>
      <p:sp>
        <p:nvSpPr>
          <p:cNvPr id="15" name="Text 13"/>
          <p:cNvSpPr/>
          <p:nvPr/>
        </p:nvSpPr>
        <p:spPr>
          <a:xfrm>
            <a:off x="6766560" y="1371600"/>
            <a:ext cx="4937760" cy="365760"/>
          </a:xfrm>
          <a:prstGeom prst="rect">
            <a:avLst/>
          </a:prstGeom>
          <a:noFill/>
          <a:ln/>
        </p:spPr>
        <p:txBody>
          <a:bodyPr wrap="square" rtlCol="0" anchor="ctr"/>
          <a:lstStyle/>
          <a:p>
            <a:pPr indent="0" marL="0">
              <a:buNone/>
            </a:pPr>
            <a:r>
              <a:rPr lang="en-US" sz="1100" b="1" spc="1000" kern="0" dirty="0">
                <a:solidFill>
                  <a:srgbClr val="D4AF37"/>
                </a:solidFill>
                <a:latin typeface="Calibri" pitchFamily="34" charset="0"/>
                <a:ea typeface="Calibri" pitchFamily="34" charset="-122"/>
                <a:cs typeface="Calibri" pitchFamily="34" charset="-120"/>
              </a:rPr>
              <a:t>BY</a:t>
            </a:r>
            <a:endParaRPr lang="en-US" sz="1100" dirty="0"/>
          </a:p>
        </p:txBody>
      </p:sp>
      <p:sp>
        <p:nvSpPr>
          <p:cNvPr id="16" name="Shape 14"/>
          <p:cNvSpPr/>
          <p:nvPr/>
        </p:nvSpPr>
        <p:spPr>
          <a:xfrm>
            <a:off x="6766560" y="1737360"/>
            <a:ext cx="548640" cy="36576"/>
          </a:xfrm>
          <a:prstGeom prst="rect">
            <a:avLst/>
          </a:prstGeom>
          <a:solidFill>
            <a:srgbClr val="B8893E"/>
          </a:solidFill>
          <a:ln/>
        </p:spPr>
      </p:sp>
      <p:sp>
        <p:nvSpPr>
          <p:cNvPr id="17" name="Text 15"/>
          <p:cNvSpPr/>
          <p:nvPr/>
        </p:nvSpPr>
        <p:spPr>
          <a:xfrm>
            <a:off x="6766560" y="1920240"/>
            <a:ext cx="4937760" cy="914400"/>
          </a:xfrm>
          <a:prstGeom prst="rect">
            <a:avLst/>
          </a:prstGeom>
          <a:noFill/>
          <a:ln/>
        </p:spPr>
        <p:txBody>
          <a:bodyPr wrap="square" lIns="0" tIns="0" rIns="0" bIns="0" rtlCol="0" anchor="ctr"/>
          <a:lstStyle/>
          <a:p>
            <a:pPr indent="0" marL="0">
              <a:buNone/>
            </a:pPr>
            <a:r>
              <a:rPr lang="en-US" sz="5600" b="1" i="1" dirty="0">
                <a:solidFill>
                  <a:srgbClr val="F4EDE0"/>
                </a:solidFill>
                <a:latin typeface="Georgia" pitchFamily="34" charset="0"/>
                <a:ea typeface="Georgia" pitchFamily="34" charset="-122"/>
                <a:cs typeface="Georgia" pitchFamily="34" charset="-120"/>
              </a:rPr>
              <a:t>Ibrahim</a:t>
            </a:r>
            <a:endParaRPr lang="en-US" sz="5600" dirty="0"/>
          </a:p>
        </p:txBody>
      </p:sp>
      <p:sp>
        <p:nvSpPr>
          <p:cNvPr id="18" name="Text 16"/>
          <p:cNvSpPr/>
          <p:nvPr/>
        </p:nvSpPr>
        <p:spPr>
          <a:xfrm>
            <a:off x="6766560" y="2788920"/>
            <a:ext cx="4937760" cy="914400"/>
          </a:xfrm>
          <a:prstGeom prst="rect">
            <a:avLst/>
          </a:prstGeom>
          <a:noFill/>
          <a:ln/>
        </p:spPr>
        <p:txBody>
          <a:bodyPr wrap="square" lIns="0" tIns="0" rIns="0" bIns="0" rtlCol="0" anchor="ctr"/>
          <a:lstStyle/>
          <a:p>
            <a:pPr indent="0" marL="0">
              <a:buNone/>
            </a:pPr>
            <a:r>
              <a:rPr lang="en-US" sz="5600" b="1" i="1" dirty="0">
                <a:solidFill>
                  <a:srgbClr val="F4EDE0"/>
                </a:solidFill>
                <a:latin typeface="Georgia" pitchFamily="34" charset="0"/>
                <a:ea typeface="Georgia" pitchFamily="34" charset="-122"/>
                <a:cs typeface="Georgia" pitchFamily="34" charset="-120"/>
              </a:rPr>
              <a:t>Alshahrani</a:t>
            </a:r>
            <a:endParaRPr lang="en-US" sz="5600" dirty="0"/>
          </a:p>
        </p:txBody>
      </p:sp>
      <p:sp>
        <p:nvSpPr>
          <p:cNvPr id="19" name="Shape 17"/>
          <p:cNvSpPr/>
          <p:nvPr/>
        </p:nvSpPr>
        <p:spPr>
          <a:xfrm>
            <a:off x="6766560" y="3794760"/>
            <a:ext cx="457200" cy="27432"/>
          </a:xfrm>
          <a:prstGeom prst="rect">
            <a:avLst/>
          </a:prstGeom>
          <a:solidFill>
            <a:srgbClr val="B8893E"/>
          </a:solidFill>
          <a:ln/>
        </p:spPr>
      </p:sp>
      <p:sp>
        <p:nvSpPr>
          <p:cNvPr id="20" name="Text 18"/>
          <p:cNvSpPr/>
          <p:nvPr/>
        </p:nvSpPr>
        <p:spPr>
          <a:xfrm>
            <a:off x="6766560" y="3977640"/>
            <a:ext cx="4937760" cy="274320"/>
          </a:xfrm>
          <a:prstGeom prst="rect">
            <a:avLst/>
          </a:prstGeom>
          <a:noFill/>
          <a:ln/>
        </p:spPr>
        <p:txBody>
          <a:bodyPr wrap="square" rtlCol="0" anchor="ctr"/>
          <a:lstStyle/>
          <a:p>
            <a:pPr indent="0" marL="0">
              <a:buNone/>
            </a:pPr>
            <a:r>
              <a:rPr lang="en-US" sz="1100" b="1" spc="800" kern="0" dirty="0">
                <a:solidFill>
                  <a:srgbClr val="D4AF37"/>
                </a:solidFill>
                <a:latin typeface="Calibri" pitchFamily="34" charset="0"/>
                <a:ea typeface="Calibri" pitchFamily="34" charset="-122"/>
                <a:cs typeface="Calibri" pitchFamily="34" charset="-120"/>
              </a:rPr>
              <a:t>DENTAL STUDENT  ·  THIRD YEAR</a:t>
            </a:r>
            <a:endParaRPr lang="en-US" sz="1100" dirty="0"/>
          </a:p>
        </p:txBody>
      </p:sp>
      <p:sp>
        <p:nvSpPr>
          <p:cNvPr id="21" name="Text 19"/>
          <p:cNvSpPr/>
          <p:nvPr/>
        </p:nvSpPr>
        <p:spPr>
          <a:xfrm>
            <a:off x="6766560" y="4434840"/>
            <a:ext cx="4937760" cy="274320"/>
          </a:xfrm>
          <a:prstGeom prst="rect">
            <a:avLst/>
          </a:prstGeom>
          <a:noFill/>
          <a:ln/>
        </p:spPr>
        <p:txBody>
          <a:bodyPr wrap="square" rtlCol="0" anchor="ctr"/>
          <a:lstStyle/>
          <a:p>
            <a:pPr indent="0" marL="0">
              <a:buNone/>
            </a:pPr>
            <a:r>
              <a:rPr lang="en-US" sz="900" b="1" spc="800" kern="0" dirty="0">
                <a:solidFill>
                  <a:srgbClr val="E8DCC4"/>
                </a:solidFill>
                <a:latin typeface="Calibri" pitchFamily="34" charset="0"/>
                <a:ea typeface="Calibri" pitchFamily="34" charset="-122"/>
                <a:cs typeface="Calibri" pitchFamily="34" charset="-120"/>
              </a:rPr>
              <a:t>ACADEMIC N°</a:t>
            </a:r>
            <a:endParaRPr lang="en-US" sz="900" dirty="0"/>
          </a:p>
        </p:txBody>
      </p:sp>
      <p:sp>
        <p:nvSpPr>
          <p:cNvPr id="22" name="Text 20"/>
          <p:cNvSpPr/>
          <p:nvPr/>
        </p:nvSpPr>
        <p:spPr>
          <a:xfrm>
            <a:off x="6766560" y="4709160"/>
            <a:ext cx="4937760" cy="640080"/>
          </a:xfrm>
          <a:prstGeom prst="rect">
            <a:avLst/>
          </a:prstGeom>
          <a:noFill/>
          <a:ln/>
        </p:spPr>
        <p:txBody>
          <a:bodyPr wrap="square" lIns="0" tIns="0" rIns="0" bIns="0" rtlCol="0" anchor="ctr"/>
          <a:lstStyle/>
          <a:p>
            <a:pPr indent="0" marL="0">
              <a:buNone/>
            </a:pPr>
            <a:r>
              <a:rPr lang="en-US" sz="3600" b="1" i="1" dirty="0">
                <a:solidFill>
                  <a:srgbClr val="F4EDE0"/>
                </a:solidFill>
                <a:latin typeface="Georgia" pitchFamily="34" charset="0"/>
                <a:ea typeface="Georgia" pitchFamily="34" charset="-122"/>
                <a:cs typeface="Georgia" pitchFamily="34" charset="-120"/>
              </a:rPr>
              <a:t>2110301</a:t>
            </a:r>
            <a:endParaRPr lang="en-US" sz="3600" dirty="0"/>
          </a:p>
        </p:txBody>
      </p:sp>
      <p:sp>
        <p:nvSpPr>
          <p:cNvPr id="23" name="Shape 21"/>
          <p:cNvSpPr/>
          <p:nvPr/>
        </p:nvSpPr>
        <p:spPr>
          <a:xfrm>
            <a:off x="6766560" y="5440680"/>
            <a:ext cx="457200" cy="27432"/>
          </a:xfrm>
          <a:prstGeom prst="rect">
            <a:avLst/>
          </a:prstGeom>
          <a:solidFill>
            <a:srgbClr val="B8893E"/>
          </a:solidFill>
          <a:ln/>
        </p:spPr>
      </p:sp>
      <p:sp>
        <p:nvSpPr>
          <p:cNvPr id="24" name="Text 22"/>
          <p:cNvSpPr/>
          <p:nvPr/>
        </p:nvSpPr>
        <p:spPr>
          <a:xfrm>
            <a:off x="6766560" y="5577840"/>
            <a:ext cx="4937760" cy="274320"/>
          </a:xfrm>
          <a:prstGeom prst="rect">
            <a:avLst/>
          </a:prstGeom>
          <a:noFill/>
          <a:ln/>
        </p:spPr>
        <p:txBody>
          <a:bodyPr wrap="square" rtlCol="0" anchor="ctr"/>
          <a:lstStyle/>
          <a:p>
            <a:pPr indent="0" marL="0">
              <a:buNone/>
            </a:pPr>
            <a:r>
              <a:rPr lang="en-US" sz="900" b="1" spc="1000" kern="0" dirty="0">
                <a:solidFill>
                  <a:srgbClr val="D4AF37"/>
                </a:solidFill>
                <a:latin typeface="Calibri" pitchFamily="34" charset="0"/>
                <a:ea typeface="Calibri" pitchFamily="34" charset="-122"/>
                <a:cs typeface="Calibri" pitchFamily="34" charset="-120"/>
              </a:rPr>
              <a:t>INSIDE</a:t>
            </a:r>
            <a:endParaRPr lang="en-US" sz="900" dirty="0"/>
          </a:p>
        </p:txBody>
      </p:sp>
      <p:sp>
        <p:nvSpPr>
          <p:cNvPr id="25" name="Text 23"/>
          <p:cNvSpPr/>
          <p:nvPr/>
        </p:nvSpPr>
        <p:spPr>
          <a:xfrm>
            <a:off x="6766560" y="5852160"/>
            <a:ext cx="4937760" cy="822960"/>
          </a:xfrm>
          <a:prstGeom prst="rect">
            <a:avLst/>
          </a:prstGeom>
          <a:noFill/>
          <a:ln/>
        </p:spPr>
        <p:txBody>
          <a:bodyPr wrap="square" lIns="0" tIns="0" rIns="0" bIns="0" rtlCol="0" anchor="ctr"/>
          <a:lstStyle/>
          <a:p>
            <a:pPr indent="0" marL="0">
              <a:spcAft>
                <a:spcPts val="200"/>
              </a:spcAft>
              <a:buNone/>
            </a:pPr>
            <a:r>
              <a:rPr lang="en-US" sz="1100" b="1" i="1" dirty="0">
                <a:solidFill>
                  <a:srgbClr val="B8893E"/>
                </a:solidFill>
                <a:latin typeface="Calibri" pitchFamily="34" charset="0"/>
                <a:ea typeface="Calibri" pitchFamily="34" charset="-122"/>
                <a:cs typeface="Calibri" pitchFamily="34" charset="-120"/>
              </a:rPr>
              <a:t>→  </a:t>
            </a:r>
            <a:pPr indent="0" marL="0">
              <a:spcAft>
                <a:spcPts val="200"/>
              </a:spcAft>
              <a:buNone/>
            </a:pPr>
            <a:r>
              <a:rPr lang="en-US" sz="1100" i="1" dirty="0">
                <a:solidFill>
                  <a:srgbClr val="F4EDE0"/>
                </a:solidFill>
                <a:latin typeface="Calibri" pitchFamily="34" charset="0"/>
                <a:ea typeface="Calibri" pitchFamily="34" charset="-122"/>
                <a:cs typeface="Calibri" pitchFamily="34" charset="-120"/>
              </a:rPr>
              <a:t>Patient profile &amp; complaint</a:t>
            </a:r>
            <a:endParaRPr lang="en-US" sz="1100" dirty="0"/>
          </a:p>
          <a:p>
            <a:pPr indent="0" marL="0">
              <a:spcAft>
                <a:spcPts val="200"/>
              </a:spcAft>
              <a:buNone/>
            </a:pPr>
            <a:r>
              <a:rPr lang="en-US" sz="1100" b="1" i="1" dirty="0">
                <a:solidFill>
                  <a:srgbClr val="B8893E"/>
                </a:solidFill>
                <a:latin typeface="Calibri" pitchFamily="34" charset="0"/>
                <a:ea typeface="Calibri" pitchFamily="34" charset="-122"/>
                <a:cs typeface="Calibri" pitchFamily="34" charset="-120"/>
              </a:rPr>
              <a:t>→  </a:t>
            </a:r>
            <a:pPr indent="0" marL="0">
              <a:spcAft>
                <a:spcPts val="200"/>
              </a:spcAft>
              <a:buNone/>
            </a:pPr>
            <a:r>
              <a:rPr lang="en-US" sz="1100" i="1" dirty="0">
                <a:solidFill>
                  <a:srgbClr val="F4EDE0"/>
                </a:solidFill>
                <a:latin typeface="Calibri" pitchFamily="34" charset="0"/>
                <a:ea typeface="Calibri" pitchFamily="34" charset="-122"/>
                <a:cs typeface="Calibri" pitchFamily="34" charset="-120"/>
              </a:rPr>
              <a:t>Diagnostic workup &amp; imaging</a:t>
            </a:r>
            <a:endParaRPr lang="en-US" sz="1100" dirty="0"/>
          </a:p>
          <a:p>
            <a:pPr indent="0" marL="0">
              <a:spcAft>
                <a:spcPts val="200"/>
              </a:spcAft>
              <a:buNone/>
            </a:pPr>
            <a:r>
              <a:rPr lang="en-US" sz="1100" b="1" i="1" dirty="0">
                <a:solidFill>
                  <a:srgbClr val="B8893E"/>
                </a:solidFill>
                <a:latin typeface="Calibri" pitchFamily="34" charset="0"/>
                <a:ea typeface="Calibri" pitchFamily="34" charset="-122"/>
                <a:cs typeface="Calibri" pitchFamily="34" charset="-120"/>
              </a:rPr>
              <a:t>→  </a:t>
            </a:r>
            <a:pPr indent="0" marL="0">
              <a:spcAft>
                <a:spcPts val="200"/>
              </a:spcAft>
              <a:buNone/>
            </a:pPr>
            <a:r>
              <a:rPr lang="en-US" sz="1100" i="1" dirty="0">
                <a:solidFill>
                  <a:srgbClr val="F4EDE0"/>
                </a:solidFill>
                <a:latin typeface="Calibri" pitchFamily="34" charset="0"/>
                <a:ea typeface="Calibri" pitchFamily="34" charset="-122"/>
                <a:cs typeface="Calibri" pitchFamily="34" charset="-120"/>
              </a:rPr>
              <a:t>Phased management plan</a:t>
            </a:r>
            <a:endParaRPr lang="en-US" sz="1100" dirty="0"/>
          </a:p>
        </p:txBody>
      </p:sp>
      <p:sp>
        <p:nvSpPr>
          <p:cNvPr id="26" name="Shape 24"/>
          <p:cNvSpPr/>
          <p:nvPr/>
        </p:nvSpPr>
        <p:spPr>
          <a:xfrm>
            <a:off x="457200" y="6492240"/>
            <a:ext cx="5486400" cy="13716"/>
          </a:xfrm>
          <a:prstGeom prst="rect">
            <a:avLst/>
          </a:prstGeom>
          <a:solidFill>
            <a:srgbClr val="1A1A1A"/>
          </a:solidFill>
          <a:ln/>
        </p:spPr>
      </p:sp>
      <p:sp>
        <p:nvSpPr>
          <p:cNvPr id="27" name="Text 25"/>
          <p:cNvSpPr/>
          <p:nvPr/>
        </p:nvSpPr>
        <p:spPr>
          <a:xfrm>
            <a:off x="457200" y="6565392"/>
            <a:ext cx="5943600" cy="228600"/>
          </a:xfrm>
          <a:prstGeom prst="rect">
            <a:avLst/>
          </a:prstGeom>
          <a:noFill/>
          <a:ln/>
        </p:spPr>
        <p:txBody>
          <a:bodyPr wrap="square" rtlCol="0" anchor="ctr"/>
          <a:lstStyle/>
          <a:p>
            <a:pPr indent="0" marL="0">
              <a:buNone/>
            </a:pPr>
            <a:r>
              <a:rPr lang="en-US" sz="800" b="1" spc="400" kern="0" dirty="0">
                <a:solidFill>
                  <a:srgbClr val="5C4F3A"/>
                </a:solidFill>
                <a:latin typeface="Calibri" pitchFamily="34" charset="0"/>
                <a:ea typeface="Calibri" pitchFamily="34" charset="-122"/>
                <a:cs typeface="Calibri" pitchFamily="34" charset="-120"/>
              </a:rPr>
              <a:t>PATIENT: M. HANASH  ·  M140426001  ·  45 YRS  ·  MALE</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EDE0"/>
        </a:solidFill>
      </p:bgPr>
    </p:bg>
    <p:spTree>
      <p:nvGrpSpPr>
        <p:cNvPr id="1" name=""/>
        <p:cNvGrpSpPr/>
        <p:nvPr/>
      </p:nvGrpSpPr>
      <p:grpSpPr>
        <a:xfrm>
          <a:off x="0" y="0"/>
          <a:ext cx="0" cy="0"/>
          <a:chOff x="0" y="0"/>
          <a:chExt cx="0" cy="0"/>
        </a:xfrm>
      </p:grpSpPr>
      <p:sp>
        <p:nvSpPr>
          <p:cNvPr id="2" name="Shape 0"/>
          <p:cNvSpPr/>
          <p:nvPr/>
        </p:nvSpPr>
        <p:spPr>
          <a:xfrm>
            <a:off x="457200" y="457200"/>
            <a:ext cx="11247120" cy="13716"/>
          </a:xfrm>
          <a:prstGeom prst="rect">
            <a:avLst/>
          </a:prstGeom>
          <a:solidFill>
            <a:srgbClr val="1A1A1A"/>
          </a:solidFill>
          <a:ln/>
        </p:spPr>
      </p:sp>
      <p:sp>
        <p:nvSpPr>
          <p:cNvPr id="3" name="Text 1"/>
          <p:cNvSpPr/>
          <p:nvPr/>
        </p:nvSpPr>
        <p:spPr>
          <a:xfrm>
            <a:off x="457200" y="548640"/>
            <a:ext cx="5486400" cy="274320"/>
          </a:xfrm>
          <a:prstGeom prst="rect">
            <a:avLst/>
          </a:prstGeom>
          <a:noFill/>
          <a:ln/>
        </p:spPr>
        <p:txBody>
          <a:bodyPr wrap="square" rtlCol="0" anchor="ctr"/>
          <a:lstStyle/>
          <a:p>
            <a:pPr indent="0" marL="0">
              <a:buNone/>
            </a:pPr>
            <a:r>
              <a:rPr lang="en-US" sz="900" b="1" spc="800" kern="0" dirty="0">
                <a:solidFill>
                  <a:srgbClr val="5C4F3A"/>
                </a:solidFill>
                <a:latin typeface="Calibri" pitchFamily="34" charset="0"/>
                <a:ea typeface="Calibri" pitchFamily="34" charset="-122"/>
                <a:cs typeface="Calibri" pitchFamily="34" charset="-120"/>
              </a:rPr>
              <a:t>THE INDEX</a:t>
            </a:r>
            <a:endParaRPr lang="en-US" sz="900" dirty="0"/>
          </a:p>
        </p:txBody>
      </p:sp>
      <p:sp>
        <p:nvSpPr>
          <p:cNvPr id="4" name="Text 2"/>
          <p:cNvSpPr/>
          <p:nvPr/>
        </p:nvSpPr>
        <p:spPr>
          <a:xfrm>
            <a:off x="6217920" y="548640"/>
            <a:ext cx="5486400" cy="274320"/>
          </a:xfrm>
          <a:prstGeom prst="rect">
            <a:avLst/>
          </a:prstGeom>
          <a:noFill/>
          <a:ln/>
        </p:spPr>
        <p:txBody>
          <a:bodyPr wrap="square" rtlCol="0" anchor="ctr"/>
          <a:lstStyle/>
          <a:p>
            <a:pPr algn="r" indent="0" marL="0">
              <a:buNone/>
            </a:pPr>
            <a:r>
              <a:rPr lang="en-US" sz="900" b="1" spc="800" kern="0" dirty="0">
                <a:solidFill>
                  <a:srgbClr val="5C4F3A"/>
                </a:solidFill>
                <a:latin typeface="Calibri" pitchFamily="34" charset="0"/>
                <a:ea typeface="Calibri" pitchFamily="34" charset="-122"/>
                <a:cs typeface="Calibri" pitchFamily="34" charset="-120"/>
              </a:rPr>
              <a:t>CASE PRESENTATION</a:t>
            </a:r>
            <a:endParaRPr lang="en-US" sz="900" dirty="0"/>
          </a:p>
        </p:txBody>
      </p:sp>
      <p:sp>
        <p:nvSpPr>
          <p:cNvPr id="5" name="Text 3"/>
          <p:cNvSpPr/>
          <p:nvPr/>
        </p:nvSpPr>
        <p:spPr>
          <a:xfrm>
            <a:off x="457200" y="914400"/>
            <a:ext cx="7315200" cy="1280160"/>
          </a:xfrm>
          <a:prstGeom prst="rect">
            <a:avLst/>
          </a:prstGeom>
          <a:noFill/>
          <a:ln/>
        </p:spPr>
        <p:txBody>
          <a:bodyPr wrap="square" lIns="0" tIns="0" rIns="0" bIns="0" rtlCol="0" anchor="ctr"/>
          <a:lstStyle/>
          <a:p>
            <a:pPr indent="0" marL="0">
              <a:buNone/>
            </a:pPr>
            <a:r>
              <a:rPr lang="en-US" sz="9600" b="1" i="1" dirty="0">
                <a:solidFill>
                  <a:srgbClr val="6B1F2E"/>
                </a:solidFill>
                <a:latin typeface="Georgia" pitchFamily="34" charset="0"/>
                <a:ea typeface="Georgia" pitchFamily="34" charset="-122"/>
                <a:cs typeface="Georgia" pitchFamily="34" charset="-120"/>
              </a:rPr>
              <a:t>Contents</a:t>
            </a:r>
            <a:endParaRPr lang="en-US" sz="9600" dirty="0"/>
          </a:p>
        </p:txBody>
      </p:sp>
      <p:sp>
        <p:nvSpPr>
          <p:cNvPr id="6" name="Shape 4"/>
          <p:cNvSpPr/>
          <p:nvPr/>
        </p:nvSpPr>
        <p:spPr>
          <a:xfrm>
            <a:off x="457200" y="2194560"/>
            <a:ext cx="914400" cy="36576"/>
          </a:xfrm>
          <a:prstGeom prst="rect">
            <a:avLst/>
          </a:prstGeom>
          <a:solidFill>
            <a:srgbClr val="B8893E"/>
          </a:solidFill>
          <a:ln/>
        </p:spPr>
      </p:sp>
      <p:sp>
        <p:nvSpPr>
          <p:cNvPr id="7" name="Text 5"/>
          <p:cNvSpPr/>
          <p:nvPr/>
        </p:nvSpPr>
        <p:spPr>
          <a:xfrm>
            <a:off x="8229600" y="1280160"/>
            <a:ext cx="3474720" cy="365760"/>
          </a:xfrm>
          <a:prstGeom prst="rect">
            <a:avLst/>
          </a:prstGeom>
          <a:noFill/>
          <a:ln/>
        </p:spPr>
        <p:txBody>
          <a:bodyPr wrap="square" rtlCol="0" anchor="ctr"/>
          <a:lstStyle/>
          <a:p>
            <a:pPr indent="0" marL="0">
              <a:buNone/>
            </a:pPr>
            <a:r>
              <a:rPr lang="en-US" sz="1100" b="1" spc="800" kern="0" dirty="0">
                <a:solidFill>
                  <a:srgbClr val="B8893E"/>
                </a:solidFill>
                <a:latin typeface="Calibri" pitchFamily="34" charset="0"/>
                <a:ea typeface="Calibri" pitchFamily="34" charset="-122"/>
                <a:cs typeface="Calibri" pitchFamily="34" charset="-120"/>
              </a:rPr>
              <a:t>Overview</a:t>
            </a:r>
            <a:endParaRPr lang="en-US" sz="1100" dirty="0"/>
          </a:p>
        </p:txBody>
      </p:sp>
      <p:sp>
        <p:nvSpPr>
          <p:cNvPr id="8" name="Text 6"/>
          <p:cNvSpPr/>
          <p:nvPr/>
        </p:nvSpPr>
        <p:spPr>
          <a:xfrm>
            <a:off x="8229600" y="1645920"/>
            <a:ext cx="3474720" cy="1371600"/>
          </a:xfrm>
          <a:prstGeom prst="rect">
            <a:avLst/>
          </a:prstGeom>
          <a:noFill/>
          <a:ln/>
        </p:spPr>
        <p:txBody>
          <a:bodyPr wrap="square" lIns="0" tIns="0" rIns="0" bIns="0" rtlCol="0" anchor="ctr"/>
          <a:lstStyle/>
          <a:p>
            <a:pPr indent="0" marL="0">
              <a:buNone/>
            </a:pPr>
            <a:r>
              <a:rPr lang="en-US" sz="1200" i="1" dirty="0">
                <a:solidFill>
                  <a:srgbClr val="2C2419"/>
                </a:solidFill>
                <a:latin typeface="Georgia" pitchFamily="34" charset="0"/>
                <a:ea typeface="Georgia" pitchFamily="34" charset="-122"/>
                <a:cs typeface="Georgia" pitchFamily="34" charset="-120"/>
              </a:rPr>
              <a:t>A 45-year-old salesman presents with localized food impaction pain. We trace the workup from history through the panoramic radiograph to the phased treatment plan.</a:t>
            </a:r>
            <a:endParaRPr lang="en-US" sz="1200" dirty="0"/>
          </a:p>
        </p:txBody>
      </p:sp>
      <p:sp>
        <p:nvSpPr>
          <p:cNvPr id="9" name="Text 7"/>
          <p:cNvSpPr/>
          <p:nvPr/>
        </p:nvSpPr>
        <p:spPr>
          <a:xfrm>
            <a:off x="457200" y="2743200"/>
            <a:ext cx="640080" cy="310896"/>
          </a:xfrm>
          <a:prstGeom prst="rect">
            <a:avLst/>
          </a:prstGeom>
          <a:noFill/>
          <a:ln/>
        </p:spPr>
        <p:txBody>
          <a:bodyPr wrap="square" lIns="0" tIns="0" rIns="0" bIns="0" rtlCol="0" anchor="ctr"/>
          <a:lstStyle/>
          <a:p>
            <a:pPr indent="0" marL="0">
              <a:buNone/>
            </a:pPr>
            <a:r>
              <a:rPr lang="en-US" sz="1300" b="1" i="1" dirty="0">
                <a:solidFill>
                  <a:srgbClr val="B8893E"/>
                </a:solidFill>
                <a:latin typeface="Georgia" pitchFamily="34" charset="0"/>
                <a:ea typeface="Georgia" pitchFamily="34" charset="-122"/>
                <a:cs typeface="Georgia" pitchFamily="34" charset="-120"/>
              </a:rPr>
              <a:t>I</a:t>
            </a:r>
            <a:endParaRPr lang="en-US" sz="1300" dirty="0"/>
          </a:p>
        </p:txBody>
      </p:sp>
      <p:sp>
        <p:nvSpPr>
          <p:cNvPr id="10" name="Text 8"/>
          <p:cNvSpPr/>
          <p:nvPr/>
        </p:nvSpPr>
        <p:spPr>
          <a:xfrm>
            <a:off x="1097280" y="2743200"/>
            <a:ext cx="3657600" cy="310896"/>
          </a:xfrm>
          <a:prstGeom prst="rect">
            <a:avLst/>
          </a:prstGeom>
          <a:noFill/>
          <a:ln/>
        </p:spPr>
        <p:txBody>
          <a:bodyPr wrap="square" lIns="0" tIns="0" rIns="0" bIns="0" rtlCol="0" anchor="ctr"/>
          <a:lstStyle/>
          <a:p>
            <a:pPr indent="0" marL="0">
              <a:buNone/>
            </a:pPr>
            <a:r>
              <a:rPr lang="en-US" sz="1400" dirty="0">
                <a:solidFill>
                  <a:srgbClr val="1A1A1A"/>
                </a:solidFill>
                <a:latin typeface="Georgia" pitchFamily="34" charset="0"/>
                <a:ea typeface="Georgia" pitchFamily="34" charset="-122"/>
                <a:cs typeface="Georgia" pitchFamily="34" charset="-120"/>
              </a:rPr>
              <a:t>The Patient</a:t>
            </a:r>
            <a:endParaRPr lang="en-US" sz="1400" dirty="0"/>
          </a:p>
        </p:txBody>
      </p:sp>
      <p:sp>
        <p:nvSpPr>
          <p:cNvPr id="11" name="Shape 9"/>
          <p:cNvSpPr/>
          <p:nvPr/>
        </p:nvSpPr>
        <p:spPr>
          <a:xfrm>
            <a:off x="1097280" y="3026664"/>
            <a:ext cx="4572000" cy="4572"/>
          </a:xfrm>
          <a:prstGeom prst="rect">
            <a:avLst/>
          </a:prstGeom>
          <a:solidFill>
            <a:srgbClr val="C9B8A0"/>
          </a:solidFill>
          <a:ln/>
        </p:spPr>
      </p:sp>
      <p:sp>
        <p:nvSpPr>
          <p:cNvPr id="12" name="Text 10"/>
          <p:cNvSpPr/>
          <p:nvPr/>
        </p:nvSpPr>
        <p:spPr>
          <a:xfrm>
            <a:off x="4754880" y="2743200"/>
            <a:ext cx="914400" cy="310896"/>
          </a:xfrm>
          <a:prstGeom prst="rect">
            <a:avLst/>
          </a:prstGeom>
          <a:noFill/>
          <a:ln/>
        </p:spPr>
        <p:txBody>
          <a:bodyPr wrap="square" lIns="0" tIns="0" rIns="0" bIns="0" rtlCol="0" anchor="ctr"/>
          <a:lstStyle/>
          <a:p>
            <a:pPr algn="r" indent="0" marL="0">
              <a:buNone/>
            </a:pPr>
            <a:r>
              <a:rPr lang="en-US" sz="1300" b="1" i="1" dirty="0">
                <a:solidFill>
                  <a:srgbClr val="6B1F2E"/>
                </a:solidFill>
                <a:latin typeface="Georgia" pitchFamily="34" charset="0"/>
                <a:ea typeface="Georgia" pitchFamily="34" charset="-122"/>
                <a:cs typeface="Georgia" pitchFamily="34" charset="-120"/>
              </a:rPr>
              <a:t>02</a:t>
            </a:r>
            <a:endParaRPr lang="en-US" sz="1300" dirty="0"/>
          </a:p>
        </p:txBody>
      </p:sp>
      <p:sp>
        <p:nvSpPr>
          <p:cNvPr id="13" name="Text 11"/>
          <p:cNvSpPr/>
          <p:nvPr/>
        </p:nvSpPr>
        <p:spPr>
          <a:xfrm>
            <a:off x="457200" y="3054096"/>
            <a:ext cx="640080" cy="310896"/>
          </a:xfrm>
          <a:prstGeom prst="rect">
            <a:avLst/>
          </a:prstGeom>
          <a:noFill/>
          <a:ln/>
        </p:spPr>
        <p:txBody>
          <a:bodyPr wrap="square" lIns="0" tIns="0" rIns="0" bIns="0" rtlCol="0" anchor="ctr"/>
          <a:lstStyle/>
          <a:p>
            <a:pPr indent="0" marL="0">
              <a:buNone/>
            </a:pPr>
            <a:r>
              <a:rPr lang="en-US" sz="1300" b="1" i="1" dirty="0">
                <a:solidFill>
                  <a:srgbClr val="B8893E"/>
                </a:solidFill>
                <a:latin typeface="Georgia" pitchFamily="34" charset="0"/>
                <a:ea typeface="Georgia" pitchFamily="34" charset="-122"/>
                <a:cs typeface="Georgia" pitchFamily="34" charset="-120"/>
              </a:rPr>
              <a:t>II</a:t>
            </a:r>
            <a:endParaRPr lang="en-US" sz="1300" dirty="0"/>
          </a:p>
        </p:txBody>
      </p:sp>
      <p:sp>
        <p:nvSpPr>
          <p:cNvPr id="14" name="Text 12"/>
          <p:cNvSpPr/>
          <p:nvPr/>
        </p:nvSpPr>
        <p:spPr>
          <a:xfrm>
            <a:off x="1097280" y="3054096"/>
            <a:ext cx="3657600" cy="310896"/>
          </a:xfrm>
          <a:prstGeom prst="rect">
            <a:avLst/>
          </a:prstGeom>
          <a:noFill/>
          <a:ln/>
        </p:spPr>
        <p:txBody>
          <a:bodyPr wrap="square" lIns="0" tIns="0" rIns="0" bIns="0" rtlCol="0" anchor="ctr"/>
          <a:lstStyle/>
          <a:p>
            <a:pPr indent="0" marL="0">
              <a:buNone/>
            </a:pPr>
            <a:r>
              <a:rPr lang="en-US" sz="1400" dirty="0">
                <a:solidFill>
                  <a:srgbClr val="1A1A1A"/>
                </a:solidFill>
                <a:latin typeface="Georgia" pitchFamily="34" charset="0"/>
                <a:ea typeface="Georgia" pitchFamily="34" charset="-122"/>
                <a:cs typeface="Georgia" pitchFamily="34" charset="-120"/>
              </a:rPr>
              <a:t>The Complaint</a:t>
            </a:r>
            <a:endParaRPr lang="en-US" sz="1400" dirty="0"/>
          </a:p>
        </p:txBody>
      </p:sp>
      <p:sp>
        <p:nvSpPr>
          <p:cNvPr id="15" name="Shape 13"/>
          <p:cNvSpPr/>
          <p:nvPr/>
        </p:nvSpPr>
        <p:spPr>
          <a:xfrm>
            <a:off x="1097280" y="3337560"/>
            <a:ext cx="4572000" cy="4572"/>
          </a:xfrm>
          <a:prstGeom prst="rect">
            <a:avLst/>
          </a:prstGeom>
          <a:solidFill>
            <a:srgbClr val="C9B8A0"/>
          </a:solidFill>
          <a:ln/>
        </p:spPr>
      </p:sp>
      <p:sp>
        <p:nvSpPr>
          <p:cNvPr id="16" name="Text 14"/>
          <p:cNvSpPr/>
          <p:nvPr/>
        </p:nvSpPr>
        <p:spPr>
          <a:xfrm>
            <a:off x="4754880" y="3054096"/>
            <a:ext cx="914400" cy="310896"/>
          </a:xfrm>
          <a:prstGeom prst="rect">
            <a:avLst/>
          </a:prstGeom>
          <a:noFill/>
          <a:ln/>
        </p:spPr>
        <p:txBody>
          <a:bodyPr wrap="square" lIns="0" tIns="0" rIns="0" bIns="0" rtlCol="0" anchor="ctr"/>
          <a:lstStyle/>
          <a:p>
            <a:pPr algn="r" indent="0" marL="0">
              <a:buNone/>
            </a:pPr>
            <a:r>
              <a:rPr lang="en-US" sz="1300" b="1" i="1" dirty="0">
                <a:solidFill>
                  <a:srgbClr val="6B1F2E"/>
                </a:solidFill>
                <a:latin typeface="Georgia" pitchFamily="34" charset="0"/>
                <a:ea typeface="Georgia" pitchFamily="34" charset="-122"/>
                <a:cs typeface="Georgia" pitchFamily="34" charset="-120"/>
              </a:rPr>
              <a:t>03</a:t>
            </a:r>
            <a:endParaRPr lang="en-US" sz="1300" dirty="0"/>
          </a:p>
        </p:txBody>
      </p:sp>
      <p:sp>
        <p:nvSpPr>
          <p:cNvPr id="17" name="Text 15"/>
          <p:cNvSpPr/>
          <p:nvPr/>
        </p:nvSpPr>
        <p:spPr>
          <a:xfrm>
            <a:off x="457200" y="3364992"/>
            <a:ext cx="640080" cy="310896"/>
          </a:xfrm>
          <a:prstGeom prst="rect">
            <a:avLst/>
          </a:prstGeom>
          <a:noFill/>
          <a:ln/>
        </p:spPr>
        <p:txBody>
          <a:bodyPr wrap="square" lIns="0" tIns="0" rIns="0" bIns="0" rtlCol="0" anchor="ctr"/>
          <a:lstStyle/>
          <a:p>
            <a:pPr indent="0" marL="0">
              <a:buNone/>
            </a:pPr>
            <a:r>
              <a:rPr lang="en-US" sz="1300" b="1" i="1" dirty="0">
                <a:solidFill>
                  <a:srgbClr val="B8893E"/>
                </a:solidFill>
                <a:latin typeface="Georgia" pitchFamily="34" charset="0"/>
                <a:ea typeface="Georgia" pitchFamily="34" charset="-122"/>
                <a:cs typeface="Georgia" pitchFamily="34" charset="-120"/>
              </a:rPr>
              <a:t>III</a:t>
            </a:r>
            <a:endParaRPr lang="en-US" sz="1300" dirty="0"/>
          </a:p>
        </p:txBody>
      </p:sp>
      <p:sp>
        <p:nvSpPr>
          <p:cNvPr id="18" name="Text 16"/>
          <p:cNvSpPr/>
          <p:nvPr/>
        </p:nvSpPr>
        <p:spPr>
          <a:xfrm>
            <a:off x="1097280" y="3364992"/>
            <a:ext cx="3657600" cy="310896"/>
          </a:xfrm>
          <a:prstGeom prst="rect">
            <a:avLst/>
          </a:prstGeom>
          <a:noFill/>
          <a:ln/>
        </p:spPr>
        <p:txBody>
          <a:bodyPr wrap="square" lIns="0" tIns="0" rIns="0" bIns="0" rtlCol="0" anchor="ctr"/>
          <a:lstStyle/>
          <a:p>
            <a:pPr indent="0" marL="0">
              <a:buNone/>
            </a:pPr>
            <a:r>
              <a:rPr lang="en-US" sz="1400" dirty="0">
                <a:solidFill>
                  <a:srgbClr val="1A1A1A"/>
                </a:solidFill>
                <a:latin typeface="Georgia" pitchFamily="34" charset="0"/>
                <a:ea typeface="Georgia" pitchFamily="34" charset="-122"/>
                <a:cs typeface="Georgia" pitchFamily="34" charset="-120"/>
              </a:rPr>
              <a:t>History</a:t>
            </a:r>
            <a:endParaRPr lang="en-US" sz="1400" dirty="0"/>
          </a:p>
        </p:txBody>
      </p:sp>
      <p:sp>
        <p:nvSpPr>
          <p:cNvPr id="19" name="Shape 17"/>
          <p:cNvSpPr/>
          <p:nvPr/>
        </p:nvSpPr>
        <p:spPr>
          <a:xfrm>
            <a:off x="1097280" y="3648456"/>
            <a:ext cx="4572000" cy="4572"/>
          </a:xfrm>
          <a:prstGeom prst="rect">
            <a:avLst/>
          </a:prstGeom>
          <a:solidFill>
            <a:srgbClr val="C9B8A0"/>
          </a:solidFill>
          <a:ln/>
        </p:spPr>
      </p:sp>
      <p:sp>
        <p:nvSpPr>
          <p:cNvPr id="20" name="Text 18"/>
          <p:cNvSpPr/>
          <p:nvPr/>
        </p:nvSpPr>
        <p:spPr>
          <a:xfrm>
            <a:off x="4754880" y="3364992"/>
            <a:ext cx="914400" cy="310896"/>
          </a:xfrm>
          <a:prstGeom prst="rect">
            <a:avLst/>
          </a:prstGeom>
          <a:noFill/>
          <a:ln/>
        </p:spPr>
        <p:txBody>
          <a:bodyPr wrap="square" lIns="0" tIns="0" rIns="0" bIns="0" rtlCol="0" anchor="ctr"/>
          <a:lstStyle/>
          <a:p>
            <a:pPr algn="r" indent="0" marL="0">
              <a:buNone/>
            </a:pPr>
            <a:r>
              <a:rPr lang="en-US" sz="1300" b="1" i="1" dirty="0">
                <a:solidFill>
                  <a:srgbClr val="6B1F2E"/>
                </a:solidFill>
                <a:latin typeface="Georgia" pitchFamily="34" charset="0"/>
                <a:ea typeface="Georgia" pitchFamily="34" charset="-122"/>
                <a:cs typeface="Georgia" pitchFamily="34" charset="-120"/>
              </a:rPr>
              <a:t>04</a:t>
            </a:r>
            <a:endParaRPr lang="en-US" sz="1300" dirty="0"/>
          </a:p>
        </p:txBody>
      </p:sp>
      <p:sp>
        <p:nvSpPr>
          <p:cNvPr id="21" name="Text 19"/>
          <p:cNvSpPr/>
          <p:nvPr/>
        </p:nvSpPr>
        <p:spPr>
          <a:xfrm>
            <a:off x="457200" y="3675888"/>
            <a:ext cx="640080" cy="310896"/>
          </a:xfrm>
          <a:prstGeom prst="rect">
            <a:avLst/>
          </a:prstGeom>
          <a:noFill/>
          <a:ln/>
        </p:spPr>
        <p:txBody>
          <a:bodyPr wrap="square" lIns="0" tIns="0" rIns="0" bIns="0" rtlCol="0" anchor="ctr"/>
          <a:lstStyle/>
          <a:p>
            <a:pPr indent="0" marL="0">
              <a:buNone/>
            </a:pPr>
            <a:r>
              <a:rPr lang="en-US" sz="1300" b="1" i="1" dirty="0">
                <a:solidFill>
                  <a:srgbClr val="B8893E"/>
                </a:solidFill>
                <a:latin typeface="Georgia" pitchFamily="34" charset="0"/>
                <a:ea typeface="Georgia" pitchFamily="34" charset="-122"/>
                <a:cs typeface="Georgia" pitchFamily="34" charset="-120"/>
              </a:rPr>
              <a:t>IV</a:t>
            </a:r>
            <a:endParaRPr lang="en-US" sz="1300" dirty="0"/>
          </a:p>
        </p:txBody>
      </p:sp>
      <p:sp>
        <p:nvSpPr>
          <p:cNvPr id="22" name="Text 20"/>
          <p:cNvSpPr/>
          <p:nvPr/>
        </p:nvSpPr>
        <p:spPr>
          <a:xfrm>
            <a:off x="1097280" y="3675888"/>
            <a:ext cx="3657600" cy="310896"/>
          </a:xfrm>
          <a:prstGeom prst="rect">
            <a:avLst/>
          </a:prstGeom>
          <a:noFill/>
          <a:ln/>
        </p:spPr>
        <p:txBody>
          <a:bodyPr wrap="square" lIns="0" tIns="0" rIns="0" bIns="0" rtlCol="0" anchor="ctr"/>
          <a:lstStyle/>
          <a:p>
            <a:pPr indent="0" marL="0">
              <a:buNone/>
            </a:pPr>
            <a:r>
              <a:rPr lang="en-US" sz="1400" dirty="0">
                <a:solidFill>
                  <a:srgbClr val="1A1A1A"/>
                </a:solidFill>
                <a:latin typeface="Georgia" pitchFamily="34" charset="0"/>
                <a:ea typeface="Georgia" pitchFamily="34" charset="-122"/>
                <a:cs typeface="Georgia" pitchFamily="34" charset="-120"/>
              </a:rPr>
              <a:t>General Examination</a:t>
            </a:r>
            <a:endParaRPr lang="en-US" sz="1400" dirty="0"/>
          </a:p>
        </p:txBody>
      </p:sp>
      <p:sp>
        <p:nvSpPr>
          <p:cNvPr id="23" name="Shape 21"/>
          <p:cNvSpPr/>
          <p:nvPr/>
        </p:nvSpPr>
        <p:spPr>
          <a:xfrm>
            <a:off x="1097280" y="3959352"/>
            <a:ext cx="4572000" cy="4572"/>
          </a:xfrm>
          <a:prstGeom prst="rect">
            <a:avLst/>
          </a:prstGeom>
          <a:solidFill>
            <a:srgbClr val="C9B8A0"/>
          </a:solidFill>
          <a:ln/>
        </p:spPr>
      </p:sp>
      <p:sp>
        <p:nvSpPr>
          <p:cNvPr id="24" name="Text 22"/>
          <p:cNvSpPr/>
          <p:nvPr/>
        </p:nvSpPr>
        <p:spPr>
          <a:xfrm>
            <a:off x="4754880" y="3675888"/>
            <a:ext cx="914400" cy="310896"/>
          </a:xfrm>
          <a:prstGeom prst="rect">
            <a:avLst/>
          </a:prstGeom>
          <a:noFill/>
          <a:ln/>
        </p:spPr>
        <p:txBody>
          <a:bodyPr wrap="square" lIns="0" tIns="0" rIns="0" bIns="0" rtlCol="0" anchor="ctr"/>
          <a:lstStyle/>
          <a:p>
            <a:pPr algn="r" indent="0" marL="0">
              <a:buNone/>
            </a:pPr>
            <a:r>
              <a:rPr lang="en-US" sz="1300" b="1" i="1" dirty="0">
                <a:solidFill>
                  <a:srgbClr val="6B1F2E"/>
                </a:solidFill>
                <a:latin typeface="Georgia" pitchFamily="34" charset="0"/>
                <a:ea typeface="Georgia" pitchFamily="34" charset="-122"/>
                <a:cs typeface="Georgia" pitchFamily="34" charset="-120"/>
              </a:rPr>
              <a:t>05</a:t>
            </a:r>
            <a:endParaRPr lang="en-US" sz="1300" dirty="0"/>
          </a:p>
        </p:txBody>
      </p:sp>
      <p:sp>
        <p:nvSpPr>
          <p:cNvPr id="25" name="Text 23"/>
          <p:cNvSpPr/>
          <p:nvPr/>
        </p:nvSpPr>
        <p:spPr>
          <a:xfrm>
            <a:off x="457200" y="3986784"/>
            <a:ext cx="640080" cy="310896"/>
          </a:xfrm>
          <a:prstGeom prst="rect">
            <a:avLst/>
          </a:prstGeom>
          <a:noFill/>
          <a:ln/>
        </p:spPr>
        <p:txBody>
          <a:bodyPr wrap="square" lIns="0" tIns="0" rIns="0" bIns="0" rtlCol="0" anchor="ctr"/>
          <a:lstStyle/>
          <a:p>
            <a:pPr indent="0" marL="0">
              <a:buNone/>
            </a:pPr>
            <a:r>
              <a:rPr lang="en-US" sz="1300" b="1" i="1" dirty="0">
                <a:solidFill>
                  <a:srgbClr val="B8893E"/>
                </a:solidFill>
                <a:latin typeface="Georgia" pitchFamily="34" charset="0"/>
                <a:ea typeface="Georgia" pitchFamily="34" charset="-122"/>
                <a:cs typeface="Georgia" pitchFamily="34" charset="-120"/>
              </a:rPr>
              <a:t>V</a:t>
            </a:r>
            <a:endParaRPr lang="en-US" sz="1300" dirty="0"/>
          </a:p>
        </p:txBody>
      </p:sp>
      <p:sp>
        <p:nvSpPr>
          <p:cNvPr id="26" name="Text 24"/>
          <p:cNvSpPr/>
          <p:nvPr/>
        </p:nvSpPr>
        <p:spPr>
          <a:xfrm>
            <a:off x="1097280" y="3986784"/>
            <a:ext cx="3657600" cy="310896"/>
          </a:xfrm>
          <a:prstGeom prst="rect">
            <a:avLst/>
          </a:prstGeom>
          <a:noFill/>
          <a:ln/>
        </p:spPr>
        <p:txBody>
          <a:bodyPr wrap="square" lIns="0" tIns="0" rIns="0" bIns="0" rtlCol="0" anchor="ctr"/>
          <a:lstStyle/>
          <a:p>
            <a:pPr indent="0" marL="0">
              <a:buNone/>
            </a:pPr>
            <a:r>
              <a:rPr lang="en-US" sz="1400" dirty="0">
                <a:solidFill>
                  <a:srgbClr val="1A1A1A"/>
                </a:solidFill>
                <a:latin typeface="Georgia" pitchFamily="34" charset="0"/>
                <a:ea typeface="Georgia" pitchFamily="34" charset="-122"/>
                <a:cs typeface="Georgia" pitchFamily="34" charset="-120"/>
              </a:rPr>
              <a:t>Extra-Oral Findings</a:t>
            </a:r>
            <a:endParaRPr lang="en-US" sz="1400" dirty="0"/>
          </a:p>
        </p:txBody>
      </p:sp>
      <p:sp>
        <p:nvSpPr>
          <p:cNvPr id="27" name="Shape 25"/>
          <p:cNvSpPr/>
          <p:nvPr/>
        </p:nvSpPr>
        <p:spPr>
          <a:xfrm>
            <a:off x="1097280" y="4270248"/>
            <a:ext cx="4572000" cy="4572"/>
          </a:xfrm>
          <a:prstGeom prst="rect">
            <a:avLst/>
          </a:prstGeom>
          <a:solidFill>
            <a:srgbClr val="C9B8A0"/>
          </a:solidFill>
          <a:ln/>
        </p:spPr>
      </p:sp>
      <p:sp>
        <p:nvSpPr>
          <p:cNvPr id="28" name="Text 26"/>
          <p:cNvSpPr/>
          <p:nvPr/>
        </p:nvSpPr>
        <p:spPr>
          <a:xfrm>
            <a:off x="4754880" y="3986784"/>
            <a:ext cx="914400" cy="310896"/>
          </a:xfrm>
          <a:prstGeom prst="rect">
            <a:avLst/>
          </a:prstGeom>
          <a:noFill/>
          <a:ln/>
        </p:spPr>
        <p:txBody>
          <a:bodyPr wrap="square" lIns="0" tIns="0" rIns="0" bIns="0" rtlCol="0" anchor="ctr"/>
          <a:lstStyle/>
          <a:p>
            <a:pPr algn="r" indent="0" marL="0">
              <a:buNone/>
            </a:pPr>
            <a:r>
              <a:rPr lang="en-US" sz="1300" b="1" i="1" dirty="0">
                <a:solidFill>
                  <a:srgbClr val="6B1F2E"/>
                </a:solidFill>
                <a:latin typeface="Georgia" pitchFamily="34" charset="0"/>
                <a:ea typeface="Georgia" pitchFamily="34" charset="-122"/>
                <a:cs typeface="Georgia" pitchFamily="34" charset="-120"/>
              </a:rPr>
              <a:t>06</a:t>
            </a:r>
            <a:endParaRPr lang="en-US" sz="1300" dirty="0"/>
          </a:p>
        </p:txBody>
      </p:sp>
      <p:sp>
        <p:nvSpPr>
          <p:cNvPr id="29" name="Text 27"/>
          <p:cNvSpPr/>
          <p:nvPr/>
        </p:nvSpPr>
        <p:spPr>
          <a:xfrm>
            <a:off x="457200" y="4297680"/>
            <a:ext cx="640080" cy="310896"/>
          </a:xfrm>
          <a:prstGeom prst="rect">
            <a:avLst/>
          </a:prstGeom>
          <a:noFill/>
          <a:ln/>
        </p:spPr>
        <p:txBody>
          <a:bodyPr wrap="square" lIns="0" tIns="0" rIns="0" bIns="0" rtlCol="0" anchor="ctr"/>
          <a:lstStyle/>
          <a:p>
            <a:pPr indent="0" marL="0">
              <a:buNone/>
            </a:pPr>
            <a:r>
              <a:rPr lang="en-US" sz="1300" b="1" i="1" dirty="0">
                <a:solidFill>
                  <a:srgbClr val="B8893E"/>
                </a:solidFill>
                <a:latin typeface="Georgia" pitchFamily="34" charset="0"/>
                <a:ea typeface="Georgia" pitchFamily="34" charset="-122"/>
                <a:cs typeface="Georgia" pitchFamily="34" charset="-120"/>
              </a:rPr>
              <a:t>VI</a:t>
            </a:r>
            <a:endParaRPr lang="en-US" sz="1300" dirty="0"/>
          </a:p>
        </p:txBody>
      </p:sp>
      <p:sp>
        <p:nvSpPr>
          <p:cNvPr id="30" name="Text 28"/>
          <p:cNvSpPr/>
          <p:nvPr/>
        </p:nvSpPr>
        <p:spPr>
          <a:xfrm>
            <a:off x="1097280" y="4297680"/>
            <a:ext cx="3657600" cy="310896"/>
          </a:xfrm>
          <a:prstGeom prst="rect">
            <a:avLst/>
          </a:prstGeom>
          <a:noFill/>
          <a:ln/>
        </p:spPr>
        <p:txBody>
          <a:bodyPr wrap="square" lIns="0" tIns="0" rIns="0" bIns="0" rtlCol="0" anchor="ctr"/>
          <a:lstStyle/>
          <a:p>
            <a:pPr indent="0" marL="0">
              <a:buNone/>
            </a:pPr>
            <a:r>
              <a:rPr lang="en-US" sz="1400" dirty="0">
                <a:solidFill>
                  <a:srgbClr val="1A1A1A"/>
                </a:solidFill>
                <a:latin typeface="Georgia" pitchFamily="34" charset="0"/>
                <a:ea typeface="Georgia" pitchFamily="34" charset="-122"/>
                <a:cs typeface="Georgia" pitchFamily="34" charset="-120"/>
              </a:rPr>
              <a:t>Intra-Oral Examination</a:t>
            </a:r>
            <a:endParaRPr lang="en-US" sz="1400" dirty="0"/>
          </a:p>
        </p:txBody>
      </p:sp>
      <p:sp>
        <p:nvSpPr>
          <p:cNvPr id="31" name="Shape 29"/>
          <p:cNvSpPr/>
          <p:nvPr/>
        </p:nvSpPr>
        <p:spPr>
          <a:xfrm>
            <a:off x="1097280" y="4581144"/>
            <a:ext cx="4572000" cy="4572"/>
          </a:xfrm>
          <a:prstGeom prst="rect">
            <a:avLst/>
          </a:prstGeom>
          <a:solidFill>
            <a:srgbClr val="C9B8A0"/>
          </a:solidFill>
          <a:ln/>
        </p:spPr>
      </p:sp>
      <p:sp>
        <p:nvSpPr>
          <p:cNvPr id="32" name="Text 30"/>
          <p:cNvSpPr/>
          <p:nvPr/>
        </p:nvSpPr>
        <p:spPr>
          <a:xfrm>
            <a:off x="4754880" y="4297680"/>
            <a:ext cx="914400" cy="310896"/>
          </a:xfrm>
          <a:prstGeom prst="rect">
            <a:avLst/>
          </a:prstGeom>
          <a:noFill/>
          <a:ln/>
        </p:spPr>
        <p:txBody>
          <a:bodyPr wrap="square" lIns="0" tIns="0" rIns="0" bIns="0" rtlCol="0" anchor="ctr"/>
          <a:lstStyle/>
          <a:p>
            <a:pPr algn="r" indent="0" marL="0">
              <a:buNone/>
            </a:pPr>
            <a:r>
              <a:rPr lang="en-US" sz="1300" b="1" i="1" dirty="0">
                <a:solidFill>
                  <a:srgbClr val="6B1F2E"/>
                </a:solidFill>
                <a:latin typeface="Georgia" pitchFamily="34" charset="0"/>
                <a:ea typeface="Georgia" pitchFamily="34" charset="-122"/>
                <a:cs typeface="Georgia" pitchFamily="34" charset="-120"/>
              </a:rPr>
              <a:t>07</a:t>
            </a:r>
            <a:endParaRPr lang="en-US" sz="1300" dirty="0"/>
          </a:p>
        </p:txBody>
      </p:sp>
      <p:sp>
        <p:nvSpPr>
          <p:cNvPr id="33" name="Text 31"/>
          <p:cNvSpPr/>
          <p:nvPr/>
        </p:nvSpPr>
        <p:spPr>
          <a:xfrm>
            <a:off x="6309360" y="2743200"/>
            <a:ext cx="640080" cy="310896"/>
          </a:xfrm>
          <a:prstGeom prst="rect">
            <a:avLst/>
          </a:prstGeom>
          <a:noFill/>
          <a:ln/>
        </p:spPr>
        <p:txBody>
          <a:bodyPr wrap="square" lIns="0" tIns="0" rIns="0" bIns="0" rtlCol="0" anchor="ctr"/>
          <a:lstStyle/>
          <a:p>
            <a:pPr indent="0" marL="0">
              <a:buNone/>
            </a:pPr>
            <a:r>
              <a:rPr lang="en-US" sz="1300" b="1" i="1" dirty="0">
                <a:solidFill>
                  <a:srgbClr val="B8893E"/>
                </a:solidFill>
                <a:latin typeface="Georgia" pitchFamily="34" charset="0"/>
                <a:ea typeface="Georgia" pitchFamily="34" charset="-122"/>
                <a:cs typeface="Georgia" pitchFamily="34" charset="-120"/>
              </a:rPr>
              <a:t>VII</a:t>
            </a:r>
            <a:endParaRPr lang="en-US" sz="1300" dirty="0"/>
          </a:p>
        </p:txBody>
      </p:sp>
      <p:sp>
        <p:nvSpPr>
          <p:cNvPr id="34" name="Text 32"/>
          <p:cNvSpPr/>
          <p:nvPr/>
        </p:nvSpPr>
        <p:spPr>
          <a:xfrm>
            <a:off x="6949440" y="2743200"/>
            <a:ext cx="3657600" cy="310896"/>
          </a:xfrm>
          <a:prstGeom prst="rect">
            <a:avLst/>
          </a:prstGeom>
          <a:noFill/>
          <a:ln/>
        </p:spPr>
        <p:txBody>
          <a:bodyPr wrap="square" lIns="0" tIns="0" rIns="0" bIns="0" rtlCol="0" anchor="ctr"/>
          <a:lstStyle/>
          <a:p>
            <a:pPr indent="0" marL="0">
              <a:buNone/>
            </a:pPr>
            <a:r>
              <a:rPr lang="en-US" sz="1400" dirty="0">
                <a:solidFill>
                  <a:srgbClr val="1A1A1A"/>
                </a:solidFill>
                <a:latin typeface="Georgia" pitchFamily="34" charset="0"/>
                <a:ea typeface="Georgia" pitchFamily="34" charset="-122"/>
                <a:cs typeface="Georgia" pitchFamily="34" charset="-120"/>
              </a:rPr>
              <a:t>Dental Chart</a:t>
            </a:r>
            <a:endParaRPr lang="en-US" sz="1400" dirty="0"/>
          </a:p>
        </p:txBody>
      </p:sp>
      <p:sp>
        <p:nvSpPr>
          <p:cNvPr id="35" name="Shape 33"/>
          <p:cNvSpPr/>
          <p:nvPr/>
        </p:nvSpPr>
        <p:spPr>
          <a:xfrm>
            <a:off x="6949440" y="3026664"/>
            <a:ext cx="4572000" cy="4572"/>
          </a:xfrm>
          <a:prstGeom prst="rect">
            <a:avLst/>
          </a:prstGeom>
          <a:solidFill>
            <a:srgbClr val="C9B8A0"/>
          </a:solidFill>
          <a:ln/>
        </p:spPr>
      </p:sp>
      <p:sp>
        <p:nvSpPr>
          <p:cNvPr id="36" name="Text 34"/>
          <p:cNvSpPr/>
          <p:nvPr/>
        </p:nvSpPr>
        <p:spPr>
          <a:xfrm>
            <a:off x="10607040" y="2743200"/>
            <a:ext cx="914400" cy="310896"/>
          </a:xfrm>
          <a:prstGeom prst="rect">
            <a:avLst/>
          </a:prstGeom>
          <a:noFill/>
          <a:ln/>
        </p:spPr>
        <p:txBody>
          <a:bodyPr wrap="square" lIns="0" tIns="0" rIns="0" bIns="0" rtlCol="0" anchor="ctr"/>
          <a:lstStyle/>
          <a:p>
            <a:pPr algn="r" indent="0" marL="0">
              <a:buNone/>
            </a:pPr>
            <a:r>
              <a:rPr lang="en-US" sz="1300" b="1" i="1" dirty="0">
                <a:solidFill>
                  <a:srgbClr val="6B1F2E"/>
                </a:solidFill>
                <a:latin typeface="Georgia" pitchFamily="34" charset="0"/>
                <a:ea typeface="Georgia" pitchFamily="34" charset="-122"/>
                <a:cs typeface="Georgia" pitchFamily="34" charset="-120"/>
              </a:rPr>
              <a:t>08</a:t>
            </a:r>
            <a:endParaRPr lang="en-US" sz="1300" dirty="0"/>
          </a:p>
        </p:txBody>
      </p:sp>
      <p:sp>
        <p:nvSpPr>
          <p:cNvPr id="37" name="Text 35"/>
          <p:cNvSpPr/>
          <p:nvPr/>
        </p:nvSpPr>
        <p:spPr>
          <a:xfrm>
            <a:off x="6309360" y="3054096"/>
            <a:ext cx="640080" cy="310896"/>
          </a:xfrm>
          <a:prstGeom prst="rect">
            <a:avLst/>
          </a:prstGeom>
          <a:noFill/>
          <a:ln/>
        </p:spPr>
        <p:txBody>
          <a:bodyPr wrap="square" lIns="0" tIns="0" rIns="0" bIns="0" rtlCol="0" anchor="ctr"/>
          <a:lstStyle/>
          <a:p>
            <a:pPr indent="0" marL="0">
              <a:buNone/>
            </a:pPr>
            <a:r>
              <a:rPr lang="en-US" sz="1300" b="1" i="1" dirty="0">
                <a:solidFill>
                  <a:srgbClr val="B8893E"/>
                </a:solidFill>
                <a:latin typeface="Georgia" pitchFamily="34" charset="0"/>
                <a:ea typeface="Georgia" pitchFamily="34" charset="-122"/>
                <a:cs typeface="Georgia" pitchFamily="34" charset="-120"/>
              </a:rPr>
              <a:t>VIII</a:t>
            </a:r>
            <a:endParaRPr lang="en-US" sz="1300" dirty="0"/>
          </a:p>
        </p:txBody>
      </p:sp>
      <p:sp>
        <p:nvSpPr>
          <p:cNvPr id="38" name="Text 36"/>
          <p:cNvSpPr/>
          <p:nvPr/>
        </p:nvSpPr>
        <p:spPr>
          <a:xfrm>
            <a:off x="6949440" y="3054096"/>
            <a:ext cx="3657600" cy="310896"/>
          </a:xfrm>
          <a:prstGeom prst="rect">
            <a:avLst/>
          </a:prstGeom>
          <a:noFill/>
          <a:ln/>
        </p:spPr>
        <p:txBody>
          <a:bodyPr wrap="square" lIns="0" tIns="0" rIns="0" bIns="0" rtlCol="0" anchor="ctr"/>
          <a:lstStyle/>
          <a:p>
            <a:pPr indent="0" marL="0">
              <a:buNone/>
            </a:pPr>
            <a:r>
              <a:rPr lang="en-US" sz="1400" dirty="0">
                <a:solidFill>
                  <a:srgbClr val="1A1A1A"/>
                </a:solidFill>
                <a:latin typeface="Georgia" pitchFamily="34" charset="0"/>
                <a:ea typeface="Georgia" pitchFamily="34" charset="-122"/>
                <a:cs typeface="Georgia" pitchFamily="34" charset="-120"/>
              </a:rPr>
              <a:t>Diagnosis</a:t>
            </a:r>
            <a:endParaRPr lang="en-US" sz="1400" dirty="0"/>
          </a:p>
        </p:txBody>
      </p:sp>
      <p:sp>
        <p:nvSpPr>
          <p:cNvPr id="39" name="Shape 37"/>
          <p:cNvSpPr/>
          <p:nvPr/>
        </p:nvSpPr>
        <p:spPr>
          <a:xfrm>
            <a:off x="6949440" y="3337560"/>
            <a:ext cx="4572000" cy="4572"/>
          </a:xfrm>
          <a:prstGeom prst="rect">
            <a:avLst/>
          </a:prstGeom>
          <a:solidFill>
            <a:srgbClr val="C9B8A0"/>
          </a:solidFill>
          <a:ln/>
        </p:spPr>
      </p:sp>
      <p:sp>
        <p:nvSpPr>
          <p:cNvPr id="40" name="Text 38"/>
          <p:cNvSpPr/>
          <p:nvPr/>
        </p:nvSpPr>
        <p:spPr>
          <a:xfrm>
            <a:off x="10607040" y="3054096"/>
            <a:ext cx="914400" cy="310896"/>
          </a:xfrm>
          <a:prstGeom prst="rect">
            <a:avLst/>
          </a:prstGeom>
          <a:noFill/>
          <a:ln/>
        </p:spPr>
        <p:txBody>
          <a:bodyPr wrap="square" lIns="0" tIns="0" rIns="0" bIns="0" rtlCol="0" anchor="ctr"/>
          <a:lstStyle/>
          <a:p>
            <a:pPr algn="r" indent="0" marL="0">
              <a:buNone/>
            </a:pPr>
            <a:r>
              <a:rPr lang="en-US" sz="1300" b="1" i="1" dirty="0">
                <a:solidFill>
                  <a:srgbClr val="6B1F2E"/>
                </a:solidFill>
                <a:latin typeface="Georgia" pitchFamily="34" charset="0"/>
                <a:ea typeface="Georgia" pitchFamily="34" charset="-122"/>
                <a:cs typeface="Georgia" pitchFamily="34" charset="-120"/>
              </a:rPr>
              <a:t>09</a:t>
            </a:r>
            <a:endParaRPr lang="en-US" sz="1300" dirty="0"/>
          </a:p>
        </p:txBody>
      </p:sp>
      <p:sp>
        <p:nvSpPr>
          <p:cNvPr id="41" name="Text 39"/>
          <p:cNvSpPr/>
          <p:nvPr/>
        </p:nvSpPr>
        <p:spPr>
          <a:xfrm>
            <a:off x="6309360" y="3364992"/>
            <a:ext cx="640080" cy="310896"/>
          </a:xfrm>
          <a:prstGeom prst="rect">
            <a:avLst/>
          </a:prstGeom>
          <a:noFill/>
          <a:ln/>
        </p:spPr>
        <p:txBody>
          <a:bodyPr wrap="square" lIns="0" tIns="0" rIns="0" bIns="0" rtlCol="0" anchor="ctr"/>
          <a:lstStyle/>
          <a:p>
            <a:pPr indent="0" marL="0">
              <a:buNone/>
            </a:pPr>
            <a:r>
              <a:rPr lang="en-US" sz="1300" b="1" i="1" dirty="0">
                <a:solidFill>
                  <a:srgbClr val="B8893E"/>
                </a:solidFill>
                <a:latin typeface="Georgia" pitchFamily="34" charset="0"/>
                <a:ea typeface="Georgia" pitchFamily="34" charset="-122"/>
                <a:cs typeface="Georgia" pitchFamily="34" charset="-120"/>
              </a:rPr>
              <a:t>IX</a:t>
            </a:r>
            <a:endParaRPr lang="en-US" sz="1300" dirty="0"/>
          </a:p>
        </p:txBody>
      </p:sp>
      <p:sp>
        <p:nvSpPr>
          <p:cNvPr id="42" name="Text 40"/>
          <p:cNvSpPr/>
          <p:nvPr/>
        </p:nvSpPr>
        <p:spPr>
          <a:xfrm>
            <a:off x="6949440" y="3364992"/>
            <a:ext cx="3657600" cy="310896"/>
          </a:xfrm>
          <a:prstGeom prst="rect">
            <a:avLst/>
          </a:prstGeom>
          <a:noFill/>
          <a:ln/>
        </p:spPr>
        <p:txBody>
          <a:bodyPr wrap="square" lIns="0" tIns="0" rIns="0" bIns="0" rtlCol="0" anchor="ctr"/>
          <a:lstStyle/>
          <a:p>
            <a:pPr indent="0" marL="0">
              <a:buNone/>
            </a:pPr>
            <a:r>
              <a:rPr lang="en-US" sz="1400" dirty="0">
                <a:solidFill>
                  <a:srgbClr val="1A1A1A"/>
                </a:solidFill>
                <a:latin typeface="Georgia" pitchFamily="34" charset="0"/>
                <a:ea typeface="Georgia" pitchFamily="34" charset="-122"/>
                <a:cs typeface="Georgia" pitchFamily="34" charset="-120"/>
              </a:rPr>
              <a:t>Investigations</a:t>
            </a:r>
            <a:endParaRPr lang="en-US" sz="1400" dirty="0"/>
          </a:p>
        </p:txBody>
      </p:sp>
      <p:sp>
        <p:nvSpPr>
          <p:cNvPr id="43" name="Shape 41"/>
          <p:cNvSpPr/>
          <p:nvPr/>
        </p:nvSpPr>
        <p:spPr>
          <a:xfrm>
            <a:off x="6949440" y="3648456"/>
            <a:ext cx="4572000" cy="4572"/>
          </a:xfrm>
          <a:prstGeom prst="rect">
            <a:avLst/>
          </a:prstGeom>
          <a:solidFill>
            <a:srgbClr val="C9B8A0"/>
          </a:solidFill>
          <a:ln/>
        </p:spPr>
      </p:sp>
      <p:sp>
        <p:nvSpPr>
          <p:cNvPr id="44" name="Text 42"/>
          <p:cNvSpPr/>
          <p:nvPr/>
        </p:nvSpPr>
        <p:spPr>
          <a:xfrm>
            <a:off x="10607040" y="3364992"/>
            <a:ext cx="914400" cy="310896"/>
          </a:xfrm>
          <a:prstGeom prst="rect">
            <a:avLst/>
          </a:prstGeom>
          <a:noFill/>
          <a:ln/>
        </p:spPr>
        <p:txBody>
          <a:bodyPr wrap="square" lIns="0" tIns="0" rIns="0" bIns="0" rtlCol="0" anchor="ctr"/>
          <a:lstStyle/>
          <a:p>
            <a:pPr algn="r" indent="0" marL="0">
              <a:buNone/>
            </a:pPr>
            <a:r>
              <a:rPr lang="en-US" sz="1300" b="1" i="1" dirty="0">
                <a:solidFill>
                  <a:srgbClr val="6B1F2E"/>
                </a:solidFill>
                <a:latin typeface="Georgia" pitchFamily="34" charset="0"/>
                <a:ea typeface="Georgia" pitchFamily="34" charset="-122"/>
                <a:cs typeface="Georgia" pitchFamily="34" charset="-120"/>
              </a:rPr>
              <a:t>10</a:t>
            </a:r>
            <a:endParaRPr lang="en-US" sz="1300" dirty="0"/>
          </a:p>
        </p:txBody>
      </p:sp>
      <p:sp>
        <p:nvSpPr>
          <p:cNvPr id="45" name="Text 43"/>
          <p:cNvSpPr/>
          <p:nvPr/>
        </p:nvSpPr>
        <p:spPr>
          <a:xfrm>
            <a:off x="6309360" y="3675888"/>
            <a:ext cx="640080" cy="310896"/>
          </a:xfrm>
          <a:prstGeom prst="rect">
            <a:avLst/>
          </a:prstGeom>
          <a:noFill/>
          <a:ln/>
        </p:spPr>
        <p:txBody>
          <a:bodyPr wrap="square" lIns="0" tIns="0" rIns="0" bIns="0" rtlCol="0" anchor="ctr"/>
          <a:lstStyle/>
          <a:p>
            <a:pPr indent="0" marL="0">
              <a:buNone/>
            </a:pPr>
            <a:r>
              <a:rPr lang="en-US" sz="1300" b="1" i="1" dirty="0">
                <a:solidFill>
                  <a:srgbClr val="B8893E"/>
                </a:solidFill>
                <a:latin typeface="Georgia" pitchFamily="34" charset="0"/>
                <a:ea typeface="Georgia" pitchFamily="34" charset="-122"/>
                <a:cs typeface="Georgia" pitchFamily="34" charset="-120"/>
              </a:rPr>
              <a:t>X</a:t>
            </a:r>
            <a:endParaRPr lang="en-US" sz="1300" dirty="0"/>
          </a:p>
        </p:txBody>
      </p:sp>
      <p:sp>
        <p:nvSpPr>
          <p:cNvPr id="46" name="Text 44"/>
          <p:cNvSpPr/>
          <p:nvPr/>
        </p:nvSpPr>
        <p:spPr>
          <a:xfrm>
            <a:off x="6949440" y="3675888"/>
            <a:ext cx="3657600" cy="310896"/>
          </a:xfrm>
          <a:prstGeom prst="rect">
            <a:avLst/>
          </a:prstGeom>
          <a:noFill/>
          <a:ln/>
        </p:spPr>
        <p:txBody>
          <a:bodyPr wrap="square" lIns="0" tIns="0" rIns="0" bIns="0" rtlCol="0" anchor="ctr"/>
          <a:lstStyle/>
          <a:p>
            <a:pPr indent="0" marL="0">
              <a:buNone/>
            </a:pPr>
            <a:r>
              <a:rPr lang="en-US" sz="1400" dirty="0">
                <a:solidFill>
                  <a:srgbClr val="1A1A1A"/>
                </a:solidFill>
                <a:latin typeface="Georgia" pitchFamily="34" charset="0"/>
                <a:ea typeface="Georgia" pitchFamily="34" charset="-122"/>
                <a:cs typeface="Georgia" pitchFamily="34" charset="-120"/>
              </a:rPr>
              <a:t>Radiographic Evidence</a:t>
            </a:r>
            <a:endParaRPr lang="en-US" sz="1400" dirty="0"/>
          </a:p>
        </p:txBody>
      </p:sp>
      <p:sp>
        <p:nvSpPr>
          <p:cNvPr id="47" name="Shape 45"/>
          <p:cNvSpPr/>
          <p:nvPr/>
        </p:nvSpPr>
        <p:spPr>
          <a:xfrm>
            <a:off x="6949440" y="3959352"/>
            <a:ext cx="4572000" cy="4572"/>
          </a:xfrm>
          <a:prstGeom prst="rect">
            <a:avLst/>
          </a:prstGeom>
          <a:solidFill>
            <a:srgbClr val="C9B8A0"/>
          </a:solidFill>
          <a:ln/>
        </p:spPr>
      </p:sp>
      <p:sp>
        <p:nvSpPr>
          <p:cNvPr id="48" name="Text 46"/>
          <p:cNvSpPr/>
          <p:nvPr/>
        </p:nvSpPr>
        <p:spPr>
          <a:xfrm>
            <a:off x="10607040" y="3675888"/>
            <a:ext cx="914400" cy="310896"/>
          </a:xfrm>
          <a:prstGeom prst="rect">
            <a:avLst/>
          </a:prstGeom>
          <a:noFill/>
          <a:ln/>
        </p:spPr>
        <p:txBody>
          <a:bodyPr wrap="square" lIns="0" tIns="0" rIns="0" bIns="0" rtlCol="0" anchor="ctr"/>
          <a:lstStyle/>
          <a:p>
            <a:pPr algn="r" indent="0" marL="0">
              <a:buNone/>
            </a:pPr>
            <a:r>
              <a:rPr lang="en-US" sz="1300" b="1" i="1" dirty="0">
                <a:solidFill>
                  <a:srgbClr val="6B1F2E"/>
                </a:solidFill>
                <a:latin typeface="Georgia" pitchFamily="34" charset="0"/>
                <a:ea typeface="Georgia" pitchFamily="34" charset="-122"/>
                <a:cs typeface="Georgia" pitchFamily="34" charset="-120"/>
              </a:rPr>
              <a:t>11</a:t>
            </a:r>
            <a:endParaRPr lang="en-US" sz="1300" dirty="0"/>
          </a:p>
        </p:txBody>
      </p:sp>
      <p:sp>
        <p:nvSpPr>
          <p:cNvPr id="49" name="Text 47"/>
          <p:cNvSpPr/>
          <p:nvPr/>
        </p:nvSpPr>
        <p:spPr>
          <a:xfrm>
            <a:off x="6309360" y="3986784"/>
            <a:ext cx="640080" cy="310896"/>
          </a:xfrm>
          <a:prstGeom prst="rect">
            <a:avLst/>
          </a:prstGeom>
          <a:noFill/>
          <a:ln/>
        </p:spPr>
        <p:txBody>
          <a:bodyPr wrap="square" lIns="0" tIns="0" rIns="0" bIns="0" rtlCol="0" anchor="ctr"/>
          <a:lstStyle/>
          <a:p>
            <a:pPr indent="0" marL="0">
              <a:buNone/>
            </a:pPr>
            <a:r>
              <a:rPr lang="en-US" sz="1300" b="1" i="1" dirty="0">
                <a:solidFill>
                  <a:srgbClr val="B8893E"/>
                </a:solidFill>
                <a:latin typeface="Georgia" pitchFamily="34" charset="0"/>
                <a:ea typeface="Georgia" pitchFamily="34" charset="-122"/>
                <a:cs typeface="Georgia" pitchFamily="34" charset="-120"/>
              </a:rPr>
              <a:t>XI</a:t>
            </a:r>
            <a:endParaRPr lang="en-US" sz="1300" dirty="0"/>
          </a:p>
        </p:txBody>
      </p:sp>
      <p:sp>
        <p:nvSpPr>
          <p:cNvPr id="50" name="Text 48"/>
          <p:cNvSpPr/>
          <p:nvPr/>
        </p:nvSpPr>
        <p:spPr>
          <a:xfrm>
            <a:off x="6949440" y="3986784"/>
            <a:ext cx="3657600" cy="310896"/>
          </a:xfrm>
          <a:prstGeom prst="rect">
            <a:avLst/>
          </a:prstGeom>
          <a:noFill/>
          <a:ln/>
        </p:spPr>
        <p:txBody>
          <a:bodyPr wrap="square" lIns="0" tIns="0" rIns="0" bIns="0" rtlCol="0" anchor="ctr"/>
          <a:lstStyle/>
          <a:p>
            <a:pPr indent="0" marL="0">
              <a:buNone/>
            </a:pPr>
            <a:r>
              <a:rPr lang="en-US" sz="1400" dirty="0">
                <a:solidFill>
                  <a:srgbClr val="1A1A1A"/>
                </a:solidFill>
                <a:latin typeface="Georgia" pitchFamily="34" charset="0"/>
                <a:ea typeface="Georgia" pitchFamily="34" charset="-122"/>
                <a:cs typeface="Georgia" pitchFamily="34" charset="-120"/>
              </a:rPr>
              <a:t>Final Diagnosis</a:t>
            </a:r>
            <a:endParaRPr lang="en-US" sz="1400" dirty="0"/>
          </a:p>
        </p:txBody>
      </p:sp>
      <p:sp>
        <p:nvSpPr>
          <p:cNvPr id="51" name="Shape 49"/>
          <p:cNvSpPr/>
          <p:nvPr/>
        </p:nvSpPr>
        <p:spPr>
          <a:xfrm>
            <a:off x="6949440" y="4270248"/>
            <a:ext cx="4572000" cy="4572"/>
          </a:xfrm>
          <a:prstGeom prst="rect">
            <a:avLst/>
          </a:prstGeom>
          <a:solidFill>
            <a:srgbClr val="C9B8A0"/>
          </a:solidFill>
          <a:ln/>
        </p:spPr>
      </p:sp>
      <p:sp>
        <p:nvSpPr>
          <p:cNvPr id="52" name="Text 50"/>
          <p:cNvSpPr/>
          <p:nvPr/>
        </p:nvSpPr>
        <p:spPr>
          <a:xfrm>
            <a:off x="10607040" y="3986784"/>
            <a:ext cx="914400" cy="310896"/>
          </a:xfrm>
          <a:prstGeom prst="rect">
            <a:avLst/>
          </a:prstGeom>
          <a:noFill/>
          <a:ln/>
        </p:spPr>
        <p:txBody>
          <a:bodyPr wrap="square" lIns="0" tIns="0" rIns="0" bIns="0" rtlCol="0" anchor="ctr"/>
          <a:lstStyle/>
          <a:p>
            <a:pPr algn="r" indent="0" marL="0">
              <a:buNone/>
            </a:pPr>
            <a:r>
              <a:rPr lang="en-US" sz="1300" b="1" i="1" dirty="0">
                <a:solidFill>
                  <a:srgbClr val="6B1F2E"/>
                </a:solidFill>
                <a:latin typeface="Georgia" pitchFamily="34" charset="0"/>
                <a:ea typeface="Georgia" pitchFamily="34" charset="-122"/>
                <a:cs typeface="Georgia" pitchFamily="34" charset="-120"/>
              </a:rPr>
              <a:t>13</a:t>
            </a:r>
            <a:endParaRPr lang="en-US" sz="1300" dirty="0"/>
          </a:p>
        </p:txBody>
      </p:sp>
      <p:sp>
        <p:nvSpPr>
          <p:cNvPr id="53" name="Text 51"/>
          <p:cNvSpPr/>
          <p:nvPr/>
        </p:nvSpPr>
        <p:spPr>
          <a:xfrm>
            <a:off x="6309360" y="4297680"/>
            <a:ext cx="640080" cy="310896"/>
          </a:xfrm>
          <a:prstGeom prst="rect">
            <a:avLst/>
          </a:prstGeom>
          <a:noFill/>
          <a:ln/>
        </p:spPr>
        <p:txBody>
          <a:bodyPr wrap="square" lIns="0" tIns="0" rIns="0" bIns="0" rtlCol="0" anchor="ctr"/>
          <a:lstStyle/>
          <a:p>
            <a:pPr indent="0" marL="0">
              <a:buNone/>
            </a:pPr>
            <a:r>
              <a:rPr lang="en-US" sz="1300" b="1" i="1" dirty="0">
                <a:solidFill>
                  <a:srgbClr val="B8893E"/>
                </a:solidFill>
                <a:latin typeface="Georgia" pitchFamily="34" charset="0"/>
                <a:ea typeface="Georgia" pitchFamily="34" charset="-122"/>
                <a:cs typeface="Georgia" pitchFamily="34" charset="-120"/>
              </a:rPr>
              <a:t>XII</a:t>
            </a:r>
            <a:endParaRPr lang="en-US" sz="1300" dirty="0"/>
          </a:p>
        </p:txBody>
      </p:sp>
      <p:sp>
        <p:nvSpPr>
          <p:cNvPr id="54" name="Text 52"/>
          <p:cNvSpPr/>
          <p:nvPr/>
        </p:nvSpPr>
        <p:spPr>
          <a:xfrm>
            <a:off x="6949440" y="4297680"/>
            <a:ext cx="3657600" cy="310896"/>
          </a:xfrm>
          <a:prstGeom prst="rect">
            <a:avLst/>
          </a:prstGeom>
          <a:noFill/>
          <a:ln/>
        </p:spPr>
        <p:txBody>
          <a:bodyPr wrap="square" lIns="0" tIns="0" rIns="0" bIns="0" rtlCol="0" anchor="ctr"/>
          <a:lstStyle/>
          <a:p>
            <a:pPr indent="0" marL="0">
              <a:buNone/>
            </a:pPr>
            <a:r>
              <a:rPr lang="en-US" sz="1400" dirty="0">
                <a:solidFill>
                  <a:srgbClr val="1A1A1A"/>
                </a:solidFill>
                <a:latin typeface="Georgia" pitchFamily="34" charset="0"/>
                <a:ea typeface="Georgia" pitchFamily="34" charset="-122"/>
                <a:cs typeface="Georgia" pitchFamily="34" charset="-120"/>
              </a:rPr>
              <a:t>Treatment Plan</a:t>
            </a:r>
            <a:endParaRPr lang="en-US" sz="1400" dirty="0"/>
          </a:p>
        </p:txBody>
      </p:sp>
      <p:sp>
        <p:nvSpPr>
          <p:cNvPr id="55" name="Shape 53"/>
          <p:cNvSpPr/>
          <p:nvPr/>
        </p:nvSpPr>
        <p:spPr>
          <a:xfrm>
            <a:off x="6949440" y="4581144"/>
            <a:ext cx="4572000" cy="4572"/>
          </a:xfrm>
          <a:prstGeom prst="rect">
            <a:avLst/>
          </a:prstGeom>
          <a:solidFill>
            <a:srgbClr val="C9B8A0"/>
          </a:solidFill>
          <a:ln/>
        </p:spPr>
      </p:sp>
      <p:sp>
        <p:nvSpPr>
          <p:cNvPr id="56" name="Text 54"/>
          <p:cNvSpPr/>
          <p:nvPr/>
        </p:nvSpPr>
        <p:spPr>
          <a:xfrm>
            <a:off x="10607040" y="4297680"/>
            <a:ext cx="914400" cy="310896"/>
          </a:xfrm>
          <a:prstGeom prst="rect">
            <a:avLst/>
          </a:prstGeom>
          <a:noFill/>
          <a:ln/>
        </p:spPr>
        <p:txBody>
          <a:bodyPr wrap="square" lIns="0" tIns="0" rIns="0" bIns="0" rtlCol="0" anchor="ctr"/>
          <a:lstStyle/>
          <a:p>
            <a:pPr algn="r" indent="0" marL="0">
              <a:buNone/>
            </a:pPr>
            <a:r>
              <a:rPr lang="en-US" sz="1300" b="1" i="1" dirty="0">
                <a:solidFill>
                  <a:srgbClr val="6B1F2E"/>
                </a:solidFill>
                <a:latin typeface="Georgia" pitchFamily="34" charset="0"/>
                <a:ea typeface="Georgia" pitchFamily="34" charset="-122"/>
                <a:cs typeface="Georgia" pitchFamily="34" charset="-120"/>
              </a:rPr>
              <a:t>14</a:t>
            </a:r>
            <a:endParaRPr lang="en-US" sz="1300" dirty="0"/>
          </a:p>
        </p:txBody>
      </p:sp>
      <p:sp>
        <p:nvSpPr>
          <p:cNvPr id="57" name="Shape 55"/>
          <p:cNvSpPr/>
          <p:nvPr/>
        </p:nvSpPr>
        <p:spPr>
          <a:xfrm>
            <a:off x="457200" y="6492240"/>
            <a:ext cx="11247120" cy="13716"/>
          </a:xfrm>
          <a:prstGeom prst="rect">
            <a:avLst/>
          </a:prstGeom>
          <a:solidFill>
            <a:srgbClr val="1A1A1A"/>
          </a:solidFill>
          <a:ln/>
        </p:spPr>
      </p:sp>
      <p:sp>
        <p:nvSpPr>
          <p:cNvPr id="58" name="Text 56"/>
          <p:cNvSpPr/>
          <p:nvPr/>
        </p:nvSpPr>
        <p:spPr>
          <a:xfrm>
            <a:off x="457200" y="6565392"/>
            <a:ext cx="8686800" cy="228600"/>
          </a:xfrm>
          <a:prstGeom prst="rect">
            <a:avLst/>
          </a:prstGeom>
          <a:noFill/>
          <a:ln/>
        </p:spPr>
        <p:txBody>
          <a:bodyPr wrap="square" rtlCol="0" anchor="ctr"/>
          <a:lstStyle/>
          <a:p>
            <a:pPr indent="0" marL="0">
              <a:buNone/>
            </a:pPr>
            <a:r>
              <a:rPr lang="en-US" sz="800" i="1" spc="400" kern="0" dirty="0">
                <a:solidFill>
                  <a:srgbClr val="5C4F3A"/>
                </a:solidFill>
                <a:latin typeface="Calibri" pitchFamily="34" charset="0"/>
                <a:ea typeface="Calibri" pitchFamily="34" charset="-122"/>
                <a:cs typeface="Calibri" pitchFamily="34" charset="-120"/>
              </a:rPr>
              <a:t>IBRAHIM ALSHAHRANI · 2110301  ·  M. HANASH · M140426001</a:t>
            </a:r>
            <a:endParaRPr lang="en-US" sz="800" dirty="0"/>
          </a:p>
        </p:txBody>
      </p:sp>
      <p:sp>
        <p:nvSpPr>
          <p:cNvPr id="59" name="Text 57"/>
          <p:cNvSpPr/>
          <p:nvPr/>
        </p:nvSpPr>
        <p:spPr>
          <a:xfrm>
            <a:off x="9418320" y="6565392"/>
            <a:ext cx="2286000" cy="228600"/>
          </a:xfrm>
          <a:prstGeom prst="rect">
            <a:avLst/>
          </a:prstGeom>
          <a:noFill/>
          <a:ln/>
        </p:spPr>
        <p:txBody>
          <a:bodyPr wrap="square" rtlCol="0" anchor="ctr"/>
          <a:lstStyle/>
          <a:p>
            <a:pPr algn="r" indent="0" marL="0">
              <a:buNone/>
            </a:pPr>
            <a:r>
              <a:rPr lang="en-US" sz="800" b="1" spc="600" kern="0" dirty="0">
                <a:solidFill>
                  <a:srgbClr val="5C4F3A"/>
                </a:solidFill>
                <a:latin typeface="Calibri" pitchFamily="34" charset="0"/>
                <a:ea typeface="Calibri" pitchFamily="34" charset="-122"/>
                <a:cs typeface="Calibri" pitchFamily="34" charset="-120"/>
              </a:rPr>
              <a:t>PAGE  01  /  16</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EDE0"/>
        </a:solidFill>
      </p:bgPr>
    </p:bg>
    <p:spTree>
      <p:nvGrpSpPr>
        <p:cNvPr id="1" name=""/>
        <p:cNvGrpSpPr/>
        <p:nvPr/>
      </p:nvGrpSpPr>
      <p:grpSpPr>
        <a:xfrm>
          <a:off x="0" y="0"/>
          <a:ext cx="0" cy="0"/>
          <a:chOff x="0" y="0"/>
          <a:chExt cx="0" cy="0"/>
        </a:xfrm>
      </p:grpSpPr>
      <p:sp>
        <p:nvSpPr>
          <p:cNvPr id="2" name="Shape 0"/>
          <p:cNvSpPr/>
          <p:nvPr/>
        </p:nvSpPr>
        <p:spPr>
          <a:xfrm>
            <a:off x="457200" y="457200"/>
            <a:ext cx="11247120" cy="13716"/>
          </a:xfrm>
          <a:prstGeom prst="rect">
            <a:avLst/>
          </a:prstGeom>
          <a:solidFill>
            <a:srgbClr val="1A1A1A"/>
          </a:solidFill>
          <a:ln/>
        </p:spPr>
      </p:sp>
      <p:sp>
        <p:nvSpPr>
          <p:cNvPr id="3" name="Text 1"/>
          <p:cNvSpPr/>
          <p:nvPr/>
        </p:nvSpPr>
        <p:spPr>
          <a:xfrm>
            <a:off x="457200" y="548640"/>
            <a:ext cx="5486400" cy="274320"/>
          </a:xfrm>
          <a:prstGeom prst="rect">
            <a:avLst/>
          </a:prstGeom>
          <a:noFill/>
          <a:ln/>
        </p:spPr>
        <p:txBody>
          <a:bodyPr wrap="square" rtlCol="0" anchor="ctr"/>
          <a:lstStyle/>
          <a:p>
            <a:pPr indent="0" marL="0">
              <a:buNone/>
            </a:pPr>
            <a:r>
              <a:rPr lang="en-US" sz="900" b="1" spc="800" kern="0" dirty="0">
                <a:solidFill>
                  <a:srgbClr val="5C4F3A"/>
                </a:solidFill>
                <a:latin typeface="Calibri" pitchFamily="34" charset="0"/>
                <a:ea typeface="Calibri" pitchFamily="34" charset="-122"/>
                <a:cs typeface="Calibri" pitchFamily="34" charset="-120"/>
              </a:rPr>
              <a:t>THE PATIENT</a:t>
            </a:r>
            <a:endParaRPr lang="en-US" sz="900" dirty="0"/>
          </a:p>
        </p:txBody>
      </p:sp>
      <p:sp>
        <p:nvSpPr>
          <p:cNvPr id="4" name="Text 2"/>
          <p:cNvSpPr/>
          <p:nvPr/>
        </p:nvSpPr>
        <p:spPr>
          <a:xfrm>
            <a:off x="6217920" y="548640"/>
            <a:ext cx="5486400" cy="274320"/>
          </a:xfrm>
          <a:prstGeom prst="rect">
            <a:avLst/>
          </a:prstGeom>
          <a:noFill/>
          <a:ln/>
        </p:spPr>
        <p:txBody>
          <a:bodyPr wrap="square" rtlCol="0" anchor="ctr"/>
          <a:lstStyle/>
          <a:p>
            <a:pPr algn="r" indent="0" marL="0">
              <a:buNone/>
            </a:pPr>
            <a:r>
              <a:rPr lang="en-US" sz="900" b="1" spc="800" kern="0" dirty="0">
                <a:solidFill>
                  <a:srgbClr val="5C4F3A"/>
                </a:solidFill>
                <a:latin typeface="Calibri" pitchFamily="34" charset="0"/>
                <a:ea typeface="Calibri" pitchFamily="34" charset="-122"/>
                <a:cs typeface="Calibri" pitchFamily="34" charset="-120"/>
              </a:rPr>
              <a:t>CASE PRESENTATION</a:t>
            </a:r>
            <a:endParaRPr lang="en-US" sz="900" dirty="0"/>
          </a:p>
        </p:txBody>
      </p:sp>
      <p:sp>
        <p:nvSpPr>
          <p:cNvPr id="5" name="Text 3"/>
          <p:cNvSpPr/>
          <p:nvPr/>
        </p:nvSpPr>
        <p:spPr>
          <a:xfrm>
            <a:off x="457200" y="1097280"/>
            <a:ext cx="1280160" cy="1463040"/>
          </a:xfrm>
          <a:prstGeom prst="rect">
            <a:avLst/>
          </a:prstGeom>
          <a:noFill/>
          <a:ln/>
        </p:spPr>
        <p:txBody>
          <a:bodyPr wrap="square" lIns="0" tIns="0" rIns="0" bIns="0" rtlCol="0" anchor="ctr"/>
          <a:lstStyle/>
          <a:p>
            <a:pPr indent="0" marL="0">
              <a:buNone/>
            </a:pPr>
            <a:r>
              <a:rPr lang="en-US" sz="16000" b="1" i="1" dirty="0">
                <a:solidFill>
                  <a:srgbClr val="6B1F2E"/>
                </a:solidFill>
                <a:latin typeface="Georgia" pitchFamily="34" charset="0"/>
                <a:ea typeface="Georgia" pitchFamily="34" charset="-122"/>
                <a:cs typeface="Georgia" pitchFamily="34" charset="-120"/>
              </a:rPr>
              <a:t>M</a:t>
            </a:r>
            <a:endParaRPr lang="en-US" sz="16000" dirty="0"/>
          </a:p>
        </p:txBody>
      </p:sp>
      <p:sp>
        <p:nvSpPr>
          <p:cNvPr id="6" name="Text 4"/>
          <p:cNvSpPr/>
          <p:nvPr/>
        </p:nvSpPr>
        <p:spPr>
          <a:xfrm>
            <a:off x="1783080" y="1371600"/>
            <a:ext cx="6400800" cy="822960"/>
          </a:xfrm>
          <a:prstGeom prst="rect">
            <a:avLst/>
          </a:prstGeom>
          <a:noFill/>
          <a:ln/>
        </p:spPr>
        <p:txBody>
          <a:bodyPr wrap="square" lIns="0" tIns="0" rIns="0" bIns="0" rtlCol="0" anchor="ctr"/>
          <a:lstStyle/>
          <a:p>
            <a:pPr indent="0" marL="0">
              <a:buNone/>
            </a:pPr>
            <a:r>
              <a:rPr lang="en-US" sz="4800" i="1" dirty="0">
                <a:solidFill>
                  <a:srgbClr val="1A1A1A"/>
                </a:solidFill>
                <a:latin typeface="Georgia" pitchFamily="34" charset="0"/>
                <a:ea typeface="Georgia" pitchFamily="34" charset="-122"/>
                <a:cs typeface="Georgia" pitchFamily="34" charset="-120"/>
              </a:rPr>
              <a:t>eet our subject.</a:t>
            </a:r>
            <a:endParaRPr lang="en-US" sz="4800" dirty="0"/>
          </a:p>
        </p:txBody>
      </p:sp>
      <p:sp>
        <p:nvSpPr>
          <p:cNvPr id="7" name="Text 5"/>
          <p:cNvSpPr/>
          <p:nvPr/>
        </p:nvSpPr>
        <p:spPr>
          <a:xfrm>
            <a:off x="457200" y="2926080"/>
            <a:ext cx="8046720" cy="1371600"/>
          </a:xfrm>
          <a:prstGeom prst="rect">
            <a:avLst/>
          </a:prstGeom>
          <a:noFill/>
          <a:ln/>
        </p:spPr>
        <p:txBody>
          <a:bodyPr wrap="square" lIns="0" tIns="0" rIns="0" bIns="0" rtlCol="0" anchor="ctr"/>
          <a:lstStyle/>
          <a:p>
            <a:pPr indent="0" marL="0">
              <a:buNone/>
            </a:pPr>
            <a:r>
              <a:rPr lang="en-US" sz="1700" i="1" dirty="0">
                <a:solidFill>
                  <a:srgbClr val="2C2419"/>
                </a:solidFill>
                <a:latin typeface="Georgia" pitchFamily="34" charset="0"/>
                <a:ea typeface="Georgia" pitchFamily="34" charset="-122"/>
                <a:cs typeface="Georgia" pitchFamily="34" charset="-120"/>
              </a:rPr>
              <a:t>A 45-year-old salesman from Al-Mahjar, Jeddah — originally from Yemen, residing here for 13 years — presents to the clinic with a localized, mild pain in the upper back right tooth, brought on by eating.</a:t>
            </a:r>
            <a:endParaRPr lang="en-US" sz="1700" dirty="0"/>
          </a:p>
        </p:txBody>
      </p:sp>
      <p:sp>
        <p:nvSpPr>
          <p:cNvPr id="8" name="Shape 6"/>
          <p:cNvSpPr/>
          <p:nvPr/>
        </p:nvSpPr>
        <p:spPr>
          <a:xfrm>
            <a:off x="8778240" y="914400"/>
            <a:ext cx="2926080" cy="5212080"/>
          </a:xfrm>
          <a:prstGeom prst="rect">
            <a:avLst/>
          </a:prstGeom>
          <a:solidFill>
            <a:srgbClr val="6B1F2E"/>
          </a:solidFill>
          <a:ln/>
        </p:spPr>
      </p:sp>
      <p:sp>
        <p:nvSpPr>
          <p:cNvPr id="9" name="Text 7"/>
          <p:cNvSpPr/>
          <p:nvPr/>
        </p:nvSpPr>
        <p:spPr>
          <a:xfrm>
            <a:off x="8961120" y="1097280"/>
            <a:ext cx="2743200" cy="274320"/>
          </a:xfrm>
          <a:prstGeom prst="rect">
            <a:avLst/>
          </a:prstGeom>
          <a:noFill/>
          <a:ln/>
        </p:spPr>
        <p:txBody>
          <a:bodyPr wrap="square" rtlCol="0" anchor="ctr"/>
          <a:lstStyle/>
          <a:p>
            <a:pPr indent="0" marL="0">
              <a:buNone/>
            </a:pPr>
            <a:r>
              <a:rPr lang="en-US" sz="900" b="1" spc="1000" kern="0" dirty="0">
                <a:solidFill>
                  <a:srgbClr val="D4AF37"/>
                </a:solidFill>
                <a:latin typeface="Calibri" pitchFamily="34" charset="0"/>
                <a:ea typeface="Calibri" pitchFamily="34" charset="-122"/>
                <a:cs typeface="Calibri" pitchFamily="34" charset="-120"/>
              </a:rPr>
              <a:t>PATIENT FILE</a:t>
            </a:r>
            <a:endParaRPr lang="en-US" sz="900" dirty="0"/>
          </a:p>
        </p:txBody>
      </p:sp>
      <p:sp>
        <p:nvSpPr>
          <p:cNvPr id="10" name="Shape 8"/>
          <p:cNvSpPr/>
          <p:nvPr/>
        </p:nvSpPr>
        <p:spPr>
          <a:xfrm>
            <a:off x="8961120" y="1417320"/>
            <a:ext cx="457200" cy="27432"/>
          </a:xfrm>
          <a:prstGeom prst="rect">
            <a:avLst/>
          </a:prstGeom>
          <a:solidFill>
            <a:srgbClr val="B8893E"/>
          </a:solidFill>
          <a:ln/>
        </p:spPr>
      </p:sp>
      <p:sp>
        <p:nvSpPr>
          <p:cNvPr id="11" name="Text 9"/>
          <p:cNvSpPr/>
          <p:nvPr/>
        </p:nvSpPr>
        <p:spPr>
          <a:xfrm>
            <a:off x="8961120" y="1554480"/>
            <a:ext cx="2743200" cy="457200"/>
          </a:xfrm>
          <a:prstGeom prst="rect">
            <a:avLst/>
          </a:prstGeom>
          <a:noFill/>
          <a:ln/>
        </p:spPr>
        <p:txBody>
          <a:bodyPr wrap="square" lIns="0" tIns="0" rIns="0" bIns="0" rtlCol="0" anchor="ctr"/>
          <a:lstStyle/>
          <a:p>
            <a:pPr indent="0" marL="0">
              <a:buNone/>
            </a:pPr>
            <a:r>
              <a:rPr lang="en-US" sz="2200" b="1" i="1" dirty="0">
                <a:solidFill>
                  <a:srgbClr val="F4EDE0"/>
                </a:solidFill>
                <a:latin typeface="Georgia" pitchFamily="34" charset="0"/>
                <a:ea typeface="Georgia" pitchFamily="34" charset="-122"/>
                <a:cs typeface="Georgia" pitchFamily="34" charset="-120"/>
              </a:rPr>
              <a:t>M140426001</a:t>
            </a:r>
            <a:endParaRPr lang="en-US" sz="2200" dirty="0"/>
          </a:p>
        </p:txBody>
      </p:sp>
      <p:sp>
        <p:nvSpPr>
          <p:cNvPr id="12" name="Text 10"/>
          <p:cNvSpPr/>
          <p:nvPr/>
        </p:nvSpPr>
        <p:spPr>
          <a:xfrm>
            <a:off x="8961120" y="2286000"/>
            <a:ext cx="2743200" cy="201168"/>
          </a:xfrm>
          <a:prstGeom prst="rect">
            <a:avLst/>
          </a:prstGeom>
          <a:noFill/>
          <a:ln/>
        </p:spPr>
        <p:txBody>
          <a:bodyPr wrap="square" rtlCol="0" anchor="ctr"/>
          <a:lstStyle/>
          <a:p>
            <a:pPr indent="0" marL="0">
              <a:buNone/>
            </a:pPr>
            <a:r>
              <a:rPr lang="en-US" sz="800" b="1" spc="600" kern="0" dirty="0">
                <a:solidFill>
                  <a:srgbClr val="D4AF37"/>
                </a:solidFill>
                <a:latin typeface="Calibri" pitchFamily="34" charset="0"/>
                <a:ea typeface="Calibri" pitchFamily="34" charset="-122"/>
                <a:cs typeface="Calibri" pitchFamily="34" charset="-120"/>
              </a:rPr>
              <a:t>NAME</a:t>
            </a:r>
            <a:endParaRPr lang="en-US" sz="800" dirty="0"/>
          </a:p>
        </p:txBody>
      </p:sp>
      <p:sp>
        <p:nvSpPr>
          <p:cNvPr id="13" name="Text 11"/>
          <p:cNvSpPr/>
          <p:nvPr/>
        </p:nvSpPr>
        <p:spPr>
          <a:xfrm>
            <a:off x="8961120" y="2487168"/>
            <a:ext cx="2743200" cy="292608"/>
          </a:xfrm>
          <a:prstGeom prst="rect">
            <a:avLst/>
          </a:prstGeom>
          <a:noFill/>
          <a:ln/>
        </p:spPr>
        <p:txBody>
          <a:bodyPr wrap="square" lIns="0" tIns="0" rIns="0" bIns="0" rtlCol="0" anchor="ctr"/>
          <a:lstStyle/>
          <a:p>
            <a:pPr indent="0" marL="0">
              <a:buNone/>
            </a:pPr>
            <a:r>
              <a:rPr lang="en-US" sz="1300" i="1" dirty="0">
                <a:solidFill>
                  <a:srgbClr val="F4EDE0"/>
                </a:solidFill>
                <a:latin typeface="Georgia" pitchFamily="34" charset="0"/>
                <a:ea typeface="Georgia" pitchFamily="34" charset="-122"/>
                <a:cs typeface="Georgia" pitchFamily="34" charset="-120"/>
              </a:rPr>
              <a:t>Mr. Mohammed Hanash</a:t>
            </a:r>
            <a:endParaRPr lang="en-US" sz="1300" dirty="0"/>
          </a:p>
        </p:txBody>
      </p:sp>
      <p:sp>
        <p:nvSpPr>
          <p:cNvPr id="14" name="Text 12"/>
          <p:cNvSpPr/>
          <p:nvPr/>
        </p:nvSpPr>
        <p:spPr>
          <a:xfrm>
            <a:off x="8961120" y="2852928"/>
            <a:ext cx="2743200" cy="201168"/>
          </a:xfrm>
          <a:prstGeom prst="rect">
            <a:avLst/>
          </a:prstGeom>
          <a:noFill/>
          <a:ln/>
        </p:spPr>
        <p:txBody>
          <a:bodyPr wrap="square" rtlCol="0" anchor="ctr"/>
          <a:lstStyle/>
          <a:p>
            <a:pPr indent="0" marL="0">
              <a:buNone/>
            </a:pPr>
            <a:r>
              <a:rPr lang="en-US" sz="800" b="1" spc="600" kern="0" dirty="0">
                <a:solidFill>
                  <a:srgbClr val="D4AF37"/>
                </a:solidFill>
                <a:latin typeface="Calibri" pitchFamily="34" charset="0"/>
                <a:ea typeface="Calibri" pitchFamily="34" charset="-122"/>
                <a:cs typeface="Calibri" pitchFamily="34" charset="-120"/>
              </a:rPr>
              <a:t>AGE</a:t>
            </a:r>
            <a:endParaRPr lang="en-US" sz="800" dirty="0"/>
          </a:p>
        </p:txBody>
      </p:sp>
      <p:sp>
        <p:nvSpPr>
          <p:cNvPr id="15" name="Text 13"/>
          <p:cNvSpPr/>
          <p:nvPr/>
        </p:nvSpPr>
        <p:spPr>
          <a:xfrm>
            <a:off x="8961120" y="3054096"/>
            <a:ext cx="2743200" cy="292608"/>
          </a:xfrm>
          <a:prstGeom prst="rect">
            <a:avLst/>
          </a:prstGeom>
          <a:noFill/>
          <a:ln/>
        </p:spPr>
        <p:txBody>
          <a:bodyPr wrap="square" lIns="0" tIns="0" rIns="0" bIns="0" rtlCol="0" anchor="ctr"/>
          <a:lstStyle/>
          <a:p>
            <a:pPr indent="0" marL="0">
              <a:buNone/>
            </a:pPr>
            <a:r>
              <a:rPr lang="en-US" sz="1300" i="1" dirty="0">
                <a:solidFill>
                  <a:srgbClr val="F4EDE0"/>
                </a:solidFill>
                <a:latin typeface="Georgia" pitchFamily="34" charset="0"/>
                <a:ea typeface="Georgia" pitchFamily="34" charset="-122"/>
                <a:cs typeface="Georgia" pitchFamily="34" charset="-120"/>
              </a:rPr>
              <a:t>45 years</a:t>
            </a:r>
            <a:endParaRPr lang="en-US" sz="1300" dirty="0"/>
          </a:p>
        </p:txBody>
      </p:sp>
      <p:sp>
        <p:nvSpPr>
          <p:cNvPr id="16" name="Text 14"/>
          <p:cNvSpPr/>
          <p:nvPr/>
        </p:nvSpPr>
        <p:spPr>
          <a:xfrm>
            <a:off x="8961120" y="3419856"/>
            <a:ext cx="2743200" cy="201168"/>
          </a:xfrm>
          <a:prstGeom prst="rect">
            <a:avLst/>
          </a:prstGeom>
          <a:noFill/>
          <a:ln/>
        </p:spPr>
        <p:txBody>
          <a:bodyPr wrap="square" rtlCol="0" anchor="ctr"/>
          <a:lstStyle/>
          <a:p>
            <a:pPr indent="0" marL="0">
              <a:buNone/>
            </a:pPr>
            <a:r>
              <a:rPr lang="en-US" sz="800" b="1" spc="600" kern="0" dirty="0">
                <a:solidFill>
                  <a:srgbClr val="D4AF37"/>
                </a:solidFill>
                <a:latin typeface="Calibri" pitchFamily="34" charset="0"/>
                <a:ea typeface="Calibri" pitchFamily="34" charset="-122"/>
                <a:cs typeface="Calibri" pitchFamily="34" charset="-120"/>
              </a:rPr>
              <a:t>SEX</a:t>
            </a:r>
            <a:endParaRPr lang="en-US" sz="800" dirty="0"/>
          </a:p>
        </p:txBody>
      </p:sp>
      <p:sp>
        <p:nvSpPr>
          <p:cNvPr id="17" name="Text 15"/>
          <p:cNvSpPr/>
          <p:nvPr/>
        </p:nvSpPr>
        <p:spPr>
          <a:xfrm>
            <a:off x="8961120" y="3621024"/>
            <a:ext cx="2743200" cy="292608"/>
          </a:xfrm>
          <a:prstGeom prst="rect">
            <a:avLst/>
          </a:prstGeom>
          <a:noFill/>
          <a:ln/>
        </p:spPr>
        <p:txBody>
          <a:bodyPr wrap="square" lIns="0" tIns="0" rIns="0" bIns="0" rtlCol="0" anchor="ctr"/>
          <a:lstStyle/>
          <a:p>
            <a:pPr indent="0" marL="0">
              <a:buNone/>
            </a:pPr>
            <a:r>
              <a:rPr lang="en-US" sz="1300" i="1" dirty="0">
                <a:solidFill>
                  <a:srgbClr val="F4EDE0"/>
                </a:solidFill>
                <a:latin typeface="Georgia" pitchFamily="34" charset="0"/>
                <a:ea typeface="Georgia" pitchFamily="34" charset="-122"/>
                <a:cs typeface="Georgia" pitchFamily="34" charset="-120"/>
              </a:rPr>
              <a:t>Male</a:t>
            </a:r>
            <a:endParaRPr lang="en-US" sz="1300" dirty="0"/>
          </a:p>
        </p:txBody>
      </p:sp>
      <p:sp>
        <p:nvSpPr>
          <p:cNvPr id="18" name="Text 16"/>
          <p:cNvSpPr/>
          <p:nvPr/>
        </p:nvSpPr>
        <p:spPr>
          <a:xfrm>
            <a:off x="8961120" y="3986784"/>
            <a:ext cx="2743200" cy="201168"/>
          </a:xfrm>
          <a:prstGeom prst="rect">
            <a:avLst/>
          </a:prstGeom>
          <a:noFill/>
          <a:ln/>
        </p:spPr>
        <p:txBody>
          <a:bodyPr wrap="square" rtlCol="0" anchor="ctr"/>
          <a:lstStyle/>
          <a:p>
            <a:pPr indent="0" marL="0">
              <a:buNone/>
            </a:pPr>
            <a:r>
              <a:rPr lang="en-US" sz="800" b="1" spc="600" kern="0" dirty="0">
                <a:solidFill>
                  <a:srgbClr val="D4AF37"/>
                </a:solidFill>
                <a:latin typeface="Calibri" pitchFamily="34" charset="0"/>
                <a:ea typeface="Calibri" pitchFamily="34" charset="-122"/>
                <a:cs typeface="Calibri" pitchFamily="34" charset="-120"/>
              </a:rPr>
              <a:t>OCCUPATION</a:t>
            </a:r>
            <a:endParaRPr lang="en-US" sz="800" dirty="0"/>
          </a:p>
        </p:txBody>
      </p:sp>
      <p:sp>
        <p:nvSpPr>
          <p:cNvPr id="19" name="Text 17"/>
          <p:cNvSpPr/>
          <p:nvPr/>
        </p:nvSpPr>
        <p:spPr>
          <a:xfrm>
            <a:off x="8961120" y="4187952"/>
            <a:ext cx="2743200" cy="292608"/>
          </a:xfrm>
          <a:prstGeom prst="rect">
            <a:avLst/>
          </a:prstGeom>
          <a:noFill/>
          <a:ln/>
        </p:spPr>
        <p:txBody>
          <a:bodyPr wrap="square" lIns="0" tIns="0" rIns="0" bIns="0" rtlCol="0" anchor="ctr"/>
          <a:lstStyle/>
          <a:p>
            <a:pPr indent="0" marL="0">
              <a:buNone/>
            </a:pPr>
            <a:r>
              <a:rPr lang="en-US" sz="1300" i="1" dirty="0">
                <a:solidFill>
                  <a:srgbClr val="F4EDE0"/>
                </a:solidFill>
                <a:latin typeface="Georgia" pitchFamily="34" charset="0"/>
                <a:ea typeface="Georgia" pitchFamily="34" charset="-122"/>
                <a:cs typeface="Georgia" pitchFamily="34" charset="-120"/>
              </a:rPr>
              <a:t>Salesman</a:t>
            </a:r>
            <a:endParaRPr lang="en-US" sz="1300" dirty="0"/>
          </a:p>
        </p:txBody>
      </p:sp>
      <p:sp>
        <p:nvSpPr>
          <p:cNvPr id="20" name="Text 18"/>
          <p:cNvSpPr/>
          <p:nvPr/>
        </p:nvSpPr>
        <p:spPr>
          <a:xfrm>
            <a:off x="8961120" y="4553712"/>
            <a:ext cx="2743200" cy="201168"/>
          </a:xfrm>
          <a:prstGeom prst="rect">
            <a:avLst/>
          </a:prstGeom>
          <a:noFill/>
          <a:ln/>
        </p:spPr>
        <p:txBody>
          <a:bodyPr wrap="square" rtlCol="0" anchor="ctr"/>
          <a:lstStyle/>
          <a:p>
            <a:pPr indent="0" marL="0">
              <a:buNone/>
            </a:pPr>
            <a:r>
              <a:rPr lang="en-US" sz="800" b="1" spc="600" kern="0" dirty="0">
                <a:solidFill>
                  <a:srgbClr val="D4AF37"/>
                </a:solidFill>
                <a:latin typeface="Calibri" pitchFamily="34" charset="0"/>
                <a:ea typeface="Calibri" pitchFamily="34" charset="-122"/>
                <a:cs typeface="Calibri" pitchFamily="34" charset="-120"/>
              </a:rPr>
              <a:t>RESIDENCE</a:t>
            </a:r>
            <a:endParaRPr lang="en-US" sz="800" dirty="0"/>
          </a:p>
        </p:txBody>
      </p:sp>
      <p:sp>
        <p:nvSpPr>
          <p:cNvPr id="21" name="Text 19"/>
          <p:cNvSpPr/>
          <p:nvPr/>
        </p:nvSpPr>
        <p:spPr>
          <a:xfrm>
            <a:off x="8961120" y="4754880"/>
            <a:ext cx="2743200" cy="292608"/>
          </a:xfrm>
          <a:prstGeom prst="rect">
            <a:avLst/>
          </a:prstGeom>
          <a:noFill/>
          <a:ln/>
        </p:spPr>
        <p:txBody>
          <a:bodyPr wrap="square" lIns="0" tIns="0" rIns="0" bIns="0" rtlCol="0" anchor="ctr"/>
          <a:lstStyle/>
          <a:p>
            <a:pPr indent="0" marL="0">
              <a:buNone/>
            </a:pPr>
            <a:r>
              <a:rPr lang="en-US" sz="1300" i="1" dirty="0">
                <a:solidFill>
                  <a:srgbClr val="F4EDE0"/>
                </a:solidFill>
                <a:latin typeface="Georgia" pitchFamily="34" charset="0"/>
                <a:ea typeface="Georgia" pitchFamily="34" charset="-122"/>
                <a:cs typeface="Georgia" pitchFamily="34" charset="-120"/>
              </a:rPr>
              <a:t>Al-Mahjar, Jeddah</a:t>
            </a:r>
            <a:endParaRPr lang="en-US" sz="1300" dirty="0"/>
          </a:p>
        </p:txBody>
      </p:sp>
      <p:sp>
        <p:nvSpPr>
          <p:cNvPr id="22" name="Text 20"/>
          <p:cNvSpPr/>
          <p:nvPr/>
        </p:nvSpPr>
        <p:spPr>
          <a:xfrm>
            <a:off x="8961120" y="5120640"/>
            <a:ext cx="2743200" cy="201168"/>
          </a:xfrm>
          <a:prstGeom prst="rect">
            <a:avLst/>
          </a:prstGeom>
          <a:noFill/>
          <a:ln/>
        </p:spPr>
        <p:txBody>
          <a:bodyPr wrap="square" rtlCol="0" anchor="ctr"/>
          <a:lstStyle/>
          <a:p>
            <a:pPr indent="0" marL="0">
              <a:buNone/>
            </a:pPr>
            <a:r>
              <a:rPr lang="en-US" sz="800" b="1" spc="600" kern="0" dirty="0">
                <a:solidFill>
                  <a:srgbClr val="D4AF37"/>
                </a:solidFill>
                <a:latin typeface="Calibri" pitchFamily="34" charset="0"/>
                <a:ea typeface="Calibri" pitchFamily="34" charset="-122"/>
                <a:cs typeface="Calibri" pitchFamily="34" charset="-120"/>
              </a:rPr>
              <a:t>ORIGIN</a:t>
            </a:r>
            <a:endParaRPr lang="en-US" sz="800" dirty="0"/>
          </a:p>
        </p:txBody>
      </p:sp>
      <p:sp>
        <p:nvSpPr>
          <p:cNvPr id="23" name="Text 21"/>
          <p:cNvSpPr/>
          <p:nvPr/>
        </p:nvSpPr>
        <p:spPr>
          <a:xfrm>
            <a:off x="8961120" y="5321808"/>
            <a:ext cx="2743200" cy="292608"/>
          </a:xfrm>
          <a:prstGeom prst="rect">
            <a:avLst/>
          </a:prstGeom>
          <a:noFill/>
          <a:ln/>
        </p:spPr>
        <p:txBody>
          <a:bodyPr wrap="square" lIns="0" tIns="0" rIns="0" bIns="0" rtlCol="0" anchor="ctr"/>
          <a:lstStyle/>
          <a:p>
            <a:pPr indent="0" marL="0">
              <a:buNone/>
            </a:pPr>
            <a:r>
              <a:rPr lang="en-US" sz="1300" i="1" dirty="0">
                <a:solidFill>
                  <a:srgbClr val="F4EDE0"/>
                </a:solidFill>
                <a:latin typeface="Georgia" pitchFamily="34" charset="0"/>
                <a:ea typeface="Georgia" pitchFamily="34" charset="-122"/>
                <a:cs typeface="Georgia" pitchFamily="34" charset="-120"/>
              </a:rPr>
              <a:t>Yemen · 13 yrs in KSA</a:t>
            </a:r>
            <a:endParaRPr lang="en-US" sz="1300" dirty="0"/>
          </a:p>
        </p:txBody>
      </p:sp>
      <p:sp>
        <p:nvSpPr>
          <p:cNvPr id="24" name="Shape 22"/>
          <p:cNvSpPr/>
          <p:nvPr/>
        </p:nvSpPr>
        <p:spPr>
          <a:xfrm>
            <a:off x="457200" y="4114800"/>
            <a:ext cx="8046720" cy="13716"/>
          </a:xfrm>
          <a:prstGeom prst="rect">
            <a:avLst/>
          </a:prstGeom>
          <a:solidFill>
            <a:srgbClr val="1A1A1A"/>
          </a:solidFill>
          <a:ln/>
        </p:spPr>
      </p:sp>
      <p:sp>
        <p:nvSpPr>
          <p:cNvPr id="25" name="Text 23"/>
          <p:cNvSpPr/>
          <p:nvPr/>
        </p:nvSpPr>
        <p:spPr>
          <a:xfrm>
            <a:off x="457200" y="4297680"/>
            <a:ext cx="1828800" cy="1097280"/>
          </a:xfrm>
          <a:prstGeom prst="rect">
            <a:avLst/>
          </a:prstGeom>
          <a:noFill/>
          <a:ln/>
        </p:spPr>
        <p:txBody>
          <a:bodyPr wrap="square" lIns="0" tIns="0" rIns="0" bIns="0" rtlCol="0" anchor="ctr"/>
          <a:lstStyle/>
          <a:p>
            <a:pPr indent="0" marL="0">
              <a:buNone/>
            </a:pPr>
            <a:r>
              <a:rPr lang="en-US" sz="7200" b="1" i="1" dirty="0">
                <a:solidFill>
                  <a:srgbClr val="6B1F2E"/>
                </a:solidFill>
                <a:latin typeface="Georgia" pitchFamily="34" charset="0"/>
                <a:ea typeface="Georgia" pitchFamily="34" charset="-122"/>
                <a:cs typeface="Georgia" pitchFamily="34" charset="-120"/>
              </a:rPr>
              <a:t>45</a:t>
            </a:r>
            <a:endParaRPr lang="en-US" sz="7200" dirty="0"/>
          </a:p>
        </p:txBody>
      </p:sp>
      <p:sp>
        <p:nvSpPr>
          <p:cNvPr id="26" name="Text 24"/>
          <p:cNvSpPr/>
          <p:nvPr/>
        </p:nvSpPr>
        <p:spPr>
          <a:xfrm>
            <a:off x="457200" y="5440680"/>
            <a:ext cx="1828800" cy="274320"/>
          </a:xfrm>
          <a:prstGeom prst="rect">
            <a:avLst/>
          </a:prstGeom>
          <a:noFill/>
          <a:ln/>
        </p:spPr>
        <p:txBody>
          <a:bodyPr wrap="square" rtlCol="0" anchor="ctr"/>
          <a:lstStyle/>
          <a:p>
            <a:pPr indent="0" marL="0">
              <a:buNone/>
            </a:pPr>
            <a:r>
              <a:rPr lang="en-US" sz="900" b="1" spc="600" kern="0" dirty="0">
                <a:solidFill>
                  <a:srgbClr val="5C4F3A"/>
                </a:solidFill>
                <a:latin typeface="Calibri" pitchFamily="34" charset="0"/>
                <a:ea typeface="Calibri" pitchFamily="34" charset="-122"/>
                <a:cs typeface="Calibri" pitchFamily="34" charset="-120"/>
              </a:rPr>
              <a:t>YEARS OLD</a:t>
            </a:r>
            <a:endParaRPr lang="en-US" sz="900" dirty="0"/>
          </a:p>
        </p:txBody>
      </p:sp>
      <p:sp>
        <p:nvSpPr>
          <p:cNvPr id="27" name="Text 25"/>
          <p:cNvSpPr/>
          <p:nvPr/>
        </p:nvSpPr>
        <p:spPr>
          <a:xfrm>
            <a:off x="2514600" y="4297680"/>
            <a:ext cx="1828800" cy="1097280"/>
          </a:xfrm>
          <a:prstGeom prst="rect">
            <a:avLst/>
          </a:prstGeom>
          <a:noFill/>
          <a:ln/>
        </p:spPr>
        <p:txBody>
          <a:bodyPr wrap="square" lIns="0" tIns="0" rIns="0" bIns="0" rtlCol="0" anchor="ctr"/>
          <a:lstStyle/>
          <a:p>
            <a:pPr indent="0" marL="0">
              <a:buNone/>
            </a:pPr>
            <a:r>
              <a:rPr lang="en-US" sz="7200" b="1" i="1" dirty="0">
                <a:solidFill>
                  <a:srgbClr val="6B1F2E"/>
                </a:solidFill>
                <a:latin typeface="Georgia" pitchFamily="34" charset="0"/>
                <a:ea typeface="Georgia" pitchFamily="34" charset="-122"/>
                <a:cs typeface="Georgia" pitchFamily="34" charset="-120"/>
              </a:rPr>
              <a:t>13</a:t>
            </a:r>
            <a:endParaRPr lang="en-US" sz="7200" dirty="0"/>
          </a:p>
        </p:txBody>
      </p:sp>
      <p:sp>
        <p:nvSpPr>
          <p:cNvPr id="28" name="Text 26"/>
          <p:cNvSpPr/>
          <p:nvPr/>
        </p:nvSpPr>
        <p:spPr>
          <a:xfrm>
            <a:off x="2514600" y="5440680"/>
            <a:ext cx="1828800" cy="274320"/>
          </a:xfrm>
          <a:prstGeom prst="rect">
            <a:avLst/>
          </a:prstGeom>
          <a:noFill/>
          <a:ln/>
        </p:spPr>
        <p:txBody>
          <a:bodyPr wrap="square" rtlCol="0" anchor="ctr"/>
          <a:lstStyle/>
          <a:p>
            <a:pPr indent="0" marL="0">
              <a:buNone/>
            </a:pPr>
            <a:r>
              <a:rPr lang="en-US" sz="900" b="1" spc="600" kern="0" dirty="0">
                <a:solidFill>
                  <a:srgbClr val="5C4F3A"/>
                </a:solidFill>
                <a:latin typeface="Calibri" pitchFamily="34" charset="0"/>
                <a:ea typeface="Calibri" pitchFamily="34" charset="-122"/>
                <a:cs typeface="Calibri" pitchFamily="34" charset="-120"/>
              </a:rPr>
              <a:t>YEARS IN KSA</a:t>
            </a:r>
            <a:endParaRPr lang="en-US" sz="900" dirty="0"/>
          </a:p>
        </p:txBody>
      </p:sp>
      <p:sp>
        <p:nvSpPr>
          <p:cNvPr id="29" name="Text 27"/>
          <p:cNvSpPr/>
          <p:nvPr/>
        </p:nvSpPr>
        <p:spPr>
          <a:xfrm>
            <a:off x="4572000" y="4297680"/>
            <a:ext cx="1828800" cy="1097280"/>
          </a:xfrm>
          <a:prstGeom prst="rect">
            <a:avLst/>
          </a:prstGeom>
          <a:noFill/>
          <a:ln/>
        </p:spPr>
        <p:txBody>
          <a:bodyPr wrap="square" lIns="0" tIns="0" rIns="0" bIns="0" rtlCol="0" anchor="ctr"/>
          <a:lstStyle/>
          <a:p>
            <a:pPr indent="0" marL="0">
              <a:buNone/>
            </a:pPr>
            <a:r>
              <a:rPr lang="en-US" sz="7200" b="1" i="1" dirty="0">
                <a:solidFill>
                  <a:srgbClr val="6B1F2E"/>
                </a:solidFill>
                <a:latin typeface="Georgia" pitchFamily="34" charset="0"/>
                <a:ea typeface="Georgia" pitchFamily="34" charset="-122"/>
                <a:cs typeface="Georgia" pitchFamily="34" charset="-120"/>
              </a:rPr>
              <a:t>01</a:t>
            </a:r>
            <a:endParaRPr lang="en-US" sz="7200" dirty="0"/>
          </a:p>
        </p:txBody>
      </p:sp>
      <p:sp>
        <p:nvSpPr>
          <p:cNvPr id="30" name="Text 28"/>
          <p:cNvSpPr/>
          <p:nvPr/>
        </p:nvSpPr>
        <p:spPr>
          <a:xfrm>
            <a:off x="4572000" y="5440680"/>
            <a:ext cx="1828800" cy="274320"/>
          </a:xfrm>
          <a:prstGeom prst="rect">
            <a:avLst/>
          </a:prstGeom>
          <a:noFill/>
          <a:ln/>
        </p:spPr>
        <p:txBody>
          <a:bodyPr wrap="square" rtlCol="0" anchor="ctr"/>
          <a:lstStyle/>
          <a:p>
            <a:pPr indent="0" marL="0">
              <a:buNone/>
            </a:pPr>
            <a:r>
              <a:rPr lang="en-US" sz="900" b="1" spc="600" kern="0" dirty="0">
                <a:solidFill>
                  <a:srgbClr val="5C4F3A"/>
                </a:solidFill>
                <a:latin typeface="Calibri" pitchFamily="34" charset="0"/>
                <a:ea typeface="Calibri" pitchFamily="34" charset="-122"/>
                <a:cs typeface="Calibri" pitchFamily="34" charset="-120"/>
              </a:rPr>
              <a:t>COMPLAINT</a:t>
            </a:r>
            <a:endParaRPr lang="en-US" sz="900" dirty="0"/>
          </a:p>
        </p:txBody>
      </p:sp>
      <p:sp>
        <p:nvSpPr>
          <p:cNvPr id="31" name="Text 29"/>
          <p:cNvSpPr/>
          <p:nvPr/>
        </p:nvSpPr>
        <p:spPr>
          <a:xfrm>
            <a:off x="6629400" y="4297680"/>
            <a:ext cx="1828800" cy="1097280"/>
          </a:xfrm>
          <a:prstGeom prst="rect">
            <a:avLst/>
          </a:prstGeom>
          <a:noFill/>
          <a:ln/>
        </p:spPr>
        <p:txBody>
          <a:bodyPr wrap="square" lIns="0" tIns="0" rIns="0" bIns="0" rtlCol="0" anchor="ctr"/>
          <a:lstStyle/>
          <a:p>
            <a:pPr indent="0" marL="0">
              <a:buNone/>
            </a:pPr>
            <a:r>
              <a:rPr lang="en-US" sz="7200" b="1" i="1" dirty="0">
                <a:solidFill>
                  <a:srgbClr val="6B1F2E"/>
                </a:solidFill>
                <a:latin typeface="Georgia" pitchFamily="34" charset="0"/>
                <a:ea typeface="Georgia" pitchFamily="34" charset="-122"/>
                <a:cs typeface="Georgia" pitchFamily="34" charset="-120"/>
              </a:rPr>
              <a:t>02</a:t>
            </a:r>
            <a:endParaRPr lang="en-US" sz="7200" dirty="0"/>
          </a:p>
        </p:txBody>
      </p:sp>
      <p:sp>
        <p:nvSpPr>
          <p:cNvPr id="32" name="Text 30"/>
          <p:cNvSpPr/>
          <p:nvPr/>
        </p:nvSpPr>
        <p:spPr>
          <a:xfrm>
            <a:off x="6629400" y="5440680"/>
            <a:ext cx="1828800" cy="274320"/>
          </a:xfrm>
          <a:prstGeom prst="rect">
            <a:avLst/>
          </a:prstGeom>
          <a:noFill/>
          <a:ln/>
        </p:spPr>
        <p:txBody>
          <a:bodyPr wrap="square" rtlCol="0" anchor="ctr"/>
          <a:lstStyle/>
          <a:p>
            <a:pPr indent="0" marL="0">
              <a:buNone/>
            </a:pPr>
            <a:r>
              <a:rPr lang="en-US" sz="900" b="1" spc="600" kern="0" dirty="0">
                <a:solidFill>
                  <a:srgbClr val="5C4F3A"/>
                </a:solidFill>
                <a:latin typeface="Calibri" pitchFamily="34" charset="0"/>
                <a:ea typeface="Calibri" pitchFamily="34" charset="-122"/>
                <a:cs typeface="Calibri" pitchFamily="34" charset="-120"/>
              </a:rPr>
              <a:t>TEETH</a:t>
            </a:r>
            <a:endParaRPr lang="en-US" sz="900" dirty="0"/>
          </a:p>
        </p:txBody>
      </p:sp>
      <p:sp>
        <p:nvSpPr>
          <p:cNvPr id="33" name="Shape 31"/>
          <p:cNvSpPr/>
          <p:nvPr/>
        </p:nvSpPr>
        <p:spPr>
          <a:xfrm>
            <a:off x="457200" y="6492240"/>
            <a:ext cx="11247120" cy="13716"/>
          </a:xfrm>
          <a:prstGeom prst="rect">
            <a:avLst/>
          </a:prstGeom>
          <a:solidFill>
            <a:srgbClr val="1A1A1A"/>
          </a:solidFill>
          <a:ln/>
        </p:spPr>
      </p:sp>
      <p:sp>
        <p:nvSpPr>
          <p:cNvPr id="34" name="Text 32"/>
          <p:cNvSpPr/>
          <p:nvPr/>
        </p:nvSpPr>
        <p:spPr>
          <a:xfrm>
            <a:off x="457200" y="6565392"/>
            <a:ext cx="8686800" cy="228600"/>
          </a:xfrm>
          <a:prstGeom prst="rect">
            <a:avLst/>
          </a:prstGeom>
          <a:noFill/>
          <a:ln/>
        </p:spPr>
        <p:txBody>
          <a:bodyPr wrap="square" rtlCol="0" anchor="ctr"/>
          <a:lstStyle/>
          <a:p>
            <a:pPr indent="0" marL="0">
              <a:buNone/>
            </a:pPr>
            <a:r>
              <a:rPr lang="en-US" sz="800" i="1" spc="400" kern="0" dirty="0">
                <a:solidFill>
                  <a:srgbClr val="5C4F3A"/>
                </a:solidFill>
                <a:latin typeface="Calibri" pitchFamily="34" charset="0"/>
                <a:ea typeface="Calibri" pitchFamily="34" charset="-122"/>
                <a:cs typeface="Calibri" pitchFamily="34" charset="-120"/>
              </a:rPr>
              <a:t>IBRAHIM ALSHAHRANI · 2110301  ·  M. HANASH · M140426001</a:t>
            </a:r>
            <a:endParaRPr lang="en-US" sz="800" dirty="0"/>
          </a:p>
        </p:txBody>
      </p:sp>
      <p:sp>
        <p:nvSpPr>
          <p:cNvPr id="35" name="Text 33"/>
          <p:cNvSpPr/>
          <p:nvPr/>
        </p:nvSpPr>
        <p:spPr>
          <a:xfrm>
            <a:off x="9418320" y="6565392"/>
            <a:ext cx="2286000" cy="228600"/>
          </a:xfrm>
          <a:prstGeom prst="rect">
            <a:avLst/>
          </a:prstGeom>
          <a:noFill/>
          <a:ln/>
        </p:spPr>
        <p:txBody>
          <a:bodyPr wrap="square" rtlCol="0" anchor="ctr"/>
          <a:lstStyle/>
          <a:p>
            <a:pPr algn="r" indent="0" marL="0">
              <a:buNone/>
            </a:pPr>
            <a:r>
              <a:rPr lang="en-US" sz="800" b="1" spc="600" kern="0" dirty="0">
                <a:solidFill>
                  <a:srgbClr val="5C4F3A"/>
                </a:solidFill>
                <a:latin typeface="Calibri" pitchFamily="34" charset="0"/>
                <a:ea typeface="Calibri" pitchFamily="34" charset="-122"/>
                <a:cs typeface="Calibri" pitchFamily="34" charset="-120"/>
              </a:rPr>
              <a:t>PAGE  02  /  16</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457200" y="457200"/>
            <a:ext cx="11247120" cy="13716"/>
          </a:xfrm>
          <a:prstGeom prst="rect">
            <a:avLst/>
          </a:prstGeom>
          <a:solidFill>
            <a:srgbClr val="F4EDE0"/>
          </a:solidFill>
          <a:ln/>
        </p:spPr>
      </p:sp>
      <p:sp>
        <p:nvSpPr>
          <p:cNvPr id="3" name="Text 1"/>
          <p:cNvSpPr/>
          <p:nvPr/>
        </p:nvSpPr>
        <p:spPr>
          <a:xfrm>
            <a:off x="457200" y="548640"/>
            <a:ext cx="5486400" cy="274320"/>
          </a:xfrm>
          <a:prstGeom prst="rect">
            <a:avLst/>
          </a:prstGeom>
          <a:noFill/>
          <a:ln/>
        </p:spPr>
        <p:txBody>
          <a:bodyPr wrap="square" rtlCol="0" anchor="ctr"/>
          <a:lstStyle/>
          <a:p>
            <a:pPr indent="0" marL="0">
              <a:buNone/>
            </a:pPr>
            <a:r>
              <a:rPr lang="en-US" sz="900" b="1" spc="800" kern="0" dirty="0">
                <a:solidFill>
                  <a:srgbClr val="E8DCC4"/>
                </a:solidFill>
                <a:latin typeface="Calibri" pitchFamily="34" charset="0"/>
                <a:ea typeface="Calibri" pitchFamily="34" charset="-122"/>
                <a:cs typeface="Calibri" pitchFamily="34" charset="-120"/>
              </a:rPr>
              <a:t>THE COMPLAINT</a:t>
            </a:r>
            <a:endParaRPr lang="en-US" sz="900" dirty="0"/>
          </a:p>
        </p:txBody>
      </p:sp>
      <p:sp>
        <p:nvSpPr>
          <p:cNvPr id="4" name="Text 2"/>
          <p:cNvSpPr/>
          <p:nvPr/>
        </p:nvSpPr>
        <p:spPr>
          <a:xfrm>
            <a:off x="6217920" y="548640"/>
            <a:ext cx="5486400" cy="274320"/>
          </a:xfrm>
          <a:prstGeom prst="rect">
            <a:avLst/>
          </a:prstGeom>
          <a:noFill/>
          <a:ln/>
        </p:spPr>
        <p:txBody>
          <a:bodyPr wrap="square" rtlCol="0" anchor="ctr"/>
          <a:lstStyle/>
          <a:p>
            <a:pPr algn="r" indent="0" marL="0">
              <a:buNone/>
            </a:pPr>
            <a:r>
              <a:rPr lang="en-US" sz="900" b="1" spc="800" kern="0" dirty="0">
                <a:solidFill>
                  <a:srgbClr val="E8DCC4"/>
                </a:solidFill>
                <a:latin typeface="Calibri" pitchFamily="34" charset="0"/>
                <a:ea typeface="Calibri" pitchFamily="34" charset="-122"/>
                <a:cs typeface="Calibri" pitchFamily="34" charset="-120"/>
              </a:rPr>
              <a:t>CASE PRESENTATION</a:t>
            </a:r>
            <a:endParaRPr lang="en-US" sz="900" dirty="0"/>
          </a:p>
        </p:txBody>
      </p:sp>
      <p:sp>
        <p:nvSpPr>
          <p:cNvPr id="5" name="Text 3"/>
          <p:cNvSpPr/>
          <p:nvPr/>
        </p:nvSpPr>
        <p:spPr>
          <a:xfrm>
            <a:off x="274320" y="914400"/>
            <a:ext cx="4114800" cy="3657600"/>
          </a:xfrm>
          <a:prstGeom prst="rect">
            <a:avLst/>
          </a:prstGeom>
          <a:noFill/>
          <a:ln/>
        </p:spPr>
        <p:txBody>
          <a:bodyPr wrap="square" lIns="0" tIns="0" rIns="0" bIns="0" rtlCol="0" anchor="ctr"/>
          <a:lstStyle/>
          <a:p>
            <a:pPr indent="0" marL="0">
              <a:buNone/>
            </a:pPr>
            <a:r>
              <a:rPr lang="en-US" sz="36000" b="1" i="1" dirty="0">
                <a:solidFill>
                  <a:srgbClr val="6B1F2E"/>
                </a:solidFill>
                <a:latin typeface="Georgia" pitchFamily="34" charset="0"/>
                <a:ea typeface="Georgia" pitchFamily="34" charset="-122"/>
                <a:cs typeface="Georgia" pitchFamily="34" charset="-120"/>
              </a:rPr>
              <a:t>“</a:t>
            </a:r>
            <a:endParaRPr lang="en-US" sz="36000" dirty="0"/>
          </a:p>
        </p:txBody>
      </p:sp>
      <p:sp>
        <p:nvSpPr>
          <p:cNvPr id="6" name="Text 4"/>
          <p:cNvSpPr/>
          <p:nvPr/>
        </p:nvSpPr>
        <p:spPr>
          <a:xfrm>
            <a:off x="4114800" y="1280160"/>
            <a:ext cx="7315200" cy="274320"/>
          </a:xfrm>
          <a:prstGeom prst="rect">
            <a:avLst/>
          </a:prstGeom>
          <a:noFill/>
          <a:ln/>
        </p:spPr>
        <p:txBody>
          <a:bodyPr wrap="square" rtlCol="0" anchor="ctr"/>
          <a:lstStyle/>
          <a:p>
            <a:pPr indent="0" marL="0">
              <a:buNone/>
            </a:pPr>
            <a:r>
              <a:rPr lang="en-US" sz="1100" b="1" spc="1200" kern="0" dirty="0">
                <a:solidFill>
                  <a:srgbClr val="B8893E"/>
                </a:solidFill>
                <a:latin typeface="Calibri" pitchFamily="34" charset="0"/>
                <a:ea typeface="Calibri" pitchFamily="34" charset="-122"/>
                <a:cs typeface="Calibri" pitchFamily="34" charset="-120"/>
              </a:rPr>
              <a:t>THE CHIEF COMPLAINT</a:t>
            </a:r>
            <a:endParaRPr lang="en-US" sz="1100" dirty="0"/>
          </a:p>
        </p:txBody>
      </p:sp>
      <p:sp>
        <p:nvSpPr>
          <p:cNvPr id="7" name="Shape 5"/>
          <p:cNvSpPr/>
          <p:nvPr/>
        </p:nvSpPr>
        <p:spPr>
          <a:xfrm>
            <a:off x="4114800" y="1627632"/>
            <a:ext cx="457200" cy="27432"/>
          </a:xfrm>
          <a:prstGeom prst="rect">
            <a:avLst/>
          </a:prstGeom>
          <a:solidFill>
            <a:srgbClr val="B8893E"/>
          </a:solidFill>
          <a:ln/>
        </p:spPr>
      </p:sp>
      <p:sp>
        <p:nvSpPr>
          <p:cNvPr id="8" name="Text 6"/>
          <p:cNvSpPr/>
          <p:nvPr/>
        </p:nvSpPr>
        <p:spPr>
          <a:xfrm>
            <a:off x="4114800" y="1783080"/>
            <a:ext cx="7772400" cy="868680"/>
          </a:xfrm>
          <a:prstGeom prst="rect">
            <a:avLst/>
          </a:prstGeom>
          <a:noFill/>
          <a:ln/>
        </p:spPr>
        <p:txBody>
          <a:bodyPr wrap="none" lIns="0" tIns="0" rIns="0" bIns="0" rtlCol="0" anchor="ctr"/>
          <a:lstStyle/>
          <a:p>
            <a:pPr indent="0" marL="0">
              <a:buNone/>
            </a:pPr>
            <a:r>
              <a:rPr lang="en-US" sz="4400" b="1" i="1" dirty="0">
                <a:solidFill>
                  <a:srgbClr val="F4EDE0"/>
                </a:solidFill>
                <a:latin typeface="Georgia" pitchFamily="34" charset="0"/>
                <a:ea typeface="Georgia" pitchFamily="34" charset="-122"/>
                <a:cs typeface="Georgia" pitchFamily="34" charset="-120"/>
              </a:rPr>
              <a:t>Mild pain in the upper</a:t>
            </a:r>
            <a:endParaRPr lang="en-US" sz="4400" dirty="0"/>
          </a:p>
        </p:txBody>
      </p:sp>
      <p:sp>
        <p:nvSpPr>
          <p:cNvPr id="9" name="Text 7"/>
          <p:cNvSpPr/>
          <p:nvPr/>
        </p:nvSpPr>
        <p:spPr>
          <a:xfrm>
            <a:off x="4114800" y="2606040"/>
            <a:ext cx="7772400" cy="868680"/>
          </a:xfrm>
          <a:prstGeom prst="rect">
            <a:avLst/>
          </a:prstGeom>
          <a:noFill/>
          <a:ln/>
        </p:spPr>
        <p:txBody>
          <a:bodyPr wrap="none" lIns="0" tIns="0" rIns="0" bIns="0" rtlCol="0" anchor="ctr"/>
          <a:lstStyle/>
          <a:p>
            <a:pPr indent="0" marL="0">
              <a:buNone/>
            </a:pPr>
            <a:r>
              <a:rPr lang="en-US" sz="4400" b="1" i="1" dirty="0">
                <a:solidFill>
                  <a:srgbClr val="F4EDE0"/>
                </a:solidFill>
                <a:latin typeface="Georgia" pitchFamily="34" charset="0"/>
                <a:ea typeface="Georgia" pitchFamily="34" charset="-122"/>
                <a:cs typeface="Georgia" pitchFamily="34" charset="-120"/>
              </a:rPr>
              <a:t>back right tooth,</a:t>
            </a:r>
            <a:endParaRPr lang="en-US" sz="4400" dirty="0"/>
          </a:p>
        </p:txBody>
      </p:sp>
      <p:sp>
        <p:nvSpPr>
          <p:cNvPr id="10" name="Text 8"/>
          <p:cNvSpPr/>
          <p:nvPr/>
        </p:nvSpPr>
        <p:spPr>
          <a:xfrm>
            <a:off x="4114800" y="3429000"/>
            <a:ext cx="7772400" cy="868680"/>
          </a:xfrm>
          <a:prstGeom prst="rect">
            <a:avLst/>
          </a:prstGeom>
          <a:noFill/>
          <a:ln/>
        </p:spPr>
        <p:txBody>
          <a:bodyPr wrap="none" lIns="0" tIns="0" rIns="0" bIns="0" rtlCol="0" anchor="ctr"/>
          <a:lstStyle/>
          <a:p>
            <a:pPr indent="0" marL="0">
              <a:buNone/>
            </a:pPr>
            <a:r>
              <a:rPr lang="en-US" sz="4400" b="1" i="1" dirty="0">
                <a:solidFill>
                  <a:srgbClr val="B8893E"/>
                </a:solidFill>
                <a:latin typeface="Georgia" pitchFamily="34" charset="0"/>
                <a:ea typeface="Georgia" pitchFamily="34" charset="-122"/>
                <a:cs typeface="Georgia" pitchFamily="34" charset="-120"/>
              </a:rPr>
              <a:t>while eating.</a:t>
            </a:r>
            <a:endParaRPr lang="en-US" sz="4400" dirty="0"/>
          </a:p>
        </p:txBody>
      </p:sp>
      <p:sp>
        <p:nvSpPr>
          <p:cNvPr id="11" name="Shape 9"/>
          <p:cNvSpPr/>
          <p:nvPr/>
        </p:nvSpPr>
        <p:spPr>
          <a:xfrm>
            <a:off x="4114800" y="4434840"/>
            <a:ext cx="365760" cy="18288"/>
          </a:xfrm>
          <a:prstGeom prst="rect">
            <a:avLst/>
          </a:prstGeom>
          <a:solidFill>
            <a:srgbClr val="E8DCC4"/>
          </a:solidFill>
          <a:ln/>
        </p:spPr>
      </p:sp>
      <p:sp>
        <p:nvSpPr>
          <p:cNvPr id="12" name="Text 10"/>
          <p:cNvSpPr/>
          <p:nvPr/>
        </p:nvSpPr>
        <p:spPr>
          <a:xfrm>
            <a:off x="4572000" y="4370832"/>
            <a:ext cx="5486400" cy="274320"/>
          </a:xfrm>
          <a:prstGeom prst="rect">
            <a:avLst/>
          </a:prstGeom>
          <a:noFill/>
          <a:ln/>
        </p:spPr>
        <p:txBody>
          <a:bodyPr wrap="square" rtlCol="0" anchor="ctr"/>
          <a:lstStyle/>
          <a:p>
            <a:pPr indent="0" marL="0">
              <a:buNone/>
            </a:pPr>
            <a:r>
              <a:rPr lang="en-US" sz="1000" b="1" spc="800" kern="0" dirty="0">
                <a:solidFill>
                  <a:srgbClr val="E8DCC4"/>
                </a:solidFill>
                <a:latin typeface="Calibri" pitchFamily="34" charset="0"/>
                <a:ea typeface="Calibri" pitchFamily="34" charset="-122"/>
                <a:cs typeface="Calibri" pitchFamily="34" charset="-120"/>
              </a:rPr>
              <a:t>—  THE PATIENT, IN HIS OWN WORDS</a:t>
            </a:r>
            <a:endParaRPr lang="en-US" sz="1000" dirty="0"/>
          </a:p>
        </p:txBody>
      </p:sp>
      <p:sp>
        <p:nvSpPr>
          <p:cNvPr id="13" name="Shape 11"/>
          <p:cNvSpPr/>
          <p:nvPr/>
        </p:nvSpPr>
        <p:spPr>
          <a:xfrm>
            <a:off x="457200" y="4754880"/>
            <a:ext cx="11247120" cy="13716"/>
          </a:xfrm>
          <a:prstGeom prst="rect">
            <a:avLst/>
          </a:prstGeom>
          <a:solidFill>
            <a:srgbClr val="E8DCC4"/>
          </a:solidFill>
          <a:ln/>
        </p:spPr>
      </p:sp>
      <p:sp>
        <p:nvSpPr>
          <p:cNvPr id="14" name="Text 12"/>
          <p:cNvSpPr/>
          <p:nvPr/>
        </p:nvSpPr>
        <p:spPr>
          <a:xfrm>
            <a:off x="457200" y="4846320"/>
            <a:ext cx="10972800" cy="274320"/>
          </a:xfrm>
          <a:prstGeom prst="rect">
            <a:avLst/>
          </a:prstGeom>
          <a:noFill/>
          <a:ln/>
        </p:spPr>
        <p:txBody>
          <a:bodyPr wrap="square" rtlCol="0" anchor="ctr"/>
          <a:lstStyle/>
          <a:p>
            <a:pPr indent="0" marL="0">
              <a:buNone/>
            </a:pPr>
            <a:r>
              <a:rPr lang="en-US" sz="900" b="1" spc="1000" kern="0" dirty="0">
                <a:solidFill>
                  <a:srgbClr val="B8893E"/>
                </a:solidFill>
                <a:latin typeface="Calibri" pitchFamily="34" charset="0"/>
                <a:ea typeface="Calibri" pitchFamily="34" charset="-122"/>
                <a:cs typeface="Calibri" pitchFamily="34" charset="-120"/>
              </a:rPr>
              <a:t>HISTORY OF PRESENT ILLNESS</a:t>
            </a:r>
            <a:endParaRPr lang="en-US" sz="900" dirty="0"/>
          </a:p>
        </p:txBody>
      </p:sp>
      <p:sp>
        <p:nvSpPr>
          <p:cNvPr id="15" name="Text 13"/>
          <p:cNvSpPr/>
          <p:nvPr/>
        </p:nvSpPr>
        <p:spPr>
          <a:xfrm>
            <a:off x="457200" y="5166360"/>
            <a:ext cx="11247120" cy="1280160"/>
          </a:xfrm>
          <a:prstGeom prst="rect">
            <a:avLst/>
          </a:prstGeom>
          <a:noFill/>
          <a:ln/>
        </p:spPr>
        <p:txBody>
          <a:bodyPr wrap="square" lIns="0" tIns="0" rIns="0" bIns="0" rtlCol="0" anchor="ctr"/>
          <a:lstStyle/>
          <a:p>
            <a:pPr indent="0" marL="0">
              <a:spcAft>
                <a:spcPts val="400"/>
              </a:spcAft>
              <a:buNone/>
            </a:pPr>
            <a:r>
              <a:rPr lang="en-US" sz="1400" i="1" dirty="0">
                <a:solidFill>
                  <a:srgbClr val="F4EDE0"/>
                </a:solidFill>
                <a:latin typeface="Georgia" pitchFamily="34" charset="0"/>
                <a:ea typeface="Georgia" pitchFamily="34" charset="-122"/>
                <a:cs typeface="Georgia" pitchFamily="34" charset="-120"/>
              </a:rPr>
              <a:t>The patient reports that the discomfort in his upper back right tooth began some time after a restoration was placed on that same tooth — though he is unable to recall exactly when the procedure was done. Since then, the pain has surfaced only while eating, when food becomes lodged in the tooth; once the impacted food is dislodged, the discomfort settles almost immediately. There is no spontaneous pain, no lingering ache, and no reactivity to cold or hot stimuli. He denies any swelling, mobility, or bleeding. The complaint has been intermittent, never severe, and has not interfered with sleep or daily work.</a:t>
            </a:r>
            <a:endParaRPr lang="en-US" sz="1400" dirty="0"/>
          </a:p>
        </p:txBody>
      </p:sp>
      <p:sp>
        <p:nvSpPr>
          <p:cNvPr id="16" name="Shape 14"/>
          <p:cNvSpPr/>
          <p:nvPr/>
        </p:nvSpPr>
        <p:spPr>
          <a:xfrm>
            <a:off x="457200" y="6492240"/>
            <a:ext cx="11247120" cy="13716"/>
          </a:xfrm>
          <a:prstGeom prst="rect">
            <a:avLst/>
          </a:prstGeom>
          <a:solidFill>
            <a:srgbClr val="F4EDE0"/>
          </a:solidFill>
          <a:ln/>
        </p:spPr>
      </p:sp>
      <p:sp>
        <p:nvSpPr>
          <p:cNvPr id="17" name="Text 15"/>
          <p:cNvSpPr/>
          <p:nvPr/>
        </p:nvSpPr>
        <p:spPr>
          <a:xfrm>
            <a:off x="457200" y="6565392"/>
            <a:ext cx="8686800" cy="228600"/>
          </a:xfrm>
          <a:prstGeom prst="rect">
            <a:avLst/>
          </a:prstGeom>
          <a:noFill/>
          <a:ln/>
        </p:spPr>
        <p:txBody>
          <a:bodyPr wrap="square" rtlCol="0" anchor="ctr"/>
          <a:lstStyle/>
          <a:p>
            <a:pPr indent="0" marL="0">
              <a:buNone/>
            </a:pPr>
            <a:r>
              <a:rPr lang="en-US" sz="800" i="1" spc="400" kern="0" dirty="0">
                <a:solidFill>
                  <a:srgbClr val="E8DCC4"/>
                </a:solidFill>
                <a:latin typeface="Calibri" pitchFamily="34" charset="0"/>
                <a:ea typeface="Calibri" pitchFamily="34" charset="-122"/>
                <a:cs typeface="Calibri" pitchFamily="34" charset="-120"/>
              </a:rPr>
              <a:t>IBRAHIM ALSHAHRANI · 2110301  ·  M. HANASH · M140426001</a:t>
            </a:r>
            <a:endParaRPr lang="en-US" sz="800" dirty="0"/>
          </a:p>
        </p:txBody>
      </p:sp>
      <p:sp>
        <p:nvSpPr>
          <p:cNvPr id="18" name="Text 16"/>
          <p:cNvSpPr/>
          <p:nvPr/>
        </p:nvSpPr>
        <p:spPr>
          <a:xfrm>
            <a:off x="9418320" y="6565392"/>
            <a:ext cx="2286000" cy="228600"/>
          </a:xfrm>
          <a:prstGeom prst="rect">
            <a:avLst/>
          </a:prstGeom>
          <a:noFill/>
          <a:ln/>
        </p:spPr>
        <p:txBody>
          <a:bodyPr wrap="square" rtlCol="0" anchor="ctr"/>
          <a:lstStyle/>
          <a:p>
            <a:pPr algn="r" indent="0" marL="0">
              <a:buNone/>
            </a:pPr>
            <a:r>
              <a:rPr lang="en-US" sz="800" b="1" spc="600" kern="0" dirty="0">
                <a:solidFill>
                  <a:srgbClr val="E8DCC4"/>
                </a:solidFill>
                <a:latin typeface="Calibri" pitchFamily="34" charset="0"/>
                <a:ea typeface="Calibri" pitchFamily="34" charset="-122"/>
                <a:cs typeface="Calibri" pitchFamily="34" charset="-120"/>
              </a:rPr>
              <a:t>PAGE  03  /  16</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EDE0"/>
        </a:solidFill>
      </p:bgPr>
    </p:bg>
    <p:spTree>
      <p:nvGrpSpPr>
        <p:cNvPr id="1" name=""/>
        <p:cNvGrpSpPr/>
        <p:nvPr/>
      </p:nvGrpSpPr>
      <p:grpSpPr>
        <a:xfrm>
          <a:off x="0" y="0"/>
          <a:ext cx="0" cy="0"/>
          <a:chOff x="0" y="0"/>
          <a:chExt cx="0" cy="0"/>
        </a:xfrm>
      </p:grpSpPr>
      <p:sp>
        <p:nvSpPr>
          <p:cNvPr id="2" name="Shape 0"/>
          <p:cNvSpPr/>
          <p:nvPr/>
        </p:nvSpPr>
        <p:spPr>
          <a:xfrm>
            <a:off x="457200" y="457200"/>
            <a:ext cx="11247120" cy="13716"/>
          </a:xfrm>
          <a:prstGeom prst="rect">
            <a:avLst/>
          </a:prstGeom>
          <a:solidFill>
            <a:srgbClr val="1A1A1A"/>
          </a:solidFill>
          <a:ln/>
        </p:spPr>
      </p:sp>
      <p:sp>
        <p:nvSpPr>
          <p:cNvPr id="3" name="Text 1"/>
          <p:cNvSpPr/>
          <p:nvPr/>
        </p:nvSpPr>
        <p:spPr>
          <a:xfrm>
            <a:off x="457200" y="548640"/>
            <a:ext cx="5486400" cy="274320"/>
          </a:xfrm>
          <a:prstGeom prst="rect">
            <a:avLst/>
          </a:prstGeom>
          <a:noFill/>
          <a:ln/>
        </p:spPr>
        <p:txBody>
          <a:bodyPr wrap="square" rtlCol="0" anchor="ctr"/>
          <a:lstStyle/>
          <a:p>
            <a:pPr indent="0" marL="0">
              <a:buNone/>
            </a:pPr>
            <a:r>
              <a:rPr lang="en-US" sz="900" b="1" spc="800" kern="0" dirty="0">
                <a:solidFill>
                  <a:srgbClr val="5C4F3A"/>
                </a:solidFill>
                <a:latin typeface="Calibri" pitchFamily="34" charset="0"/>
                <a:ea typeface="Calibri" pitchFamily="34" charset="-122"/>
                <a:cs typeface="Calibri" pitchFamily="34" charset="-120"/>
              </a:rPr>
              <a:t>HISTORY</a:t>
            </a:r>
            <a:endParaRPr lang="en-US" sz="900" dirty="0"/>
          </a:p>
        </p:txBody>
      </p:sp>
      <p:sp>
        <p:nvSpPr>
          <p:cNvPr id="4" name="Text 2"/>
          <p:cNvSpPr/>
          <p:nvPr/>
        </p:nvSpPr>
        <p:spPr>
          <a:xfrm>
            <a:off x="6217920" y="548640"/>
            <a:ext cx="5486400" cy="274320"/>
          </a:xfrm>
          <a:prstGeom prst="rect">
            <a:avLst/>
          </a:prstGeom>
          <a:noFill/>
          <a:ln/>
        </p:spPr>
        <p:txBody>
          <a:bodyPr wrap="square" rtlCol="0" anchor="ctr"/>
          <a:lstStyle/>
          <a:p>
            <a:pPr algn="r" indent="0" marL="0">
              <a:buNone/>
            </a:pPr>
            <a:r>
              <a:rPr lang="en-US" sz="900" b="1" spc="800" kern="0" dirty="0">
                <a:solidFill>
                  <a:srgbClr val="5C4F3A"/>
                </a:solidFill>
                <a:latin typeface="Calibri" pitchFamily="34" charset="0"/>
                <a:ea typeface="Calibri" pitchFamily="34" charset="-122"/>
                <a:cs typeface="Calibri" pitchFamily="34" charset="-120"/>
              </a:rPr>
              <a:t>CASE PRESENTATION</a:t>
            </a:r>
            <a:endParaRPr lang="en-US" sz="900" dirty="0"/>
          </a:p>
        </p:txBody>
      </p:sp>
      <p:sp>
        <p:nvSpPr>
          <p:cNvPr id="5" name="Text 3"/>
          <p:cNvSpPr/>
          <p:nvPr/>
        </p:nvSpPr>
        <p:spPr>
          <a:xfrm>
            <a:off x="457200" y="914400"/>
            <a:ext cx="3657600" cy="1097280"/>
          </a:xfrm>
          <a:prstGeom prst="rect">
            <a:avLst/>
          </a:prstGeom>
          <a:noFill/>
          <a:ln/>
        </p:spPr>
        <p:txBody>
          <a:bodyPr wrap="square" lIns="0" tIns="0" rIns="0" bIns="0" rtlCol="0" anchor="ctr"/>
          <a:lstStyle/>
          <a:p>
            <a:pPr indent="0" marL="0">
              <a:buNone/>
            </a:pPr>
            <a:r>
              <a:rPr lang="en-US" sz="8000" b="1" i="1" dirty="0">
                <a:solidFill>
                  <a:srgbClr val="1A1A1A"/>
                </a:solidFill>
                <a:latin typeface="Georgia" pitchFamily="34" charset="0"/>
                <a:ea typeface="Georgia" pitchFamily="34" charset="-122"/>
                <a:cs typeface="Georgia" pitchFamily="34" charset="-120"/>
              </a:rPr>
              <a:t>Four</a:t>
            </a:r>
            <a:endParaRPr lang="en-US" sz="8000" dirty="0"/>
          </a:p>
        </p:txBody>
      </p:sp>
      <p:sp>
        <p:nvSpPr>
          <p:cNvPr id="6" name="Text 4"/>
          <p:cNvSpPr/>
          <p:nvPr/>
        </p:nvSpPr>
        <p:spPr>
          <a:xfrm>
            <a:off x="457200" y="1828800"/>
            <a:ext cx="6400800" cy="1097280"/>
          </a:xfrm>
          <a:prstGeom prst="rect">
            <a:avLst/>
          </a:prstGeom>
          <a:noFill/>
          <a:ln/>
        </p:spPr>
        <p:txBody>
          <a:bodyPr wrap="square" lIns="0" tIns="0" rIns="0" bIns="0" rtlCol="0" anchor="ctr"/>
          <a:lstStyle/>
          <a:p>
            <a:pPr indent="0" marL="0">
              <a:buNone/>
            </a:pPr>
            <a:r>
              <a:rPr lang="en-US" sz="8000" b="1" i="1" dirty="0">
                <a:solidFill>
                  <a:srgbClr val="6B1F2E"/>
                </a:solidFill>
                <a:latin typeface="Georgia" pitchFamily="34" charset="0"/>
                <a:ea typeface="Georgia" pitchFamily="34" charset="-122"/>
                <a:cs typeface="Georgia" pitchFamily="34" charset="-120"/>
              </a:rPr>
              <a:t>histories.</a:t>
            </a:r>
            <a:endParaRPr lang="en-US" sz="8000" dirty="0"/>
          </a:p>
        </p:txBody>
      </p:sp>
      <p:sp>
        <p:nvSpPr>
          <p:cNvPr id="7" name="Shape 5"/>
          <p:cNvSpPr/>
          <p:nvPr/>
        </p:nvSpPr>
        <p:spPr>
          <a:xfrm>
            <a:off x="457200" y="2926080"/>
            <a:ext cx="914400" cy="36576"/>
          </a:xfrm>
          <a:prstGeom prst="rect">
            <a:avLst/>
          </a:prstGeom>
          <a:solidFill>
            <a:srgbClr val="B8893E"/>
          </a:solidFill>
          <a:ln/>
        </p:spPr>
      </p:sp>
      <p:sp>
        <p:nvSpPr>
          <p:cNvPr id="8" name="Text 6"/>
          <p:cNvSpPr/>
          <p:nvPr/>
        </p:nvSpPr>
        <p:spPr>
          <a:xfrm>
            <a:off x="7315200" y="1280160"/>
            <a:ext cx="4389120" cy="1371600"/>
          </a:xfrm>
          <a:prstGeom prst="rect">
            <a:avLst/>
          </a:prstGeom>
          <a:noFill/>
          <a:ln/>
        </p:spPr>
        <p:txBody>
          <a:bodyPr wrap="square" lIns="0" tIns="0" rIns="0" bIns="0" rtlCol="0" anchor="ctr"/>
          <a:lstStyle/>
          <a:p>
            <a:pPr indent="0" marL="0">
              <a:buNone/>
            </a:pPr>
            <a:r>
              <a:rPr lang="en-US" sz="1400" i="1" dirty="0">
                <a:solidFill>
                  <a:srgbClr val="5C4F3A"/>
                </a:solidFill>
                <a:latin typeface="Georgia" pitchFamily="34" charset="0"/>
                <a:ea typeface="Georgia" pitchFamily="34" charset="-122"/>
                <a:cs typeface="Georgia" pitchFamily="34" charset="-120"/>
              </a:rPr>
              <a:t>A complete medical, dental, family and social profile — the contextual lens through which we view the presenting complaint.</a:t>
            </a:r>
            <a:endParaRPr lang="en-US" sz="1400" dirty="0"/>
          </a:p>
        </p:txBody>
      </p:sp>
      <p:sp>
        <p:nvSpPr>
          <p:cNvPr id="9" name="Text 7"/>
          <p:cNvSpPr/>
          <p:nvPr/>
        </p:nvSpPr>
        <p:spPr>
          <a:xfrm>
            <a:off x="457200" y="3383280"/>
            <a:ext cx="1188720" cy="1188720"/>
          </a:xfrm>
          <a:prstGeom prst="rect">
            <a:avLst/>
          </a:prstGeom>
          <a:noFill/>
          <a:ln/>
        </p:spPr>
        <p:txBody>
          <a:bodyPr wrap="square" lIns="0" tIns="0" rIns="0" bIns="0" rtlCol="0" anchor="ctr"/>
          <a:lstStyle/>
          <a:p>
            <a:pPr indent="0" marL="0">
              <a:buNone/>
            </a:pPr>
            <a:r>
              <a:rPr lang="en-US" sz="6000" b="1" i="1" dirty="0">
                <a:solidFill>
                  <a:srgbClr val="B8893E"/>
                </a:solidFill>
                <a:latin typeface="Georgia" pitchFamily="34" charset="0"/>
                <a:ea typeface="Georgia" pitchFamily="34" charset="-122"/>
                <a:cs typeface="Georgia" pitchFamily="34" charset="-120"/>
              </a:rPr>
              <a:t>I</a:t>
            </a:r>
            <a:endParaRPr lang="en-US" sz="6000" dirty="0"/>
          </a:p>
        </p:txBody>
      </p:sp>
      <p:sp>
        <p:nvSpPr>
          <p:cNvPr id="10" name="Shape 8"/>
          <p:cNvSpPr/>
          <p:nvPr/>
        </p:nvSpPr>
        <p:spPr>
          <a:xfrm>
            <a:off x="1737360" y="3474720"/>
            <a:ext cx="13716" cy="1188720"/>
          </a:xfrm>
          <a:prstGeom prst="rect">
            <a:avLst/>
          </a:prstGeom>
          <a:solidFill>
            <a:srgbClr val="1A1A1A"/>
          </a:solidFill>
          <a:ln/>
        </p:spPr>
      </p:sp>
      <p:sp>
        <p:nvSpPr>
          <p:cNvPr id="11" name="Text 9"/>
          <p:cNvSpPr/>
          <p:nvPr/>
        </p:nvSpPr>
        <p:spPr>
          <a:xfrm>
            <a:off x="1874520" y="3474720"/>
            <a:ext cx="4206240" cy="274320"/>
          </a:xfrm>
          <a:prstGeom prst="rect">
            <a:avLst/>
          </a:prstGeom>
          <a:noFill/>
          <a:ln/>
        </p:spPr>
        <p:txBody>
          <a:bodyPr wrap="square" rtlCol="0" anchor="ctr"/>
          <a:lstStyle/>
          <a:p>
            <a:pPr indent="0" marL="0">
              <a:buNone/>
            </a:pPr>
            <a:r>
              <a:rPr lang="en-US" sz="1000" b="1" spc="800" kern="0" dirty="0">
                <a:solidFill>
                  <a:srgbClr val="6B1F2E"/>
                </a:solidFill>
                <a:latin typeface="Calibri" pitchFamily="34" charset="0"/>
                <a:ea typeface="Calibri" pitchFamily="34" charset="-122"/>
                <a:cs typeface="Calibri" pitchFamily="34" charset="-120"/>
              </a:rPr>
              <a:t>MEDICAL HISTORY</a:t>
            </a:r>
            <a:endParaRPr lang="en-US" sz="1000" dirty="0"/>
          </a:p>
        </p:txBody>
      </p:sp>
      <p:sp>
        <p:nvSpPr>
          <p:cNvPr id="12" name="Text 10"/>
          <p:cNvSpPr/>
          <p:nvPr/>
        </p:nvSpPr>
        <p:spPr>
          <a:xfrm>
            <a:off x="1874520" y="3794760"/>
            <a:ext cx="4206240" cy="914400"/>
          </a:xfrm>
          <a:prstGeom prst="rect">
            <a:avLst/>
          </a:prstGeom>
          <a:noFill/>
          <a:ln/>
        </p:spPr>
        <p:txBody>
          <a:bodyPr wrap="square" lIns="0" tIns="0" rIns="0" bIns="0" rtlCol="0" anchor="ctr"/>
          <a:lstStyle/>
          <a:p>
            <a:pPr indent="0" marL="0">
              <a:buNone/>
            </a:pPr>
            <a:r>
              <a:rPr lang="en-US" sz="1600" i="1" dirty="0">
                <a:solidFill>
                  <a:srgbClr val="1A1A1A"/>
                </a:solidFill>
                <a:latin typeface="Georgia" pitchFamily="34" charset="0"/>
                <a:ea typeface="Georgia" pitchFamily="34" charset="-122"/>
                <a:cs typeface="Georgia" pitchFamily="34" charset="-120"/>
              </a:rPr>
              <a:t>No known medical history to date.</a:t>
            </a:r>
            <a:endParaRPr lang="en-US" sz="1600" dirty="0"/>
          </a:p>
        </p:txBody>
      </p:sp>
      <p:sp>
        <p:nvSpPr>
          <p:cNvPr id="13" name="Text 11"/>
          <p:cNvSpPr/>
          <p:nvPr/>
        </p:nvSpPr>
        <p:spPr>
          <a:xfrm>
            <a:off x="6309360" y="3383280"/>
            <a:ext cx="1188720" cy="1188720"/>
          </a:xfrm>
          <a:prstGeom prst="rect">
            <a:avLst/>
          </a:prstGeom>
          <a:noFill/>
          <a:ln/>
        </p:spPr>
        <p:txBody>
          <a:bodyPr wrap="square" lIns="0" tIns="0" rIns="0" bIns="0" rtlCol="0" anchor="ctr"/>
          <a:lstStyle/>
          <a:p>
            <a:pPr indent="0" marL="0">
              <a:buNone/>
            </a:pPr>
            <a:r>
              <a:rPr lang="en-US" sz="6000" b="1" i="1" dirty="0">
                <a:solidFill>
                  <a:srgbClr val="B8893E"/>
                </a:solidFill>
                <a:latin typeface="Georgia" pitchFamily="34" charset="0"/>
                <a:ea typeface="Georgia" pitchFamily="34" charset="-122"/>
                <a:cs typeface="Georgia" pitchFamily="34" charset="-120"/>
              </a:rPr>
              <a:t>II</a:t>
            </a:r>
            <a:endParaRPr lang="en-US" sz="6000" dirty="0"/>
          </a:p>
        </p:txBody>
      </p:sp>
      <p:sp>
        <p:nvSpPr>
          <p:cNvPr id="14" name="Shape 12"/>
          <p:cNvSpPr/>
          <p:nvPr/>
        </p:nvSpPr>
        <p:spPr>
          <a:xfrm>
            <a:off x="7589520" y="3474720"/>
            <a:ext cx="13716" cy="1188720"/>
          </a:xfrm>
          <a:prstGeom prst="rect">
            <a:avLst/>
          </a:prstGeom>
          <a:solidFill>
            <a:srgbClr val="1A1A1A"/>
          </a:solidFill>
          <a:ln/>
        </p:spPr>
      </p:sp>
      <p:sp>
        <p:nvSpPr>
          <p:cNvPr id="15" name="Text 13"/>
          <p:cNvSpPr/>
          <p:nvPr/>
        </p:nvSpPr>
        <p:spPr>
          <a:xfrm>
            <a:off x="7726680" y="3474720"/>
            <a:ext cx="4206240" cy="274320"/>
          </a:xfrm>
          <a:prstGeom prst="rect">
            <a:avLst/>
          </a:prstGeom>
          <a:noFill/>
          <a:ln/>
        </p:spPr>
        <p:txBody>
          <a:bodyPr wrap="square" rtlCol="0" anchor="ctr"/>
          <a:lstStyle/>
          <a:p>
            <a:pPr indent="0" marL="0">
              <a:buNone/>
            </a:pPr>
            <a:r>
              <a:rPr lang="en-US" sz="1000" b="1" spc="800" kern="0" dirty="0">
                <a:solidFill>
                  <a:srgbClr val="6B1F2E"/>
                </a:solidFill>
                <a:latin typeface="Calibri" pitchFamily="34" charset="0"/>
                <a:ea typeface="Calibri" pitchFamily="34" charset="-122"/>
                <a:cs typeface="Calibri" pitchFamily="34" charset="-120"/>
              </a:rPr>
              <a:t>DENTAL HISTORY</a:t>
            </a:r>
            <a:endParaRPr lang="en-US" sz="1000" dirty="0"/>
          </a:p>
        </p:txBody>
      </p:sp>
      <p:sp>
        <p:nvSpPr>
          <p:cNvPr id="16" name="Text 14"/>
          <p:cNvSpPr/>
          <p:nvPr/>
        </p:nvSpPr>
        <p:spPr>
          <a:xfrm>
            <a:off x="7726680" y="3794760"/>
            <a:ext cx="4206240" cy="914400"/>
          </a:xfrm>
          <a:prstGeom prst="rect">
            <a:avLst/>
          </a:prstGeom>
          <a:noFill/>
          <a:ln/>
        </p:spPr>
        <p:txBody>
          <a:bodyPr wrap="square" lIns="0" tIns="0" rIns="0" bIns="0" rtlCol="0" anchor="ctr"/>
          <a:lstStyle/>
          <a:p>
            <a:pPr indent="0" marL="0">
              <a:buNone/>
            </a:pPr>
            <a:r>
              <a:rPr lang="en-US" sz="1600" i="1" dirty="0">
                <a:solidFill>
                  <a:srgbClr val="1A1A1A"/>
                </a:solidFill>
                <a:latin typeface="Georgia" pitchFamily="34" charset="0"/>
                <a:ea typeface="Georgia" pitchFamily="34" charset="-122"/>
                <a:cs typeface="Georgia" pitchFamily="34" charset="-120"/>
              </a:rPr>
              <a:t>Restorations on upper right and upper left back teeth.</a:t>
            </a:r>
            <a:endParaRPr lang="en-US" sz="1600" dirty="0"/>
          </a:p>
        </p:txBody>
      </p:sp>
      <p:sp>
        <p:nvSpPr>
          <p:cNvPr id="17" name="Text 15"/>
          <p:cNvSpPr/>
          <p:nvPr/>
        </p:nvSpPr>
        <p:spPr>
          <a:xfrm>
            <a:off x="457200" y="4937760"/>
            <a:ext cx="1188720" cy="1188720"/>
          </a:xfrm>
          <a:prstGeom prst="rect">
            <a:avLst/>
          </a:prstGeom>
          <a:noFill/>
          <a:ln/>
        </p:spPr>
        <p:txBody>
          <a:bodyPr wrap="square" lIns="0" tIns="0" rIns="0" bIns="0" rtlCol="0" anchor="ctr"/>
          <a:lstStyle/>
          <a:p>
            <a:pPr indent="0" marL="0">
              <a:buNone/>
            </a:pPr>
            <a:r>
              <a:rPr lang="en-US" sz="6000" b="1" i="1" dirty="0">
                <a:solidFill>
                  <a:srgbClr val="B8893E"/>
                </a:solidFill>
                <a:latin typeface="Georgia" pitchFamily="34" charset="0"/>
                <a:ea typeface="Georgia" pitchFamily="34" charset="-122"/>
                <a:cs typeface="Georgia" pitchFamily="34" charset="-120"/>
              </a:rPr>
              <a:t>III</a:t>
            </a:r>
            <a:endParaRPr lang="en-US" sz="6000" dirty="0"/>
          </a:p>
        </p:txBody>
      </p:sp>
      <p:sp>
        <p:nvSpPr>
          <p:cNvPr id="18" name="Shape 16"/>
          <p:cNvSpPr/>
          <p:nvPr/>
        </p:nvSpPr>
        <p:spPr>
          <a:xfrm>
            <a:off x="1737360" y="5029200"/>
            <a:ext cx="13716" cy="1188720"/>
          </a:xfrm>
          <a:prstGeom prst="rect">
            <a:avLst/>
          </a:prstGeom>
          <a:solidFill>
            <a:srgbClr val="1A1A1A"/>
          </a:solidFill>
          <a:ln/>
        </p:spPr>
      </p:sp>
      <p:sp>
        <p:nvSpPr>
          <p:cNvPr id="19" name="Text 17"/>
          <p:cNvSpPr/>
          <p:nvPr/>
        </p:nvSpPr>
        <p:spPr>
          <a:xfrm>
            <a:off x="1874520" y="5029200"/>
            <a:ext cx="4206240" cy="274320"/>
          </a:xfrm>
          <a:prstGeom prst="rect">
            <a:avLst/>
          </a:prstGeom>
          <a:noFill/>
          <a:ln/>
        </p:spPr>
        <p:txBody>
          <a:bodyPr wrap="square" rtlCol="0" anchor="ctr"/>
          <a:lstStyle/>
          <a:p>
            <a:pPr indent="0" marL="0">
              <a:buNone/>
            </a:pPr>
            <a:r>
              <a:rPr lang="en-US" sz="1000" b="1" spc="800" kern="0" dirty="0">
                <a:solidFill>
                  <a:srgbClr val="6B1F2E"/>
                </a:solidFill>
                <a:latin typeface="Calibri" pitchFamily="34" charset="0"/>
                <a:ea typeface="Calibri" pitchFamily="34" charset="-122"/>
                <a:cs typeface="Calibri" pitchFamily="34" charset="-120"/>
              </a:rPr>
              <a:t>FAMILY HISTORY</a:t>
            </a:r>
            <a:endParaRPr lang="en-US" sz="1000" dirty="0"/>
          </a:p>
        </p:txBody>
      </p:sp>
      <p:sp>
        <p:nvSpPr>
          <p:cNvPr id="20" name="Text 18"/>
          <p:cNvSpPr/>
          <p:nvPr/>
        </p:nvSpPr>
        <p:spPr>
          <a:xfrm>
            <a:off x="1874520" y="5349240"/>
            <a:ext cx="4206240" cy="914400"/>
          </a:xfrm>
          <a:prstGeom prst="rect">
            <a:avLst/>
          </a:prstGeom>
          <a:noFill/>
          <a:ln/>
        </p:spPr>
        <p:txBody>
          <a:bodyPr wrap="square" lIns="0" tIns="0" rIns="0" bIns="0" rtlCol="0" anchor="ctr"/>
          <a:lstStyle/>
          <a:p>
            <a:pPr indent="0" marL="0">
              <a:buNone/>
            </a:pPr>
            <a:r>
              <a:rPr lang="en-US" sz="1600" i="1" dirty="0">
                <a:solidFill>
                  <a:srgbClr val="1A1A1A"/>
                </a:solidFill>
                <a:latin typeface="Georgia" pitchFamily="34" charset="0"/>
                <a:ea typeface="Georgia" pitchFamily="34" charset="-122"/>
                <a:cs typeface="Georgia" pitchFamily="34" charset="-120"/>
              </a:rPr>
              <a:t>Mother diagnosed with hypertension.</a:t>
            </a:r>
            <a:endParaRPr lang="en-US" sz="1600" dirty="0"/>
          </a:p>
        </p:txBody>
      </p:sp>
      <p:sp>
        <p:nvSpPr>
          <p:cNvPr id="21" name="Text 19"/>
          <p:cNvSpPr/>
          <p:nvPr/>
        </p:nvSpPr>
        <p:spPr>
          <a:xfrm>
            <a:off x="6309360" y="4937760"/>
            <a:ext cx="1188720" cy="1188720"/>
          </a:xfrm>
          <a:prstGeom prst="rect">
            <a:avLst/>
          </a:prstGeom>
          <a:noFill/>
          <a:ln/>
        </p:spPr>
        <p:txBody>
          <a:bodyPr wrap="square" lIns="0" tIns="0" rIns="0" bIns="0" rtlCol="0" anchor="ctr"/>
          <a:lstStyle/>
          <a:p>
            <a:pPr indent="0" marL="0">
              <a:buNone/>
            </a:pPr>
            <a:r>
              <a:rPr lang="en-US" sz="6000" b="1" i="1" dirty="0">
                <a:solidFill>
                  <a:srgbClr val="B8893E"/>
                </a:solidFill>
                <a:latin typeface="Georgia" pitchFamily="34" charset="0"/>
                <a:ea typeface="Georgia" pitchFamily="34" charset="-122"/>
                <a:cs typeface="Georgia" pitchFamily="34" charset="-120"/>
              </a:rPr>
              <a:t>IV</a:t>
            </a:r>
            <a:endParaRPr lang="en-US" sz="6000" dirty="0"/>
          </a:p>
        </p:txBody>
      </p:sp>
      <p:sp>
        <p:nvSpPr>
          <p:cNvPr id="22" name="Shape 20"/>
          <p:cNvSpPr/>
          <p:nvPr/>
        </p:nvSpPr>
        <p:spPr>
          <a:xfrm>
            <a:off x="7589520" y="5029200"/>
            <a:ext cx="13716" cy="1188720"/>
          </a:xfrm>
          <a:prstGeom prst="rect">
            <a:avLst/>
          </a:prstGeom>
          <a:solidFill>
            <a:srgbClr val="1A1A1A"/>
          </a:solidFill>
          <a:ln/>
        </p:spPr>
      </p:sp>
      <p:sp>
        <p:nvSpPr>
          <p:cNvPr id="23" name="Text 21"/>
          <p:cNvSpPr/>
          <p:nvPr/>
        </p:nvSpPr>
        <p:spPr>
          <a:xfrm>
            <a:off x="7726680" y="5029200"/>
            <a:ext cx="4206240" cy="274320"/>
          </a:xfrm>
          <a:prstGeom prst="rect">
            <a:avLst/>
          </a:prstGeom>
          <a:noFill/>
          <a:ln/>
        </p:spPr>
        <p:txBody>
          <a:bodyPr wrap="square" rtlCol="0" anchor="ctr"/>
          <a:lstStyle/>
          <a:p>
            <a:pPr indent="0" marL="0">
              <a:buNone/>
            </a:pPr>
            <a:r>
              <a:rPr lang="en-US" sz="1000" b="1" spc="800" kern="0" dirty="0">
                <a:solidFill>
                  <a:srgbClr val="6B1F2E"/>
                </a:solidFill>
                <a:latin typeface="Calibri" pitchFamily="34" charset="0"/>
                <a:ea typeface="Calibri" pitchFamily="34" charset="-122"/>
                <a:cs typeface="Calibri" pitchFamily="34" charset="-120"/>
              </a:rPr>
              <a:t>SOCIAL HISTORY</a:t>
            </a:r>
            <a:endParaRPr lang="en-US" sz="1000" dirty="0"/>
          </a:p>
        </p:txBody>
      </p:sp>
      <p:sp>
        <p:nvSpPr>
          <p:cNvPr id="24" name="Text 22"/>
          <p:cNvSpPr/>
          <p:nvPr/>
        </p:nvSpPr>
        <p:spPr>
          <a:xfrm>
            <a:off x="7726680" y="5349240"/>
            <a:ext cx="4206240" cy="914400"/>
          </a:xfrm>
          <a:prstGeom prst="rect">
            <a:avLst/>
          </a:prstGeom>
          <a:noFill/>
          <a:ln/>
        </p:spPr>
        <p:txBody>
          <a:bodyPr wrap="square" lIns="0" tIns="0" rIns="0" bIns="0" rtlCol="0" anchor="ctr"/>
          <a:lstStyle/>
          <a:p>
            <a:pPr indent="0" marL="0">
              <a:buNone/>
            </a:pPr>
            <a:r>
              <a:rPr lang="en-US" sz="1600" i="1" dirty="0">
                <a:solidFill>
                  <a:srgbClr val="1A1A1A"/>
                </a:solidFill>
                <a:latin typeface="Georgia" pitchFamily="34" charset="0"/>
                <a:ea typeface="Georgia" pitchFamily="34" charset="-122"/>
                <a:cs typeface="Georgia" pitchFamily="34" charset="-120"/>
              </a:rPr>
              <a:t>Brushes from time to time with poor technique (horizontal scrubbing). No flossing or mouthwash use. Frequent sweet tea throughout the workday.</a:t>
            </a:r>
            <a:endParaRPr lang="en-US" sz="1600" dirty="0"/>
          </a:p>
        </p:txBody>
      </p:sp>
      <p:sp>
        <p:nvSpPr>
          <p:cNvPr id="25" name="Shape 23"/>
          <p:cNvSpPr/>
          <p:nvPr/>
        </p:nvSpPr>
        <p:spPr>
          <a:xfrm>
            <a:off x="457200" y="6492240"/>
            <a:ext cx="11247120" cy="13716"/>
          </a:xfrm>
          <a:prstGeom prst="rect">
            <a:avLst/>
          </a:prstGeom>
          <a:solidFill>
            <a:srgbClr val="1A1A1A"/>
          </a:solidFill>
          <a:ln/>
        </p:spPr>
      </p:sp>
      <p:sp>
        <p:nvSpPr>
          <p:cNvPr id="26" name="Text 24"/>
          <p:cNvSpPr/>
          <p:nvPr/>
        </p:nvSpPr>
        <p:spPr>
          <a:xfrm>
            <a:off x="457200" y="6565392"/>
            <a:ext cx="8686800" cy="228600"/>
          </a:xfrm>
          <a:prstGeom prst="rect">
            <a:avLst/>
          </a:prstGeom>
          <a:noFill/>
          <a:ln/>
        </p:spPr>
        <p:txBody>
          <a:bodyPr wrap="square" rtlCol="0" anchor="ctr"/>
          <a:lstStyle/>
          <a:p>
            <a:pPr indent="0" marL="0">
              <a:buNone/>
            </a:pPr>
            <a:r>
              <a:rPr lang="en-US" sz="800" i="1" spc="400" kern="0" dirty="0">
                <a:solidFill>
                  <a:srgbClr val="5C4F3A"/>
                </a:solidFill>
                <a:latin typeface="Calibri" pitchFamily="34" charset="0"/>
                <a:ea typeface="Calibri" pitchFamily="34" charset="-122"/>
                <a:cs typeface="Calibri" pitchFamily="34" charset="-120"/>
              </a:rPr>
              <a:t>IBRAHIM ALSHAHRANI · 2110301  ·  M. HANASH · M140426001</a:t>
            </a:r>
            <a:endParaRPr lang="en-US" sz="800" dirty="0"/>
          </a:p>
        </p:txBody>
      </p:sp>
      <p:sp>
        <p:nvSpPr>
          <p:cNvPr id="27" name="Text 25"/>
          <p:cNvSpPr/>
          <p:nvPr/>
        </p:nvSpPr>
        <p:spPr>
          <a:xfrm>
            <a:off x="9418320" y="6565392"/>
            <a:ext cx="2286000" cy="228600"/>
          </a:xfrm>
          <a:prstGeom prst="rect">
            <a:avLst/>
          </a:prstGeom>
          <a:noFill/>
          <a:ln/>
        </p:spPr>
        <p:txBody>
          <a:bodyPr wrap="square" rtlCol="0" anchor="ctr"/>
          <a:lstStyle/>
          <a:p>
            <a:pPr algn="r" indent="0" marL="0">
              <a:buNone/>
            </a:pPr>
            <a:r>
              <a:rPr lang="en-US" sz="800" b="1" spc="600" kern="0" dirty="0">
                <a:solidFill>
                  <a:srgbClr val="5C4F3A"/>
                </a:solidFill>
                <a:latin typeface="Calibri" pitchFamily="34" charset="0"/>
                <a:ea typeface="Calibri" pitchFamily="34" charset="-122"/>
                <a:cs typeface="Calibri" pitchFamily="34" charset="-120"/>
              </a:rPr>
              <a:t>PAGE  04  /  16</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EDE0"/>
        </a:solidFill>
      </p:bgPr>
    </p:bg>
    <p:spTree>
      <p:nvGrpSpPr>
        <p:cNvPr id="1" name=""/>
        <p:cNvGrpSpPr/>
        <p:nvPr/>
      </p:nvGrpSpPr>
      <p:grpSpPr>
        <a:xfrm>
          <a:off x="0" y="0"/>
          <a:ext cx="0" cy="0"/>
          <a:chOff x="0" y="0"/>
          <a:chExt cx="0" cy="0"/>
        </a:xfrm>
      </p:grpSpPr>
      <p:sp>
        <p:nvSpPr>
          <p:cNvPr id="2" name="Shape 0"/>
          <p:cNvSpPr/>
          <p:nvPr/>
        </p:nvSpPr>
        <p:spPr>
          <a:xfrm>
            <a:off x="457200" y="457200"/>
            <a:ext cx="11247120" cy="13716"/>
          </a:xfrm>
          <a:prstGeom prst="rect">
            <a:avLst/>
          </a:prstGeom>
          <a:solidFill>
            <a:srgbClr val="1A1A1A"/>
          </a:solidFill>
          <a:ln/>
        </p:spPr>
      </p:sp>
      <p:sp>
        <p:nvSpPr>
          <p:cNvPr id="3" name="Text 1"/>
          <p:cNvSpPr/>
          <p:nvPr/>
        </p:nvSpPr>
        <p:spPr>
          <a:xfrm>
            <a:off x="457200" y="548640"/>
            <a:ext cx="5486400" cy="274320"/>
          </a:xfrm>
          <a:prstGeom prst="rect">
            <a:avLst/>
          </a:prstGeom>
          <a:noFill/>
          <a:ln/>
        </p:spPr>
        <p:txBody>
          <a:bodyPr wrap="square" rtlCol="0" anchor="ctr"/>
          <a:lstStyle/>
          <a:p>
            <a:pPr indent="0" marL="0">
              <a:buNone/>
            </a:pPr>
            <a:r>
              <a:rPr lang="en-US" sz="900" b="1" spc="800" kern="0" dirty="0">
                <a:solidFill>
                  <a:srgbClr val="5C4F3A"/>
                </a:solidFill>
                <a:latin typeface="Calibri" pitchFamily="34" charset="0"/>
                <a:ea typeface="Calibri" pitchFamily="34" charset="-122"/>
                <a:cs typeface="Calibri" pitchFamily="34" charset="-120"/>
              </a:rPr>
              <a:t>GENERAL EXAMINATION</a:t>
            </a:r>
            <a:endParaRPr lang="en-US" sz="900" dirty="0"/>
          </a:p>
        </p:txBody>
      </p:sp>
      <p:sp>
        <p:nvSpPr>
          <p:cNvPr id="4" name="Text 2"/>
          <p:cNvSpPr/>
          <p:nvPr/>
        </p:nvSpPr>
        <p:spPr>
          <a:xfrm>
            <a:off x="6217920" y="548640"/>
            <a:ext cx="5486400" cy="274320"/>
          </a:xfrm>
          <a:prstGeom prst="rect">
            <a:avLst/>
          </a:prstGeom>
          <a:noFill/>
          <a:ln/>
        </p:spPr>
        <p:txBody>
          <a:bodyPr wrap="square" rtlCol="0" anchor="ctr"/>
          <a:lstStyle/>
          <a:p>
            <a:pPr algn="r" indent="0" marL="0">
              <a:buNone/>
            </a:pPr>
            <a:r>
              <a:rPr lang="en-US" sz="900" b="1" spc="800" kern="0" dirty="0">
                <a:solidFill>
                  <a:srgbClr val="5C4F3A"/>
                </a:solidFill>
                <a:latin typeface="Calibri" pitchFamily="34" charset="0"/>
                <a:ea typeface="Calibri" pitchFamily="34" charset="-122"/>
                <a:cs typeface="Calibri" pitchFamily="34" charset="-120"/>
              </a:rPr>
              <a:t>CASE PRESENTATION</a:t>
            </a:r>
            <a:endParaRPr lang="en-US" sz="900" dirty="0"/>
          </a:p>
        </p:txBody>
      </p:sp>
      <p:sp>
        <p:nvSpPr>
          <p:cNvPr id="5" name="Text 3"/>
          <p:cNvSpPr/>
          <p:nvPr/>
        </p:nvSpPr>
        <p:spPr>
          <a:xfrm>
            <a:off x="457200" y="914400"/>
            <a:ext cx="5486400" cy="868680"/>
          </a:xfrm>
          <a:prstGeom prst="rect">
            <a:avLst/>
          </a:prstGeom>
          <a:noFill/>
          <a:ln/>
        </p:spPr>
        <p:txBody>
          <a:bodyPr wrap="square" lIns="0" tIns="0" rIns="0" bIns="0" rtlCol="0" anchor="ctr"/>
          <a:lstStyle/>
          <a:p>
            <a:pPr indent="0" marL="0">
              <a:buNone/>
            </a:pPr>
            <a:r>
              <a:rPr lang="en-US" sz="5600" i="1" dirty="0">
                <a:solidFill>
                  <a:srgbClr val="1A1A1A"/>
                </a:solidFill>
                <a:latin typeface="Georgia" pitchFamily="34" charset="0"/>
                <a:ea typeface="Georgia" pitchFamily="34" charset="-122"/>
                <a:cs typeface="Georgia" pitchFamily="34" charset="-120"/>
              </a:rPr>
              <a:t>General</a:t>
            </a:r>
            <a:endParaRPr lang="en-US" sz="5600" dirty="0"/>
          </a:p>
        </p:txBody>
      </p:sp>
      <p:sp>
        <p:nvSpPr>
          <p:cNvPr id="6" name="Text 4"/>
          <p:cNvSpPr/>
          <p:nvPr/>
        </p:nvSpPr>
        <p:spPr>
          <a:xfrm>
            <a:off x="457200" y="1691640"/>
            <a:ext cx="7315200" cy="1005840"/>
          </a:xfrm>
          <a:prstGeom prst="rect">
            <a:avLst/>
          </a:prstGeom>
          <a:noFill/>
          <a:ln/>
        </p:spPr>
        <p:txBody>
          <a:bodyPr wrap="square" lIns="0" tIns="0" rIns="0" bIns="0" rtlCol="0" anchor="ctr"/>
          <a:lstStyle/>
          <a:p>
            <a:pPr indent="0" marL="0">
              <a:buNone/>
            </a:pPr>
            <a:r>
              <a:rPr lang="en-US" sz="7200" b="1" i="1" dirty="0">
                <a:solidFill>
                  <a:srgbClr val="6B1F2E"/>
                </a:solidFill>
                <a:latin typeface="Georgia" pitchFamily="34" charset="0"/>
                <a:ea typeface="Georgia" pitchFamily="34" charset="-122"/>
                <a:cs typeface="Georgia" pitchFamily="34" charset="-120"/>
              </a:rPr>
              <a:t>appearance.</a:t>
            </a:r>
            <a:endParaRPr lang="en-US" sz="7200" dirty="0"/>
          </a:p>
        </p:txBody>
      </p:sp>
      <p:sp>
        <p:nvSpPr>
          <p:cNvPr id="7" name="Shape 5"/>
          <p:cNvSpPr/>
          <p:nvPr/>
        </p:nvSpPr>
        <p:spPr>
          <a:xfrm>
            <a:off x="457200" y="2697480"/>
            <a:ext cx="731520" cy="36576"/>
          </a:xfrm>
          <a:prstGeom prst="rect">
            <a:avLst/>
          </a:prstGeom>
          <a:solidFill>
            <a:srgbClr val="B8893E"/>
          </a:solidFill>
          <a:ln/>
        </p:spPr>
      </p:sp>
      <p:sp>
        <p:nvSpPr>
          <p:cNvPr id="8" name="Text 6"/>
          <p:cNvSpPr/>
          <p:nvPr/>
        </p:nvSpPr>
        <p:spPr>
          <a:xfrm>
            <a:off x="7772400" y="1280160"/>
            <a:ext cx="3931920" cy="640080"/>
          </a:xfrm>
          <a:prstGeom prst="rect">
            <a:avLst/>
          </a:prstGeom>
          <a:noFill/>
          <a:ln/>
        </p:spPr>
        <p:txBody>
          <a:bodyPr wrap="square" lIns="0" tIns="0" rIns="0" bIns="0" rtlCol="0" anchor="ctr"/>
          <a:lstStyle/>
          <a:p>
            <a:pPr indent="0" marL="0">
              <a:buNone/>
            </a:pPr>
            <a:r>
              <a:rPr lang="en-US" sz="1300" i="1" dirty="0">
                <a:solidFill>
                  <a:srgbClr val="5C4F3A"/>
                </a:solidFill>
                <a:latin typeface="Georgia" pitchFamily="34" charset="0"/>
                <a:ea typeface="Georgia" pitchFamily="34" charset="-122"/>
                <a:cs typeface="Georgia" pitchFamily="34" charset="-120"/>
              </a:rPr>
              <a:t>The patient appears generally well, with no acute distress.</a:t>
            </a:r>
            <a:endParaRPr lang="en-US" sz="1300" dirty="0"/>
          </a:p>
        </p:txBody>
      </p:sp>
      <p:sp>
        <p:nvSpPr>
          <p:cNvPr id="9" name="Text 7"/>
          <p:cNvSpPr/>
          <p:nvPr/>
        </p:nvSpPr>
        <p:spPr>
          <a:xfrm>
            <a:off x="7772400" y="1965960"/>
            <a:ext cx="3931920" cy="365760"/>
          </a:xfrm>
          <a:prstGeom prst="rect">
            <a:avLst/>
          </a:prstGeom>
          <a:noFill/>
          <a:ln/>
        </p:spPr>
        <p:txBody>
          <a:bodyPr wrap="square" lIns="0" tIns="0" rIns="0" bIns="0" rtlCol="0" anchor="ctr"/>
          <a:lstStyle/>
          <a:p>
            <a:pPr indent="0" marL="0">
              <a:buNone/>
            </a:pPr>
            <a:r>
              <a:rPr lang="en-US" sz="1200" b="1" i="1" dirty="0">
                <a:solidFill>
                  <a:srgbClr val="B8893E"/>
                </a:solidFill>
                <a:latin typeface="Georgia" pitchFamily="34" charset="0"/>
                <a:ea typeface="Georgia" pitchFamily="34" charset="-122"/>
                <a:cs typeface="Georgia" pitchFamily="34" charset="-120"/>
              </a:rPr>
              <a:t>All vital signs within normal range.</a:t>
            </a:r>
            <a:endParaRPr lang="en-US" sz="1200" dirty="0"/>
          </a:p>
        </p:txBody>
      </p:sp>
      <p:sp>
        <p:nvSpPr>
          <p:cNvPr id="10" name="Shape 8"/>
          <p:cNvSpPr/>
          <p:nvPr/>
        </p:nvSpPr>
        <p:spPr>
          <a:xfrm>
            <a:off x="457200" y="3063240"/>
            <a:ext cx="11247120" cy="13716"/>
          </a:xfrm>
          <a:prstGeom prst="rect">
            <a:avLst/>
          </a:prstGeom>
          <a:solidFill>
            <a:srgbClr val="1A1A1A"/>
          </a:solidFill>
          <a:ln/>
        </p:spPr>
      </p:sp>
      <p:sp>
        <p:nvSpPr>
          <p:cNvPr id="11" name="Text 9"/>
          <p:cNvSpPr/>
          <p:nvPr/>
        </p:nvSpPr>
        <p:spPr>
          <a:xfrm>
            <a:off x="457200" y="3246120"/>
            <a:ext cx="731520" cy="548640"/>
          </a:xfrm>
          <a:prstGeom prst="rect">
            <a:avLst/>
          </a:prstGeom>
          <a:noFill/>
          <a:ln/>
        </p:spPr>
        <p:txBody>
          <a:bodyPr wrap="square" lIns="0" tIns="0" rIns="0" bIns="0" rtlCol="0" anchor="ctr"/>
          <a:lstStyle/>
          <a:p>
            <a:pPr indent="0" marL="0">
              <a:buNone/>
            </a:pPr>
            <a:r>
              <a:rPr lang="en-US" sz="2600" b="1" i="1" dirty="0">
                <a:solidFill>
                  <a:srgbClr val="B8893E"/>
                </a:solidFill>
                <a:latin typeface="Georgia" pitchFamily="34" charset="0"/>
                <a:ea typeface="Georgia" pitchFamily="34" charset="-122"/>
                <a:cs typeface="Georgia" pitchFamily="34" charset="-120"/>
              </a:rPr>
              <a:t>01</a:t>
            </a:r>
            <a:endParaRPr lang="en-US" sz="2600" dirty="0"/>
          </a:p>
        </p:txBody>
      </p:sp>
      <p:sp>
        <p:nvSpPr>
          <p:cNvPr id="12" name="Text 10"/>
          <p:cNvSpPr/>
          <p:nvPr/>
        </p:nvSpPr>
        <p:spPr>
          <a:xfrm>
            <a:off x="1097280" y="3291840"/>
            <a:ext cx="3108960" cy="274320"/>
          </a:xfrm>
          <a:prstGeom prst="rect">
            <a:avLst/>
          </a:prstGeom>
          <a:noFill/>
          <a:ln/>
        </p:spPr>
        <p:txBody>
          <a:bodyPr wrap="square" rtlCol="0" anchor="ctr"/>
          <a:lstStyle/>
          <a:p>
            <a:pPr indent="0" marL="0">
              <a:buNone/>
            </a:pPr>
            <a:r>
              <a:rPr lang="en-US" sz="900" b="1" spc="600" kern="0" dirty="0">
                <a:solidFill>
                  <a:srgbClr val="6B1F2E"/>
                </a:solidFill>
                <a:latin typeface="Calibri" pitchFamily="34" charset="0"/>
                <a:ea typeface="Calibri" pitchFamily="34" charset="-122"/>
                <a:cs typeface="Calibri" pitchFamily="34" charset="-120"/>
              </a:rPr>
              <a:t>MENTAL STATUS</a:t>
            </a:r>
            <a:endParaRPr lang="en-US" sz="900" dirty="0"/>
          </a:p>
        </p:txBody>
      </p:sp>
      <p:sp>
        <p:nvSpPr>
          <p:cNvPr id="13" name="Text 11"/>
          <p:cNvSpPr/>
          <p:nvPr/>
        </p:nvSpPr>
        <p:spPr>
          <a:xfrm>
            <a:off x="1097280" y="3538728"/>
            <a:ext cx="3108960" cy="914400"/>
          </a:xfrm>
          <a:prstGeom prst="rect">
            <a:avLst/>
          </a:prstGeom>
          <a:noFill/>
          <a:ln/>
        </p:spPr>
        <p:txBody>
          <a:bodyPr wrap="square" lIns="0" tIns="0" rIns="0" bIns="0" rtlCol="0" anchor="ctr"/>
          <a:lstStyle/>
          <a:p>
            <a:pPr indent="0" marL="0">
              <a:buNone/>
            </a:pPr>
            <a:r>
              <a:rPr lang="en-US" sz="1200" i="1" dirty="0">
                <a:solidFill>
                  <a:srgbClr val="1A1A1A"/>
                </a:solidFill>
                <a:latin typeface="Georgia" pitchFamily="34" charset="0"/>
                <a:ea typeface="Georgia" pitchFamily="34" charset="-122"/>
                <a:cs typeface="Georgia" pitchFamily="34" charset="-120"/>
              </a:rPr>
              <a:t>Conscious, alert, and oriented to time, place and person.</a:t>
            </a:r>
            <a:endParaRPr lang="en-US" sz="1200" dirty="0"/>
          </a:p>
        </p:txBody>
      </p:sp>
      <p:sp>
        <p:nvSpPr>
          <p:cNvPr id="14" name="Text 12"/>
          <p:cNvSpPr/>
          <p:nvPr/>
        </p:nvSpPr>
        <p:spPr>
          <a:xfrm>
            <a:off x="4251960" y="3246120"/>
            <a:ext cx="731520" cy="548640"/>
          </a:xfrm>
          <a:prstGeom prst="rect">
            <a:avLst/>
          </a:prstGeom>
          <a:noFill/>
          <a:ln/>
        </p:spPr>
        <p:txBody>
          <a:bodyPr wrap="square" lIns="0" tIns="0" rIns="0" bIns="0" rtlCol="0" anchor="ctr"/>
          <a:lstStyle/>
          <a:p>
            <a:pPr indent="0" marL="0">
              <a:buNone/>
            </a:pPr>
            <a:r>
              <a:rPr lang="en-US" sz="2600" b="1" i="1" dirty="0">
                <a:solidFill>
                  <a:srgbClr val="B8893E"/>
                </a:solidFill>
                <a:latin typeface="Georgia" pitchFamily="34" charset="0"/>
                <a:ea typeface="Georgia" pitchFamily="34" charset="-122"/>
                <a:cs typeface="Georgia" pitchFamily="34" charset="-120"/>
              </a:rPr>
              <a:t>02</a:t>
            </a:r>
            <a:endParaRPr lang="en-US" sz="2600" dirty="0"/>
          </a:p>
        </p:txBody>
      </p:sp>
      <p:sp>
        <p:nvSpPr>
          <p:cNvPr id="15" name="Text 13"/>
          <p:cNvSpPr/>
          <p:nvPr/>
        </p:nvSpPr>
        <p:spPr>
          <a:xfrm>
            <a:off x="4892040" y="3291840"/>
            <a:ext cx="3108960" cy="274320"/>
          </a:xfrm>
          <a:prstGeom prst="rect">
            <a:avLst/>
          </a:prstGeom>
          <a:noFill/>
          <a:ln/>
        </p:spPr>
        <p:txBody>
          <a:bodyPr wrap="square" rtlCol="0" anchor="ctr"/>
          <a:lstStyle/>
          <a:p>
            <a:pPr indent="0" marL="0">
              <a:buNone/>
            </a:pPr>
            <a:r>
              <a:rPr lang="en-US" sz="900" b="1" spc="600" kern="0" dirty="0">
                <a:solidFill>
                  <a:srgbClr val="6B1F2E"/>
                </a:solidFill>
                <a:latin typeface="Calibri" pitchFamily="34" charset="0"/>
                <a:ea typeface="Calibri" pitchFamily="34" charset="-122"/>
                <a:cs typeface="Calibri" pitchFamily="34" charset="-120"/>
              </a:rPr>
              <a:t>BUILD &amp; NOURISHMENT</a:t>
            </a:r>
            <a:endParaRPr lang="en-US" sz="900" dirty="0"/>
          </a:p>
        </p:txBody>
      </p:sp>
      <p:sp>
        <p:nvSpPr>
          <p:cNvPr id="16" name="Text 14"/>
          <p:cNvSpPr/>
          <p:nvPr/>
        </p:nvSpPr>
        <p:spPr>
          <a:xfrm>
            <a:off x="4892040" y="3538728"/>
            <a:ext cx="3108960" cy="914400"/>
          </a:xfrm>
          <a:prstGeom prst="rect">
            <a:avLst/>
          </a:prstGeom>
          <a:noFill/>
          <a:ln/>
        </p:spPr>
        <p:txBody>
          <a:bodyPr wrap="square" lIns="0" tIns="0" rIns="0" bIns="0" rtlCol="0" anchor="ctr"/>
          <a:lstStyle/>
          <a:p>
            <a:pPr indent="0" marL="0">
              <a:buNone/>
            </a:pPr>
            <a:r>
              <a:rPr lang="en-US" sz="1200" i="1" dirty="0">
                <a:solidFill>
                  <a:srgbClr val="1A1A1A"/>
                </a:solidFill>
                <a:latin typeface="Georgia" pitchFamily="34" charset="0"/>
                <a:ea typeface="Georgia" pitchFamily="34" charset="-122"/>
                <a:cs typeface="Georgia" pitchFamily="34" charset="-120"/>
              </a:rPr>
              <a:t>Average build, well nourished and well groomed.</a:t>
            </a:r>
            <a:endParaRPr lang="en-US" sz="1200" dirty="0"/>
          </a:p>
        </p:txBody>
      </p:sp>
      <p:sp>
        <p:nvSpPr>
          <p:cNvPr id="17" name="Text 15"/>
          <p:cNvSpPr/>
          <p:nvPr/>
        </p:nvSpPr>
        <p:spPr>
          <a:xfrm>
            <a:off x="8046720" y="3246120"/>
            <a:ext cx="731520" cy="548640"/>
          </a:xfrm>
          <a:prstGeom prst="rect">
            <a:avLst/>
          </a:prstGeom>
          <a:noFill/>
          <a:ln/>
        </p:spPr>
        <p:txBody>
          <a:bodyPr wrap="square" lIns="0" tIns="0" rIns="0" bIns="0" rtlCol="0" anchor="ctr"/>
          <a:lstStyle/>
          <a:p>
            <a:pPr indent="0" marL="0">
              <a:buNone/>
            </a:pPr>
            <a:r>
              <a:rPr lang="en-US" sz="2600" b="1" i="1" dirty="0">
                <a:solidFill>
                  <a:srgbClr val="B8893E"/>
                </a:solidFill>
                <a:latin typeface="Georgia" pitchFamily="34" charset="0"/>
                <a:ea typeface="Georgia" pitchFamily="34" charset="-122"/>
                <a:cs typeface="Georgia" pitchFamily="34" charset="-120"/>
              </a:rPr>
              <a:t>03</a:t>
            </a:r>
            <a:endParaRPr lang="en-US" sz="2600" dirty="0"/>
          </a:p>
        </p:txBody>
      </p:sp>
      <p:sp>
        <p:nvSpPr>
          <p:cNvPr id="18" name="Text 16"/>
          <p:cNvSpPr/>
          <p:nvPr/>
        </p:nvSpPr>
        <p:spPr>
          <a:xfrm>
            <a:off x="8686800" y="3291840"/>
            <a:ext cx="3108960" cy="274320"/>
          </a:xfrm>
          <a:prstGeom prst="rect">
            <a:avLst/>
          </a:prstGeom>
          <a:noFill/>
          <a:ln/>
        </p:spPr>
        <p:txBody>
          <a:bodyPr wrap="square" rtlCol="0" anchor="ctr"/>
          <a:lstStyle/>
          <a:p>
            <a:pPr indent="0" marL="0">
              <a:buNone/>
            </a:pPr>
            <a:r>
              <a:rPr lang="en-US" sz="900" b="1" spc="600" kern="0" dirty="0">
                <a:solidFill>
                  <a:srgbClr val="6B1F2E"/>
                </a:solidFill>
                <a:latin typeface="Calibri" pitchFamily="34" charset="0"/>
                <a:ea typeface="Calibri" pitchFamily="34" charset="-122"/>
                <a:cs typeface="Calibri" pitchFamily="34" charset="-120"/>
              </a:rPr>
              <a:t>GAIT</a:t>
            </a:r>
            <a:endParaRPr lang="en-US" sz="900" dirty="0"/>
          </a:p>
        </p:txBody>
      </p:sp>
      <p:sp>
        <p:nvSpPr>
          <p:cNvPr id="19" name="Text 17"/>
          <p:cNvSpPr/>
          <p:nvPr/>
        </p:nvSpPr>
        <p:spPr>
          <a:xfrm>
            <a:off x="8686800" y="3538728"/>
            <a:ext cx="3108960" cy="914400"/>
          </a:xfrm>
          <a:prstGeom prst="rect">
            <a:avLst/>
          </a:prstGeom>
          <a:noFill/>
          <a:ln/>
        </p:spPr>
        <p:txBody>
          <a:bodyPr wrap="square" lIns="0" tIns="0" rIns="0" bIns="0" rtlCol="0" anchor="ctr"/>
          <a:lstStyle/>
          <a:p>
            <a:pPr indent="0" marL="0">
              <a:buNone/>
            </a:pPr>
            <a:r>
              <a:rPr lang="en-US" sz="1200" i="1" dirty="0">
                <a:solidFill>
                  <a:srgbClr val="1A1A1A"/>
                </a:solidFill>
                <a:latin typeface="Georgia" pitchFamily="34" charset="0"/>
                <a:ea typeface="Georgia" pitchFamily="34" charset="-122"/>
                <a:cs typeface="Georgia" pitchFamily="34" charset="-120"/>
              </a:rPr>
              <a:t>Steady and well-coordinated. No apparent distress.</a:t>
            </a:r>
            <a:endParaRPr lang="en-US" sz="1200" dirty="0"/>
          </a:p>
        </p:txBody>
      </p:sp>
      <p:sp>
        <p:nvSpPr>
          <p:cNvPr id="20" name="Text 18"/>
          <p:cNvSpPr/>
          <p:nvPr/>
        </p:nvSpPr>
        <p:spPr>
          <a:xfrm>
            <a:off x="457200" y="4572000"/>
            <a:ext cx="731520" cy="548640"/>
          </a:xfrm>
          <a:prstGeom prst="rect">
            <a:avLst/>
          </a:prstGeom>
          <a:noFill/>
          <a:ln/>
        </p:spPr>
        <p:txBody>
          <a:bodyPr wrap="square" lIns="0" tIns="0" rIns="0" bIns="0" rtlCol="0" anchor="ctr"/>
          <a:lstStyle/>
          <a:p>
            <a:pPr indent="0" marL="0">
              <a:buNone/>
            </a:pPr>
            <a:r>
              <a:rPr lang="en-US" sz="2600" b="1" i="1" dirty="0">
                <a:solidFill>
                  <a:srgbClr val="B8893E"/>
                </a:solidFill>
                <a:latin typeface="Georgia" pitchFamily="34" charset="0"/>
                <a:ea typeface="Georgia" pitchFamily="34" charset="-122"/>
                <a:cs typeface="Georgia" pitchFamily="34" charset="-120"/>
              </a:rPr>
              <a:t>04</a:t>
            </a:r>
            <a:endParaRPr lang="en-US" sz="2600" dirty="0"/>
          </a:p>
        </p:txBody>
      </p:sp>
      <p:sp>
        <p:nvSpPr>
          <p:cNvPr id="21" name="Text 19"/>
          <p:cNvSpPr/>
          <p:nvPr/>
        </p:nvSpPr>
        <p:spPr>
          <a:xfrm>
            <a:off x="1097280" y="4617720"/>
            <a:ext cx="3108960" cy="274320"/>
          </a:xfrm>
          <a:prstGeom prst="rect">
            <a:avLst/>
          </a:prstGeom>
          <a:noFill/>
          <a:ln/>
        </p:spPr>
        <p:txBody>
          <a:bodyPr wrap="square" rtlCol="0" anchor="ctr"/>
          <a:lstStyle/>
          <a:p>
            <a:pPr indent="0" marL="0">
              <a:buNone/>
            </a:pPr>
            <a:r>
              <a:rPr lang="en-US" sz="900" b="1" spc="600" kern="0" dirty="0">
                <a:solidFill>
                  <a:srgbClr val="6B1F2E"/>
                </a:solidFill>
                <a:latin typeface="Calibri" pitchFamily="34" charset="0"/>
                <a:ea typeface="Calibri" pitchFamily="34" charset="-122"/>
                <a:cs typeface="Calibri" pitchFamily="34" charset="-120"/>
              </a:rPr>
              <a:t>SKIN &amp; MUCOSA</a:t>
            </a:r>
            <a:endParaRPr lang="en-US" sz="900" dirty="0"/>
          </a:p>
        </p:txBody>
      </p:sp>
      <p:sp>
        <p:nvSpPr>
          <p:cNvPr id="22" name="Text 20"/>
          <p:cNvSpPr/>
          <p:nvPr/>
        </p:nvSpPr>
        <p:spPr>
          <a:xfrm>
            <a:off x="1097280" y="4864608"/>
            <a:ext cx="3108960" cy="914400"/>
          </a:xfrm>
          <a:prstGeom prst="rect">
            <a:avLst/>
          </a:prstGeom>
          <a:noFill/>
          <a:ln/>
        </p:spPr>
        <p:txBody>
          <a:bodyPr wrap="square" lIns="0" tIns="0" rIns="0" bIns="0" rtlCol="0" anchor="ctr"/>
          <a:lstStyle/>
          <a:p>
            <a:pPr indent="0" marL="0">
              <a:buNone/>
            </a:pPr>
            <a:r>
              <a:rPr lang="en-US" sz="1200" i="1" dirty="0">
                <a:solidFill>
                  <a:srgbClr val="1A1A1A"/>
                </a:solidFill>
                <a:latin typeface="Georgia" pitchFamily="34" charset="0"/>
                <a:ea typeface="Georgia" pitchFamily="34" charset="-122"/>
                <a:cs typeface="Georgia" pitchFamily="34" charset="-120"/>
              </a:rPr>
              <a:t>Normal colour. No pallor, cyanosis, icterus, or clubbing.</a:t>
            </a:r>
            <a:endParaRPr lang="en-US" sz="1200" dirty="0"/>
          </a:p>
        </p:txBody>
      </p:sp>
      <p:sp>
        <p:nvSpPr>
          <p:cNvPr id="23" name="Text 21"/>
          <p:cNvSpPr/>
          <p:nvPr/>
        </p:nvSpPr>
        <p:spPr>
          <a:xfrm>
            <a:off x="4251960" y="4572000"/>
            <a:ext cx="731520" cy="548640"/>
          </a:xfrm>
          <a:prstGeom prst="rect">
            <a:avLst/>
          </a:prstGeom>
          <a:noFill/>
          <a:ln/>
        </p:spPr>
        <p:txBody>
          <a:bodyPr wrap="square" lIns="0" tIns="0" rIns="0" bIns="0" rtlCol="0" anchor="ctr"/>
          <a:lstStyle/>
          <a:p>
            <a:pPr indent="0" marL="0">
              <a:buNone/>
            </a:pPr>
            <a:r>
              <a:rPr lang="en-US" sz="2600" b="1" i="1" dirty="0">
                <a:solidFill>
                  <a:srgbClr val="B8893E"/>
                </a:solidFill>
                <a:latin typeface="Georgia" pitchFamily="34" charset="0"/>
                <a:ea typeface="Georgia" pitchFamily="34" charset="-122"/>
                <a:cs typeface="Georgia" pitchFamily="34" charset="-120"/>
              </a:rPr>
              <a:t>05</a:t>
            </a:r>
            <a:endParaRPr lang="en-US" sz="2600" dirty="0"/>
          </a:p>
        </p:txBody>
      </p:sp>
      <p:sp>
        <p:nvSpPr>
          <p:cNvPr id="24" name="Text 22"/>
          <p:cNvSpPr/>
          <p:nvPr/>
        </p:nvSpPr>
        <p:spPr>
          <a:xfrm>
            <a:off x="4892040" y="4617720"/>
            <a:ext cx="3108960" cy="274320"/>
          </a:xfrm>
          <a:prstGeom prst="rect">
            <a:avLst/>
          </a:prstGeom>
          <a:noFill/>
          <a:ln/>
        </p:spPr>
        <p:txBody>
          <a:bodyPr wrap="square" rtlCol="0" anchor="ctr"/>
          <a:lstStyle/>
          <a:p>
            <a:pPr indent="0" marL="0">
              <a:buNone/>
            </a:pPr>
            <a:r>
              <a:rPr lang="en-US" sz="900" b="1" spc="600" kern="0" dirty="0">
                <a:solidFill>
                  <a:srgbClr val="6B1F2E"/>
                </a:solidFill>
                <a:latin typeface="Calibri" pitchFamily="34" charset="0"/>
                <a:ea typeface="Calibri" pitchFamily="34" charset="-122"/>
                <a:cs typeface="Calibri" pitchFamily="34" charset="-120"/>
              </a:rPr>
              <a:t>COOPERATION</a:t>
            </a:r>
            <a:endParaRPr lang="en-US" sz="900" dirty="0"/>
          </a:p>
        </p:txBody>
      </p:sp>
      <p:sp>
        <p:nvSpPr>
          <p:cNvPr id="25" name="Text 23"/>
          <p:cNvSpPr/>
          <p:nvPr/>
        </p:nvSpPr>
        <p:spPr>
          <a:xfrm>
            <a:off x="4892040" y="4864608"/>
            <a:ext cx="3108960" cy="914400"/>
          </a:xfrm>
          <a:prstGeom prst="rect">
            <a:avLst/>
          </a:prstGeom>
          <a:noFill/>
          <a:ln/>
        </p:spPr>
        <p:txBody>
          <a:bodyPr wrap="square" lIns="0" tIns="0" rIns="0" bIns="0" rtlCol="0" anchor="ctr"/>
          <a:lstStyle/>
          <a:p>
            <a:pPr indent="0" marL="0">
              <a:buNone/>
            </a:pPr>
            <a:r>
              <a:rPr lang="en-US" sz="1200" i="1" dirty="0">
                <a:solidFill>
                  <a:srgbClr val="1A1A1A"/>
                </a:solidFill>
                <a:latin typeface="Georgia" pitchFamily="34" charset="0"/>
                <a:ea typeface="Georgia" pitchFamily="34" charset="-122"/>
                <a:cs typeface="Georgia" pitchFamily="34" charset="-120"/>
              </a:rPr>
              <a:t>Cooperative and communicative throughout the examination.</a:t>
            </a:r>
            <a:endParaRPr lang="en-US" sz="1200" dirty="0"/>
          </a:p>
        </p:txBody>
      </p:sp>
      <p:sp>
        <p:nvSpPr>
          <p:cNvPr id="26" name="Text 24"/>
          <p:cNvSpPr/>
          <p:nvPr/>
        </p:nvSpPr>
        <p:spPr>
          <a:xfrm>
            <a:off x="8046720" y="4572000"/>
            <a:ext cx="731520" cy="548640"/>
          </a:xfrm>
          <a:prstGeom prst="rect">
            <a:avLst/>
          </a:prstGeom>
          <a:noFill/>
          <a:ln/>
        </p:spPr>
        <p:txBody>
          <a:bodyPr wrap="square" lIns="0" tIns="0" rIns="0" bIns="0" rtlCol="0" anchor="ctr"/>
          <a:lstStyle/>
          <a:p>
            <a:pPr indent="0" marL="0">
              <a:buNone/>
            </a:pPr>
            <a:r>
              <a:rPr lang="en-US" sz="2600" b="1" i="1" dirty="0">
                <a:solidFill>
                  <a:srgbClr val="B8893E"/>
                </a:solidFill>
                <a:latin typeface="Georgia" pitchFamily="34" charset="0"/>
                <a:ea typeface="Georgia" pitchFamily="34" charset="-122"/>
                <a:cs typeface="Georgia" pitchFamily="34" charset="-120"/>
              </a:rPr>
              <a:t>06</a:t>
            </a:r>
            <a:endParaRPr lang="en-US" sz="2600" dirty="0"/>
          </a:p>
        </p:txBody>
      </p:sp>
      <p:sp>
        <p:nvSpPr>
          <p:cNvPr id="27" name="Text 25"/>
          <p:cNvSpPr/>
          <p:nvPr/>
        </p:nvSpPr>
        <p:spPr>
          <a:xfrm>
            <a:off x="8686800" y="4617720"/>
            <a:ext cx="3108960" cy="274320"/>
          </a:xfrm>
          <a:prstGeom prst="rect">
            <a:avLst/>
          </a:prstGeom>
          <a:noFill/>
          <a:ln/>
        </p:spPr>
        <p:txBody>
          <a:bodyPr wrap="square" rtlCol="0" anchor="ctr"/>
          <a:lstStyle/>
          <a:p>
            <a:pPr indent="0" marL="0">
              <a:buNone/>
            </a:pPr>
            <a:r>
              <a:rPr lang="en-US" sz="900" b="1" spc="600" kern="0" dirty="0">
                <a:solidFill>
                  <a:srgbClr val="6B1F2E"/>
                </a:solidFill>
                <a:latin typeface="Calibri" pitchFamily="34" charset="0"/>
                <a:ea typeface="Calibri" pitchFamily="34" charset="-122"/>
                <a:cs typeface="Calibri" pitchFamily="34" charset="-120"/>
              </a:rPr>
              <a:t>HYDRATION</a:t>
            </a:r>
            <a:endParaRPr lang="en-US" sz="900" dirty="0"/>
          </a:p>
        </p:txBody>
      </p:sp>
      <p:sp>
        <p:nvSpPr>
          <p:cNvPr id="28" name="Text 26"/>
          <p:cNvSpPr/>
          <p:nvPr/>
        </p:nvSpPr>
        <p:spPr>
          <a:xfrm>
            <a:off x="8686800" y="4864608"/>
            <a:ext cx="3108960" cy="914400"/>
          </a:xfrm>
          <a:prstGeom prst="rect">
            <a:avLst/>
          </a:prstGeom>
          <a:noFill/>
          <a:ln/>
        </p:spPr>
        <p:txBody>
          <a:bodyPr wrap="square" lIns="0" tIns="0" rIns="0" bIns="0" rtlCol="0" anchor="ctr"/>
          <a:lstStyle/>
          <a:p>
            <a:pPr indent="0" marL="0">
              <a:buNone/>
            </a:pPr>
            <a:r>
              <a:rPr lang="en-US" sz="1200" i="1" dirty="0">
                <a:solidFill>
                  <a:srgbClr val="1A1A1A"/>
                </a:solidFill>
                <a:latin typeface="Georgia" pitchFamily="34" charset="0"/>
                <a:ea typeface="Georgia" pitchFamily="34" charset="-122"/>
                <a:cs typeface="Georgia" pitchFamily="34" charset="-120"/>
              </a:rPr>
              <a:t>Well hydrated. Lips and oral mucosa appear moist.</a:t>
            </a:r>
            <a:endParaRPr lang="en-US" sz="1200" dirty="0"/>
          </a:p>
        </p:txBody>
      </p:sp>
      <p:sp>
        <p:nvSpPr>
          <p:cNvPr id="29" name="Shape 27"/>
          <p:cNvSpPr/>
          <p:nvPr/>
        </p:nvSpPr>
        <p:spPr>
          <a:xfrm>
            <a:off x="457200" y="5989320"/>
            <a:ext cx="11247120" cy="13716"/>
          </a:xfrm>
          <a:prstGeom prst="rect">
            <a:avLst/>
          </a:prstGeom>
          <a:solidFill>
            <a:srgbClr val="1A1A1A"/>
          </a:solidFill>
          <a:ln/>
        </p:spPr>
      </p:sp>
      <p:sp>
        <p:nvSpPr>
          <p:cNvPr id="30" name="Text 28"/>
          <p:cNvSpPr/>
          <p:nvPr/>
        </p:nvSpPr>
        <p:spPr>
          <a:xfrm>
            <a:off x="457200" y="6080760"/>
            <a:ext cx="3657600" cy="274320"/>
          </a:xfrm>
          <a:prstGeom prst="rect">
            <a:avLst/>
          </a:prstGeom>
          <a:noFill/>
          <a:ln/>
        </p:spPr>
        <p:txBody>
          <a:bodyPr wrap="square" rtlCol="0" anchor="ctr"/>
          <a:lstStyle/>
          <a:p>
            <a:pPr indent="0" marL="0">
              <a:buNone/>
            </a:pPr>
            <a:r>
              <a:rPr lang="en-US" sz="900" b="1" spc="800" kern="0" dirty="0">
                <a:solidFill>
                  <a:srgbClr val="6B1F2E"/>
                </a:solidFill>
                <a:latin typeface="Calibri" pitchFamily="34" charset="0"/>
                <a:ea typeface="Calibri" pitchFamily="34" charset="-122"/>
                <a:cs typeface="Calibri" pitchFamily="34" charset="-120"/>
              </a:rPr>
              <a:t>VITAL SIGNS</a:t>
            </a:r>
            <a:endParaRPr lang="en-US" sz="900" dirty="0"/>
          </a:p>
        </p:txBody>
      </p:sp>
      <p:sp>
        <p:nvSpPr>
          <p:cNvPr id="31" name="Text 29"/>
          <p:cNvSpPr/>
          <p:nvPr/>
        </p:nvSpPr>
        <p:spPr>
          <a:xfrm>
            <a:off x="457200" y="6309360"/>
            <a:ext cx="11247120" cy="274320"/>
          </a:xfrm>
          <a:prstGeom prst="rect">
            <a:avLst/>
          </a:prstGeom>
          <a:noFill/>
          <a:ln/>
        </p:spPr>
        <p:txBody>
          <a:bodyPr wrap="square" lIns="0" tIns="0" rIns="0" bIns="0" rtlCol="0" anchor="ctr"/>
          <a:lstStyle/>
          <a:p>
            <a:pPr indent="0" marL="0">
              <a:buNone/>
            </a:pPr>
            <a:r>
              <a:rPr lang="en-US" sz="1100" b="1" spc="200" kern="0" dirty="0">
                <a:solidFill>
                  <a:srgbClr val="5C4F3A"/>
                </a:solidFill>
                <a:latin typeface="Calibri" pitchFamily="34" charset="0"/>
                <a:ea typeface="Calibri" pitchFamily="34" charset="-122"/>
                <a:cs typeface="Calibri" pitchFamily="34" charset="-120"/>
              </a:rPr>
              <a:t>PULSE  </a:t>
            </a:r>
            <a:pPr indent="0" marL="0">
              <a:buNone/>
            </a:pPr>
            <a:r>
              <a:rPr lang="en-US" sz="1100" b="1" i="1" spc="200" kern="0" dirty="0">
                <a:solidFill>
                  <a:srgbClr val="1A1A1A"/>
                </a:solidFill>
                <a:latin typeface="Calibri" pitchFamily="34" charset="0"/>
                <a:ea typeface="Calibri" pitchFamily="34" charset="-122"/>
                <a:cs typeface="Calibri" pitchFamily="34" charset="-120"/>
              </a:rPr>
              <a:t>84 bpm</a:t>
            </a:r>
            <a:pPr indent="0" marL="0">
              <a:buNone/>
            </a:pPr>
            <a:r>
              <a:rPr lang="en-US" sz="1100" b="1" spc="200" kern="0" dirty="0">
                <a:solidFill>
                  <a:srgbClr val="5C4F3A"/>
                </a:solidFill>
                <a:latin typeface="Calibri" pitchFamily="34" charset="0"/>
                <a:ea typeface="Calibri" pitchFamily="34" charset="-122"/>
                <a:cs typeface="Calibri" pitchFamily="34" charset="-120"/>
              </a:rPr>
              <a:t>     ·     RESPIRATORY RATE  </a:t>
            </a:r>
            <a:pPr indent="0" marL="0">
              <a:buNone/>
            </a:pPr>
            <a:r>
              <a:rPr lang="en-US" sz="1100" b="1" i="1" spc="200" kern="0" dirty="0">
                <a:solidFill>
                  <a:srgbClr val="1A1A1A"/>
                </a:solidFill>
                <a:latin typeface="Calibri" pitchFamily="34" charset="0"/>
                <a:ea typeface="Calibri" pitchFamily="34" charset="-122"/>
                <a:cs typeface="Calibri" pitchFamily="34" charset="-120"/>
              </a:rPr>
              <a:t>16 / min</a:t>
            </a:r>
            <a:pPr indent="0" marL="0">
              <a:buNone/>
            </a:pPr>
            <a:r>
              <a:rPr lang="en-US" sz="1100" b="1" spc="200" kern="0" dirty="0">
                <a:solidFill>
                  <a:srgbClr val="5C4F3A"/>
                </a:solidFill>
                <a:latin typeface="Calibri" pitchFamily="34" charset="0"/>
                <a:ea typeface="Calibri" pitchFamily="34" charset="-122"/>
                <a:cs typeface="Calibri" pitchFamily="34" charset="-120"/>
              </a:rPr>
              <a:t>     ·     TEMPERATURE  </a:t>
            </a:r>
            <a:pPr indent="0" marL="0">
              <a:buNone/>
            </a:pPr>
            <a:r>
              <a:rPr lang="en-US" sz="1100" b="1" i="1" spc="200" kern="0" dirty="0">
                <a:solidFill>
                  <a:srgbClr val="1A1A1A"/>
                </a:solidFill>
                <a:latin typeface="Calibri" pitchFamily="34" charset="0"/>
                <a:ea typeface="Calibri" pitchFamily="34" charset="-122"/>
                <a:cs typeface="Calibri" pitchFamily="34" charset="-120"/>
              </a:rPr>
              <a:t>Afebrile</a:t>
            </a:r>
            <a:endParaRPr lang="en-US" sz="1100" dirty="0"/>
          </a:p>
        </p:txBody>
      </p:sp>
      <p:sp>
        <p:nvSpPr>
          <p:cNvPr id="32" name="Shape 30"/>
          <p:cNvSpPr/>
          <p:nvPr/>
        </p:nvSpPr>
        <p:spPr>
          <a:xfrm>
            <a:off x="457200" y="6492240"/>
            <a:ext cx="11247120" cy="13716"/>
          </a:xfrm>
          <a:prstGeom prst="rect">
            <a:avLst/>
          </a:prstGeom>
          <a:solidFill>
            <a:srgbClr val="1A1A1A"/>
          </a:solidFill>
          <a:ln/>
        </p:spPr>
      </p:sp>
      <p:sp>
        <p:nvSpPr>
          <p:cNvPr id="33" name="Text 31"/>
          <p:cNvSpPr/>
          <p:nvPr/>
        </p:nvSpPr>
        <p:spPr>
          <a:xfrm>
            <a:off x="457200" y="6565392"/>
            <a:ext cx="8686800" cy="228600"/>
          </a:xfrm>
          <a:prstGeom prst="rect">
            <a:avLst/>
          </a:prstGeom>
          <a:noFill/>
          <a:ln/>
        </p:spPr>
        <p:txBody>
          <a:bodyPr wrap="square" rtlCol="0" anchor="ctr"/>
          <a:lstStyle/>
          <a:p>
            <a:pPr indent="0" marL="0">
              <a:buNone/>
            </a:pPr>
            <a:r>
              <a:rPr lang="en-US" sz="800" i="1" spc="400" kern="0" dirty="0">
                <a:solidFill>
                  <a:srgbClr val="5C4F3A"/>
                </a:solidFill>
                <a:latin typeface="Calibri" pitchFamily="34" charset="0"/>
                <a:ea typeface="Calibri" pitchFamily="34" charset="-122"/>
                <a:cs typeface="Calibri" pitchFamily="34" charset="-120"/>
              </a:rPr>
              <a:t>IBRAHIM ALSHAHRANI · 2110301  ·  M. HANASH · M140426001</a:t>
            </a:r>
            <a:endParaRPr lang="en-US" sz="800" dirty="0"/>
          </a:p>
        </p:txBody>
      </p:sp>
      <p:sp>
        <p:nvSpPr>
          <p:cNvPr id="34" name="Text 32"/>
          <p:cNvSpPr/>
          <p:nvPr/>
        </p:nvSpPr>
        <p:spPr>
          <a:xfrm>
            <a:off x="9418320" y="6565392"/>
            <a:ext cx="2286000" cy="228600"/>
          </a:xfrm>
          <a:prstGeom prst="rect">
            <a:avLst/>
          </a:prstGeom>
          <a:noFill/>
          <a:ln/>
        </p:spPr>
        <p:txBody>
          <a:bodyPr wrap="square" rtlCol="0" anchor="ctr"/>
          <a:lstStyle/>
          <a:p>
            <a:pPr algn="r" indent="0" marL="0">
              <a:buNone/>
            </a:pPr>
            <a:r>
              <a:rPr lang="en-US" sz="800" b="1" spc="600" kern="0" dirty="0">
                <a:solidFill>
                  <a:srgbClr val="5C4F3A"/>
                </a:solidFill>
                <a:latin typeface="Calibri" pitchFamily="34" charset="0"/>
                <a:ea typeface="Calibri" pitchFamily="34" charset="-122"/>
                <a:cs typeface="Calibri" pitchFamily="34" charset="-120"/>
              </a:rPr>
              <a:t>PAGE  05  /  16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EDE0"/>
        </a:solidFill>
      </p:bgPr>
    </p:bg>
    <p:spTree>
      <p:nvGrpSpPr>
        <p:cNvPr id="1" name=""/>
        <p:cNvGrpSpPr/>
        <p:nvPr/>
      </p:nvGrpSpPr>
      <p:grpSpPr>
        <a:xfrm>
          <a:off x="0" y="0"/>
          <a:ext cx="0" cy="0"/>
          <a:chOff x="0" y="0"/>
          <a:chExt cx="0" cy="0"/>
        </a:xfrm>
      </p:grpSpPr>
      <p:sp>
        <p:nvSpPr>
          <p:cNvPr id="2" name="Shape 0"/>
          <p:cNvSpPr/>
          <p:nvPr/>
        </p:nvSpPr>
        <p:spPr>
          <a:xfrm>
            <a:off x="457200" y="457200"/>
            <a:ext cx="11247120" cy="13716"/>
          </a:xfrm>
          <a:prstGeom prst="rect">
            <a:avLst/>
          </a:prstGeom>
          <a:solidFill>
            <a:srgbClr val="1A1A1A"/>
          </a:solidFill>
          <a:ln/>
        </p:spPr>
      </p:sp>
      <p:sp>
        <p:nvSpPr>
          <p:cNvPr id="3" name="Text 1"/>
          <p:cNvSpPr/>
          <p:nvPr/>
        </p:nvSpPr>
        <p:spPr>
          <a:xfrm>
            <a:off x="457200" y="548640"/>
            <a:ext cx="5486400" cy="274320"/>
          </a:xfrm>
          <a:prstGeom prst="rect">
            <a:avLst/>
          </a:prstGeom>
          <a:noFill/>
          <a:ln/>
        </p:spPr>
        <p:txBody>
          <a:bodyPr wrap="square" rtlCol="0" anchor="ctr"/>
          <a:lstStyle/>
          <a:p>
            <a:pPr indent="0" marL="0">
              <a:buNone/>
            </a:pPr>
            <a:r>
              <a:rPr lang="en-US" sz="900" b="1" spc="800" kern="0" dirty="0">
                <a:solidFill>
                  <a:srgbClr val="5C4F3A"/>
                </a:solidFill>
                <a:latin typeface="Calibri" pitchFamily="34" charset="0"/>
                <a:ea typeface="Calibri" pitchFamily="34" charset="-122"/>
                <a:cs typeface="Calibri" pitchFamily="34" charset="-120"/>
              </a:rPr>
              <a:t>EXTRA-ORAL FINDINGS</a:t>
            </a:r>
            <a:endParaRPr lang="en-US" sz="900" dirty="0"/>
          </a:p>
        </p:txBody>
      </p:sp>
      <p:sp>
        <p:nvSpPr>
          <p:cNvPr id="4" name="Text 2"/>
          <p:cNvSpPr/>
          <p:nvPr/>
        </p:nvSpPr>
        <p:spPr>
          <a:xfrm>
            <a:off x="6217920" y="548640"/>
            <a:ext cx="5486400" cy="274320"/>
          </a:xfrm>
          <a:prstGeom prst="rect">
            <a:avLst/>
          </a:prstGeom>
          <a:noFill/>
          <a:ln/>
        </p:spPr>
        <p:txBody>
          <a:bodyPr wrap="square" rtlCol="0" anchor="ctr"/>
          <a:lstStyle/>
          <a:p>
            <a:pPr algn="r" indent="0" marL="0">
              <a:buNone/>
            </a:pPr>
            <a:r>
              <a:rPr lang="en-US" sz="900" b="1" spc="800" kern="0" dirty="0">
                <a:solidFill>
                  <a:srgbClr val="5C4F3A"/>
                </a:solidFill>
                <a:latin typeface="Calibri" pitchFamily="34" charset="0"/>
                <a:ea typeface="Calibri" pitchFamily="34" charset="-122"/>
                <a:cs typeface="Calibri" pitchFamily="34" charset="-120"/>
              </a:rPr>
              <a:t>CASE PRESENTATION</a:t>
            </a:r>
            <a:endParaRPr lang="en-US" sz="900" dirty="0"/>
          </a:p>
        </p:txBody>
      </p:sp>
      <p:sp>
        <p:nvSpPr>
          <p:cNvPr id="5" name="Text 3"/>
          <p:cNvSpPr/>
          <p:nvPr/>
        </p:nvSpPr>
        <p:spPr>
          <a:xfrm>
            <a:off x="457200" y="914400"/>
            <a:ext cx="4572000" cy="868680"/>
          </a:xfrm>
          <a:prstGeom prst="rect">
            <a:avLst/>
          </a:prstGeom>
          <a:noFill/>
          <a:ln/>
        </p:spPr>
        <p:txBody>
          <a:bodyPr wrap="square" lIns="0" tIns="0" rIns="0" bIns="0" rtlCol="0" anchor="ctr"/>
          <a:lstStyle/>
          <a:p>
            <a:pPr indent="0" marL="0">
              <a:buNone/>
            </a:pPr>
            <a:r>
              <a:rPr lang="en-US" sz="5600" i="1" dirty="0">
                <a:solidFill>
                  <a:srgbClr val="1A1A1A"/>
                </a:solidFill>
                <a:latin typeface="Georgia" pitchFamily="34" charset="0"/>
                <a:ea typeface="Georgia" pitchFamily="34" charset="-122"/>
                <a:cs typeface="Georgia" pitchFamily="34" charset="-120"/>
              </a:rPr>
              <a:t>On the</a:t>
            </a:r>
            <a:endParaRPr lang="en-US" sz="5600" dirty="0"/>
          </a:p>
        </p:txBody>
      </p:sp>
      <p:sp>
        <p:nvSpPr>
          <p:cNvPr id="6" name="Text 4"/>
          <p:cNvSpPr/>
          <p:nvPr/>
        </p:nvSpPr>
        <p:spPr>
          <a:xfrm>
            <a:off x="457200" y="1691640"/>
            <a:ext cx="5486400" cy="1005840"/>
          </a:xfrm>
          <a:prstGeom prst="rect">
            <a:avLst/>
          </a:prstGeom>
          <a:noFill/>
          <a:ln/>
        </p:spPr>
        <p:txBody>
          <a:bodyPr wrap="square" lIns="0" tIns="0" rIns="0" bIns="0" rtlCol="0" anchor="ctr"/>
          <a:lstStyle/>
          <a:p>
            <a:pPr indent="0" marL="0">
              <a:buNone/>
            </a:pPr>
            <a:r>
              <a:rPr lang="en-US" sz="7200" b="1" i="1" dirty="0">
                <a:solidFill>
                  <a:srgbClr val="6B1F2E"/>
                </a:solidFill>
                <a:latin typeface="Georgia" pitchFamily="34" charset="0"/>
                <a:ea typeface="Georgia" pitchFamily="34" charset="-122"/>
                <a:cs typeface="Georgia" pitchFamily="34" charset="-120"/>
              </a:rPr>
              <a:t>outside.</a:t>
            </a:r>
            <a:endParaRPr lang="en-US" sz="7200" dirty="0"/>
          </a:p>
        </p:txBody>
      </p:sp>
      <p:sp>
        <p:nvSpPr>
          <p:cNvPr id="7" name="Shape 5"/>
          <p:cNvSpPr/>
          <p:nvPr/>
        </p:nvSpPr>
        <p:spPr>
          <a:xfrm>
            <a:off x="457200" y="2697480"/>
            <a:ext cx="731520" cy="36576"/>
          </a:xfrm>
          <a:prstGeom prst="rect">
            <a:avLst/>
          </a:prstGeom>
          <a:solidFill>
            <a:srgbClr val="B8893E"/>
          </a:solidFill>
          <a:ln/>
        </p:spPr>
      </p:sp>
      <p:sp>
        <p:nvSpPr>
          <p:cNvPr id="8" name="Text 6"/>
          <p:cNvSpPr/>
          <p:nvPr/>
        </p:nvSpPr>
        <p:spPr>
          <a:xfrm>
            <a:off x="6858000" y="1280160"/>
            <a:ext cx="4846320" cy="731520"/>
          </a:xfrm>
          <a:prstGeom prst="rect">
            <a:avLst/>
          </a:prstGeom>
          <a:noFill/>
          <a:ln/>
        </p:spPr>
        <p:txBody>
          <a:bodyPr wrap="square" lIns="0" tIns="0" rIns="0" bIns="0" rtlCol="0" anchor="ctr"/>
          <a:lstStyle/>
          <a:p>
            <a:pPr indent="0" marL="0">
              <a:buNone/>
            </a:pPr>
            <a:r>
              <a:rPr lang="en-US" sz="1600" i="1" dirty="0">
                <a:solidFill>
                  <a:srgbClr val="5C4F3A"/>
                </a:solidFill>
                <a:latin typeface="Georgia" pitchFamily="34" charset="0"/>
                <a:ea typeface="Georgia" pitchFamily="34" charset="-122"/>
                <a:cs typeface="Georgia" pitchFamily="34" charset="-120"/>
              </a:rPr>
              <a:t>A complete extra-oral examination, by region.</a:t>
            </a:r>
            <a:endParaRPr lang="en-US" sz="1600" dirty="0"/>
          </a:p>
        </p:txBody>
      </p:sp>
      <p:sp>
        <p:nvSpPr>
          <p:cNvPr id="9" name="Text 7"/>
          <p:cNvSpPr/>
          <p:nvPr/>
        </p:nvSpPr>
        <p:spPr>
          <a:xfrm>
            <a:off x="6858000" y="2011680"/>
            <a:ext cx="4846320" cy="365760"/>
          </a:xfrm>
          <a:prstGeom prst="rect">
            <a:avLst/>
          </a:prstGeom>
          <a:noFill/>
          <a:ln/>
        </p:spPr>
        <p:txBody>
          <a:bodyPr wrap="square" lIns="0" tIns="0" rIns="0" bIns="0" rtlCol="0" anchor="ctr"/>
          <a:lstStyle/>
          <a:p>
            <a:pPr indent="0" marL="0">
              <a:buNone/>
            </a:pPr>
            <a:r>
              <a:rPr lang="en-US" sz="1300" b="1" i="1" dirty="0">
                <a:solidFill>
                  <a:srgbClr val="B8893E"/>
                </a:solidFill>
                <a:latin typeface="Georgia" pitchFamily="34" charset="0"/>
                <a:ea typeface="Georgia" pitchFamily="34" charset="-122"/>
                <a:cs typeface="Georgia" pitchFamily="34" charset="-120"/>
              </a:rPr>
              <a:t>All findings within normal limits.</a:t>
            </a:r>
            <a:endParaRPr lang="en-US" sz="1300" dirty="0"/>
          </a:p>
        </p:txBody>
      </p:sp>
      <p:sp>
        <p:nvSpPr>
          <p:cNvPr id="10" name="Shape 8"/>
          <p:cNvSpPr/>
          <p:nvPr/>
        </p:nvSpPr>
        <p:spPr>
          <a:xfrm>
            <a:off x="457200" y="3246120"/>
            <a:ext cx="11247120" cy="13716"/>
          </a:xfrm>
          <a:prstGeom prst="rect">
            <a:avLst/>
          </a:prstGeom>
          <a:solidFill>
            <a:srgbClr val="1A1A1A"/>
          </a:solidFill>
          <a:ln/>
        </p:spPr>
      </p:sp>
      <p:sp>
        <p:nvSpPr>
          <p:cNvPr id="11" name="Text 9"/>
          <p:cNvSpPr/>
          <p:nvPr/>
        </p:nvSpPr>
        <p:spPr>
          <a:xfrm>
            <a:off x="457200" y="3429000"/>
            <a:ext cx="731520" cy="548640"/>
          </a:xfrm>
          <a:prstGeom prst="rect">
            <a:avLst/>
          </a:prstGeom>
          <a:noFill/>
          <a:ln/>
        </p:spPr>
        <p:txBody>
          <a:bodyPr wrap="square" lIns="0" tIns="0" rIns="0" bIns="0" rtlCol="0" anchor="ctr"/>
          <a:lstStyle/>
          <a:p>
            <a:pPr indent="0" marL="0">
              <a:buNone/>
            </a:pPr>
            <a:r>
              <a:rPr lang="en-US" sz="2400" b="1" i="1" dirty="0">
                <a:solidFill>
                  <a:srgbClr val="B8893E"/>
                </a:solidFill>
                <a:latin typeface="Georgia" pitchFamily="34" charset="0"/>
                <a:ea typeface="Georgia" pitchFamily="34" charset="-122"/>
                <a:cs typeface="Georgia" pitchFamily="34" charset="-120"/>
              </a:rPr>
              <a:t>01</a:t>
            </a:r>
            <a:endParaRPr lang="en-US" sz="2400" dirty="0"/>
          </a:p>
        </p:txBody>
      </p:sp>
      <p:sp>
        <p:nvSpPr>
          <p:cNvPr id="12" name="Text 10"/>
          <p:cNvSpPr/>
          <p:nvPr/>
        </p:nvSpPr>
        <p:spPr>
          <a:xfrm>
            <a:off x="1097280" y="3474720"/>
            <a:ext cx="3108960" cy="274320"/>
          </a:xfrm>
          <a:prstGeom prst="rect">
            <a:avLst/>
          </a:prstGeom>
          <a:noFill/>
          <a:ln/>
        </p:spPr>
        <p:txBody>
          <a:bodyPr wrap="square" rtlCol="0" anchor="ctr"/>
          <a:lstStyle/>
          <a:p>
            <a:pPr indent="0" marL="0">
              <a:buNone/>
            </a:pPr>
            <a:r>
              <a:rPr lang="en-US" sz="900" b="1" spc="600" kern="0" dirty="0">
                <a:solidFill>
                  <a:srgbClr val="6B1F2E"/>
                </a:solidFill>
                <a:latin typeface="Calibri" pitchFamily="34" charset="0"/>
                <a:ea typeface="Calibri" pitchFamily="34" charset="-122"/>
                <a:cs typeface="Calibri" pitchFamily="34" charset="-120"/>
              </a:rPr>
              <a:t>FACIAL SYMMETRY</a:t>
            </a:r>
            <a:endParaRPr lang="en-US" sz="900" dirty="0"/>
          </a:p>
        </p:txBody>
      </p:sp>
      <p:sp>
        <p:nvSpPr>
          <p:cNvPr id="13" name="Text 11"/>
          <p:cNvSpPr/>
          <p:nvPr/>
        </p:nvSpPr>
        <p:spPr>
          <a:xfrm>
            <a:off x="1097280" y="3721608"/>
            <a:ext cx="3108960" cy="1005840"/>
          </a:xfrm>
          <a:prstGeom prst="rect">
            <a:avLst/>
          </a:prstGeom>
          <a:noFill/>
          <a:ln/>
        </p:spPr>
        <p:txBody>
          <a:bodyPr wrap="square" lIns="0" tIns="0" rIns="0" bIns="0" rtlCol="0" anchor="ctr"/>
          <a:lstStyle/>
          <a:p>
            <a:pPr indent="0" marL="0">
              <a:buNone/>
            </a:pPr>
            <a:r>
              <a:rPr lang="en-US" sz="1300" i="1" dirty="0">
                <a:solidFill>
                  <a:srgbClr val="1A1A1A"/>
                </a:solidFill>
                <a:latin typeface="Georgia" pitchFamily="34" charset="0"/>
                <a:ea typeface="Georgia" pitchFamily="34" charset="-122"/>
                <a:cs typeface="Georgia" pitchFamily="34" charset="-120"/>
              </a:rPr>
              <a:t>Bilaterally symmetrical.</a:t>
            </a:r>
            <a:endParaRPr lang="en-US" sz="1300" dirty="0"/>
          </a:p>
        </p:txBody>
      </p:sp>
      <p:sp>
        <p:nvSpPr>
          <p:cNvPr id="14" name="Text 12"/>
          <p:cNvSpPr/>
          <p:nvPr/>
        </p:nvSpPr>
        <p:spPr>
          <a:xfrm>
            <a:off x="4251960" y="3429000"/>
            <a:ext cx="731520" cy="548640"/>
          </a:xfrm>
          <a:prstGeom prst="rect">
            <a:avLst/>
          </a:prstGeom>
          <a:noFill/>
          <a:ln/>
        </p:spPr>
        <p:txBody>
          <a:bodyPr wrap="square" lIns="0" tIns="0" rIns="0" bIns="0" rtlCol="0" anchor="ctr"/>
          <a:lstStyle/>
          <a:p>
            <a:pPr indent="0" marL="0">
              <a:buNone/>
            </a:pPr>
            <a:r>
              <a:rPr lang="en-US" sz="2400" b="1" i="1" dirty="0">
                <a:solidFill>
                  <a:srgbClr val="B8893E"/>
                </a:solidFill>
                <a:latin typeface="Georgia" pitchFamily="34" charset="0"/>
                <a:ea typeface="Georgia" pitchFamily="34" charset="-122"/>
                <a:cs typeface="Georgia" pitchFamily="34" charset="-120"/>
              </a:rPr>
              <a:t>02</a:t>
            </a:r>
            <a:endParaRPr lang="en-US" sz="2400" dirty="0"/>
          </a:p>
        </p:txBody>
      </p:sp>
      <p:sp>
        <p:nvSpPr>
          <p:cNvPr id="15" name="Text 13"/>
          <p:cNvSpPr/>
          <p:nvPr/>
        </p:nvSpPr>
        <p:spPr>
          <a:xfrm>
            <a:off x="4892040" y="3474720"/>
            <a:ext cx="3108960" cy="274320"/>
          </a:xfrm>
          <a:prstGeom prst="rect">
            <a:avLst/>
          </a:prstGeom>
          <a:noFill/>
          <a:ln/>
        </p:spPr>
        <p:txBody>
          <a:bodyPr wrap="square" rtlCol="0" anchor="ctr"/>
          <a:lstStyle/>
          <a:p>
            <a:pPr indent="0" marL="0">
              <a:buNone/>
            </a:pPr>
            <a:r>
              <a:rPr lang="en-US" sz="900" b="1" spc="600" kern="0" dirty="0">
                <a:solidFill>
                  <a:srgbClr val="6B1F2E"/>
                </a:solidFill>
                <a:latin typeface="Calibri" pitchFamily="34" charset="0"/>
                <a:ea typeface="Calibri" pitchFamily="34" charset="-122"/>
                <a:cs typeface="Calibri" pitchFamily="34" charset="-120"/>
              </a:rPr>
              <a:t>HEAD, EYES &amp; NOSE</a:t>
            </a:r>
            <a:endParaRPr lang="en-US" sz="900" dirty="0"/>
          </a:p>
        </p:txBody>
      </p:sp>
      <p:sp>
        <p:nvSpPr>
          <p:cNvPr id="16" name="Text 14"/>
          <p:cNvSpPr/>
          <p:nvPr/>
        </p:nvSpPr>
        <p:spPr>
          <a:xfrm>
            <a:off x="4892040" y="3721608"/>
            <a:ext cx="3108960" cy="1005840"/>
          </a:xfrm>
          <a:prstGeom prst="rect">
            <a:avLst/>
          </a:prstGeom>
          <a:noFill/>
          <a:ln/>
        </p:spPr>
        <p:txBody>
          <a:bodyPr wrap="square" lIns="0" tIns="0" rIns="0" bIns="0" rtlCol="0" anchor="ctr"/>
          <a:lstStyle/>
          <a:p>
            <a:pPr indent="0" marL="0">
              <a:buNone/>
            </a:pPr>
            <a:r>
              <a:rPr lang="en-US" sz="1300" i="1" dirty="0">
                <a:solidFill>
                  <a:srgbClr val="1A1A1A"/>
                </a:solidFill>
                <a:latin typeface="Georgia" pitchFamily="34" charset="0"/>
                <a:ea typeface="Georgia" pitchFamily="34" charset="-122"/>
                <a:cs typeface="Georgia" pitchFamily="34" charset="-120"/>
              </a:rPr>
              <a:t>No abnormality detected.</a:t>
            </a:r>
            <a:endParaRPr lang="en-US" sz="1300" dirty="0"/>
          </a:p>
        </p:txBody>
      </p:sp>
      <p:sp>
        <p:nvSpPr>
          <p:cNvPr id="17" name="Text 15"/>
          <p:cNvSpPr/>
          <p:nvPr/>
        </p:nvSpPr>
        <p:spPr>
          <a:xfrm>
            <a:off x="8046720" y="3429000"/>
            <a:ext cx="731520" cy="548640"/>
          </a:xfrm>
          <a:prstGeom prst="rect">
            <a:avLst/>
          </a:prstGeom>
          <a:noFill/>
          <a:ln/>
        </p:spPr>
        <p:txBody>
          <a:bodyPr wrap="square" lIns="0" tIns="0" rIns="0" bIns="0" rtlCol="0" anchor="ctr"/>
          <a:lstStyle/>
          <a:p>
            <a:pPr indent="0" marL="0">
              <a:buNone/>
            </a:pPr>
            <a:r>
              <a:rPr lang="en-US" sz="2400" b="1" i="1" dirty="0">
                <a:solidFill>
                  <a:srgbClr val="B8893E"/>
                </a:solidFill>
                <a:latin typeface="Georgia" pitchFamily="34" charset="0"/>
                <a:ea typeface="Georgia" pitchFamily="34" charset="-122"/>
                <a:cs typeface="Georgia" pitchFamily="34" charset="-120"/>
              </a:rPr>
              <a:t>03</a:t>
            </a:r>
            <a:endParaRPr lang="en-US" sz="2400" dirty="0"/>
          </a:p>
        </p:txBody>
      </p:sp>
      <p:sp>
        <p:nvSpPr>
          <p:cNvPr id="18" name="Text 16"/>
          <p:cNvSpPr/>
          <p:nvPr/>
        </p:nvSpPr>
        <p:spPr>
          <a:xfrm>
            <a:off x="8686800" y="3474720"/>
            <a:ext cx="3108960" cy="274320"/>
          </a:xfrm>
          <a:prstGeom prst="rect">
            <a:avLst/>
          </a:prstGeom>
          <a:noFill/>
          <a:ln/>
        </p:spPr>
        <p:txBody>
          <a:bodyPr wrap="square" rtlCol="0" anchor="ctr"/>
          <a:lstStyle/>
          <a:p>
            <a:pPr indent="0" marL="0">
              <a:buNone/>
            </a:pPr>
            <a:r>
              <a:rPr lang="en-US" sz="900" b="1" spc="600" kern="0" dirty="0">
                <a:solidFill>
                  <a:srgbClr val="6B1F2E"/>
                </a:solidFill>
                <a:latin typeface="Calibri" pitchFamily="34" charset="0"/>
                <a:ea typeface="Calibri" pitchFamily="34" charset="-122"/>
                <a:cs typeface="Calibri" pitchFamily="34" charset="-120"/>
              </a:rPr>
              <a:t>SKIN &amp; NAILS</a:t>
            </a:r>
            <a:endParaRPr lang="en-US" sz="900" dirty="0"/>
          </a:p>
        </p:txBody>
      </p:sp>
      <p:sp>
        <p:nvSpPr>
          <p:cNvPr id="19" name="Text 17"/>
          <p:cNvSpPr/>
          <p:nvPr/>
        </p:nvSpPr>
        <p:spPr>
          <a:xfrm>
            <a:off x="8686800" y="3721608"/>
            <a:ext cx="3108960" cy="1005840"/>
          </a:xfrm>
          <a:prstGeom prst="rect">
            <a:avLst/>
          </a:prstGeom>
          <a:noFill/>
          <a:ln/>
        </p:spPr>
        <p:txBody>
          <a:bodyPr wrap="square" lIns="0" tIns="0" rIns="0" bIns="0" rtlCol="0" anchor="ctr"/>
          <a:lstStyle/>
          <a:p>
            <a:pPr indent="0" marL="0">
              <a:buNone/>
            </a:pPr>
            <a:r>
              <a:rPr lang="en-US" sz="1300" i="1" dirty="0">
                <a:solidFill>
                  <a:srgbClr val="1A1A1A"/>
                </a:solidFill>
                <a:latin typeface="Georgia" pitchFamily="34" charset="0"/>
                <a:ea typeface="Georgia" pitchFamily="34" charset="-122"/>
                <a:cs typeface="Georgia" pitchFamily="34" charset="-120"/>
              </a:rPr>
              <a:t>No abnormality detected.</a:t>
            </a:r>
            <a:endParaRPr lang="en-US" sz="1300" dirty="0"/>
          </a:p>
        </p:txBody>
      </p:sp>
      <p:sp>
        <p:nvSpPr>
          <p:cNvPr id="20" name="Text 18"/>
          <p:cNvSpPr/>
          <p:nvPr/>
        </p:nvSpPr>
        <p:spPr>
          <a:xfrm>
            <a:off x="457200" y="4983480"/>
            <a:ext cx="731520" cy="548640"/>
          </a:xfrm>
          <a:prstGeom prst="rect">
            <a:avLst/>
          </a:prstGeom>
          <a:noFill/>
          <a:ln/>
        </p:spPr>
        <p:txBody>
          <a:bodyPr wrap="square" lIns="0" tIns="0" rIns="0" bIns="0" rtlCol="0" anchor="ctr"/>
          <a:lstStyle/>
          <a:p>
            <a:pPr indent="0" marL="0">
              <a:buNone/>
            </a:pPr>
            <a:r>
              <a:rPr lang="en-US" sz="2400" b="1" i="1" dirty="0">
                <a:solidFill>
                  <a:srgbClr val="B8893E"/>
                </a:solidFill>
                <a:latin typeface="Georgia" pitchFamily="34" charset="0"/>
                <a:ea typeface="Georgia" pitchFamily="34" charset="-122"/>
                <a:cs typeface="Georgia" pitchFamily="34" charset="-120"/>
              </a:rPr>
              <a:t>04</a:t>
            </a:r>
            <a:endParaRPr lang="en-US" sz="2400" dirty="0"/>
          </a:p>
        </p:txBody>
      </p:sp>
      <p:sp>
        <p:nvSpPr>
          <p:cNvPr id="21" name="Text 19"/>
          <p:cNvSpPr/>
          <p:nvPr/>
        </p:nvSpPr>
        <p:spPr>
          <a:xfrm>
            <a:off x="1097280" y="5029200"/>
            <a:ext cx="3108960" cy="274320"/>
          </a:xfrm>
          <a:prstGeom prst="rect">
            <a:avLst/>
          </a:prstGeom>
          <a:noFill/>
          <a:ln/>
        </p:spPr>
        <p:txBody>
          <a:bodyPr wrap="square" rtlCol="0" anchor="ctr"/>
          <a:lstStyle/>
          <a:p>
            <a:pPr indent="0" marL="0">
              <a:buNone/>
            </a:pPr>
            <a:r>
              <a:rPr lang="en-US" sz="900" b="1" spc="600" kern="0" dirty="0">
                <a:solidFill>
                  <a:srgbClr val="6B1F2E"/>
                </a:solidFill>
                <a:latin typeface="Calibri" pitchFamily="34" charset="0"/>
                <a:ea typeface="Calibri" pitchFamily="34" charset="-122"/>
                <a:cs typeface="Calibri" pitchFamily="34" charset="-120"/>
              </a:rPr>
              <a:t>TMJ</a:t>
            </a:r>
            <a:endParaRPr lang="en-US" sz="900" dirty="0"/>
          </a:p>
        </p:txBody>
      </p:sp>
      <p:sp>
        <p:nvSpPr>
          <p:cNvPr id="22" name="Text 20"/>
          <p:cNvSpPr/>
          <p:nvPr/>
        </p:nvSpPr>
        <p:spPr>
          <a:xfrm>
            <a:off x="1097280" y="5276088"/>
            <a:ext cx="3108960" cy="1005840"/>
          </a:xfrm>
          <a:prstGeom prst="rect">
            <a:avLst/>
          </a:prstGeom>
          <a:noFill/>
          <a:ln/>
        </p:spPr>
        <p:txBody>
          <a:bodyPr wrap="square" lIns="0" tIns="0" rIns="0" bIns="0" rtlCol="0" anchor="ctr"/>
          <a:lstStyle/>
          <a:p>
            <a:pPr indent="0" marL="0">
              <a:buNone/>
            </a:pPr>
            <a:r>
              <a:rPr lang="en-US" sz="1300" i="1" dirty="0">
                <a:solidFill>
                  <a:srgbClr val="1A1A1A"/>
                </a:solidFill>
                <a:latin typeface="Georgia" pitchFamily="34" charset="0"/>
                <a:ea typeface="Georgia" pitchFamily="34" charset="-122"/>
                <a:cs typeface="Georgia" pitchFamily="34" charset="-120"/>
              </a:rPr>
              <a:t>No swelling, clicking, deviation, tenderness, trismus, or hypermobility.</a:t>
            </a:r>
            <a:endParaRPr lang="en-US" sz="1300" dirty="0"/>
          </a:p>
        </p:txBody>
      </p:sp>
      <p:sp>
        <p:nvSpPr>
          <p:cNvPr id="23" name="Text 21"/>
          <p:cNvSpPr/>
          <p:nvPr/>
        </p:nvSpPr>
        <p:spPr>
          <a:xfrm>
            <a:off x="4251960" y="4983480"/>
            <a:ext cx="731520" cy="548640"/>
          </a:xfrm>
          <a:prstGeom prst="rect">
            <a:avLst/>
          </a:prstGeom>
          <a:noFill/>
          <a:ln/>
        </p:spPr>
        <p:txBody>
          <a:bodyPr wrap="square" lIns="0" tIns="0" rIns="0" bIns="0" rtlCol="0" anchor="ctr"/>
          <a:lstStyle/>
          <a:p>
            <a:pPr indent="0" marL="0">
              <a:buNone/>
            </a:pPr>
            <a:r>
              <a:rPr lang="en-US" sz="2400" b="1" i="1" dirty="0">
                <a:solidFill>
                  <a:srgbClr val="B8893E"/>
                </a:solidFill>
                <a:latin typeface="Georgia" pitchFamily="34" charset="0"/>
                <a:ea typeface="Georgia" pitchFamily="34" charset="-122"/>
                <a:cs typeface="Georgia" pitchFamily="34" charset="-120"/>
              </a:rPr>
              <a:t>05</a:t>
            </a:r>
            <a:endParaRPr lang="en-US" sz="2400" dirty="0"/>
          </a:p>
        </p:txBody>
      </p:sp>
      <p:sp>
        <p:nvSpPr>
          <p:cNvPr id="24" name="Text 22"/>
          <p:cNvSpPr/>
          <p:nvPr/>
        </p:nvSpPr>
        <p:spPr>
          <a:xfrm>
            <a:off x="4892040" y="5029200"/>
            <a:ext cx="3108960" cy="274320"/>
          </a:xfrm>
          <a:prstGeom prst="rect">
            <a:avLst/>
          </a:prstGeom>
          <a:noFill/>
          <a:ln/>
        </p:spPr>
        <p:txBody>
          <a:bodyPr wrap="square" rtlCol="0" anchor="ctr"/>
          <a:lstStyle/>
          <a:p>
            <a:pPr indent="0" marL="0">
              <a:buNone/>
            </a:pPr>
            <a:r>
              <a:rPr lang="en-US" sz="900" b="1" spc="600" kern="0" dirty="0">
                <a:solidFill>
                  <a:srgbClr val="6B1F2E"/>
                </a:solidFill>
                <a:latin typeface="Calibri" pitchFamily="34" charset="0"/>
                <a:ea typeface="Calibri" pitchFamily="34" charset="-122"/>
                <a:cs typeface="Calibri" pitchFamily="34" charset="-120"/>
              </a:rPr>
              <a:t>LYMPH NODES</a:t>
            </a:r>
            <a:endParaRPr lang="en-US" sz="900" dirty="0"/>
          </a:p>
        </p:txBody>
      </p:sp>
      <p:sp>
        <p:nvSpPr>
          <p:cNvPr id="25" name="Text 23"/>
          <p:cNvSpPr/>
          <p:nvPr/>
        </p:nvSpPr>
        <p:spPr>
          <a:xfrm>
            <a:off x="4892040" y="5276088"/>
            <a:ext cx="3108960" cy="1005840"/>
          </a:xfrm>
          <a:prstGeom prst="rect">
            <a:avLst/>
          </a:prstGeom>
          <a:noFill/>
          <a:ln/>
        </p:spPr>
        <p:txBody>
          <a:bodyPr wrap="square" lIns="0" tIns="0" rIns="0" bIns="0" rtlCol="0" anchor="ctr"/>
          <a:lstStyle/>
          <a:p>
            <a:pPr indent="0" marL="0">
              <a:buNone/>
            </a:pPr>
            <a:r>
              <a:rPr lang="en-US" sz="1300" i="1" dirty="0">
                <a:solidFill>
                  <a:srgbClr val="1A1A1A"/>
                </a:solidFill>
                <a:latin typeface="Georgia" pitchFamily="34" charset="0"/>
                <a:ea typeface="Georgia" pitchFamily="34" charset="-122"/>
                <a:cs typeface="Georgia" pitchFamily="34" charset="-120"/>
              </a:rPr>
              <a:t>Not palpable.</a:t>
            </a:r>
            <a:endParaRPr lang="en-US" sz="1300" dirty="0"/>
          </a:p>
        </p:txBody>
      </p:sp>
      <p:sp>
        <p:nvSpPr>
          <p:cNvPr id="26" name="Text 24"/>
          <p:cNvSpPr/>
          <p:nvPr/>
        </p:nvSpPr>
        <p:spPr>
          <a:xfrm>
            <a:off x="8046720" y="4983480"/>
            <a:ext cx="731520" cy="548640"/>
          </a:xfrm>
          <a:prstGeom prst="rect">
            <a:avLst/>
          </a:prstGeom>
          <a:noFill/>
          <a:ln/>
        </p:spPr>
        <p:txBody>
          <a:bodyPr wrap="square" lIns="0" tIns="0" rIns="0" bIns="0" rtlCol="0" anchor="ctr"/>
          <a:lstStyle/>
          <a:p>
            <a:pPr indent="0" marL="0">
              <a:buNone/>
            </a:pPr>
            <a:r>
              <a:rPr lang="en-US" sz="2400" b="1" i="1" dirty="0">
                <a:solidFill>
                  <a:srgbClr val="B8893E"/>
                </a:solidFill>
                <a:latin typeface="Georgia" pitchFamily="34" charset="0"/>
                <a:ea typeface="Georgia" pitchFamily="34" charset="-122"/>
                <a:cs typeface="Georgia" pitchFamily="34" charset="-120"/>
              </a:rPr>
              <a:t>06</a:t>
            </a:r>
            <a:endParaRPr lang="en-US" sz="2400" dirty="0"/>
          </a:p>
        </p:txBody>
      </p:sp>
      <p:sp>
        <p:nvSpPr>
          <p:cNvPr id="27" name="Text 25"/>
          <p:cNvSpPr/>
          <p:nvPr/>
        </p:nvSpPr>
        <p:spPr>
          <a:xfrm>
            <a:off x="8686800" y="5029200"/>
            <a:ext cx="3108960" cy="274320"/>
          </a:xfrm>
          <a:prstGeom prst="rect">
            <a:avLst/>
          </a:prstGeom>
          <a:noFill/>
          <a:ln/>
        </p:spPr>
        <p:txBody>
          <a:bodyPr wrap="square" rtlCol="0" anchor="ctr"/>
          <a:lstStyle/>
          <a:p>
            <a:pPr indent="0" marL="0">
              <a:buNone/>
            </a:pPr>
            <a:r>
              <a:rPr lang="en-US" sz="900" b="1" spc="600" kern="0" dirty="0">
                <a:solidFill>
                  <a:srgbClr val="6B1F2E"/>
                </a:solidFill>
                <a:latin typeface="Calibri" pitchFamily="34" charset="0"/>
                <a:ea typeface="Calibri" pitchFamily="34" charset="-122"/>
                <a:cs typeface="Calibri" pitchFamily="34" charset="-120"/>
              </a:rPr>
              <a:t>LIPS &amp; PERIORAL TISSUE</a:t>
            </a:r>
            <a:endParaRPr lang="en-US" sz="900" dirty="0"/>
          </a:p>
        </p:txBody>
      </p:sp>
      <p:sp>
        <p:nvSpPr>
          <p:cNvPr id="28" name="Text 26"/>
          <p:cNvSpPr/>
          <p:nvPr/>
        </p:nvSpPr>
        <p:spPr>
          <a:xfrm>
            <a:off x="8686800" y="5276088"/>
            <a:ext cx="3108960" cy="1005840"/>
          </a:xfrm>
          <a:prstGeom prst="rect">
            <a:avLst/>
          </a:prstGeom>
          <a:noFill/>
          <a:ln/>
        </p:spPr>
        <p:txBody>
          <a:bodyPr wrap="square" lIns="0" tIns="0" rIns="0" bIns="0" rtlCol="0" anchor="ctr"/>
          <a:lstStyle/>
          <a:p>
            <a:pPr indent="0" marL="0">
              <a:buNone/>
            </a:pPr>
            <a:r>
              <a:rPr lang="en-US" sz="1300" i="1" dirty="0">
                <a:solidFill>
                  <a:srgbClr val="1A1A1A"/>
                </a:solidFill>
                <a:latin typeface="Georgia" pitchFamily="34" charset="0"/>
                <a:ea typeface="Georgia" pitchFamily="34" charset="-122"/>
                <a:cs typeface="Georgia" pitchFamily="34" charset="-120"/>
              </a:rPr>
              <a:t>No swelling, lesions, or asymmetry.</a:t>
            </a:r>
            <a:endParaRPr lang="en-US" sz="1300" dirty="0"/>
          </a:p>
        </p:txBody>
      </p:sp>
      <p:sp>
        <p:nvSpPr>
          <p:cNvPr id="29" name="Shape 27"/>
          <p:cNvSpPr/>
          <p:nvPr/>
        </p:nvSpPr>
        <p:spPr>
          <a:xfrm>
            <a:off x="457200" y="6492240"/>
            <a:ext cx="11247120" cy="13716"/>
          </a:xfrm>
          <a:prstGeom prst="rect">
            <a:avLst/>
          </a:prstGeom>
          <a:solidFill>
            <a:srgbClr val="1A1A1A"/>
          </a:solidFill>
          <a:ln/>
        </p:spPr>
      </p:sp>
      <p:sp>
        <p:nvSpPr>
          <p:cNvPr id="30" name="Text 28"/>
          <p:cNvSpPr/>
          <p:nvPr/>
        </p:nvSpPr>
        <p:spPr>
          <a:xfrm>
            <a:off x="457200" y="6565392"/>
            <a:ext cx="8686800" cy="228600"/>
          </a:xfrm>
          <a:prstGeom prst="rect">
            <a:avLst/>
          </a:prstGeom>
          <a:noFill/>
          <a:ln/>
        </p:spPr>
        <p:txBody>
          <a:bodyPr wrap="square" rtlCol="0" anchor="ctr"/>
          <a:lstStyle/>
          <a:p>
            <a:pPr indent="0" marL="0">
              <a:buNone/>
            </a:pPr>
            <a:r>
              <a:rPr lang="en-US" sz="800" i="1" spc="400" kern="0" dirty="0">
                <a:solidFill>
                  <a:srgbClr val="5C4F3A"/>
                </a:solidFill>
                <a:latin typeface="Calibri" pitchFamily="34" charset="0"/>
                <a:ea typeface="Calibri" pitchFamily="34" charset="-122"/>
                <a:cs typeface="Calibri" pitchFamily="34" charset="-120"/>
              </a:rPr>
              <a:t>IBRAHIM ALSHAHRANI · 2110301  ·  M. HANASH · M140426001</a:t>
            </a:r>
            <a:endParaRPr lang="en-US" sz="800" dirty="0"/>
          </a:p>
        </p:txBody>
      </p:sp>
      <p:sp>
        <p:nvSpPr>
          <p:cNvPr id="31" name="Text 29"/>
          <p:cNvSpPr/>
          <p:nvPr/>
        </p:nvSpPr>
        <p:spPr>
          <a:xfrm>
            <a:off x="9418320" y="6565392"/>
            <a:ext cx="2286000" cy="228600"/>
          </a:xfrm>
          <a:prstGeom prst="rect">
            <a:avLst/>
          </a:prstGeom>
          <a:noFill/>
          <a:ln/>
        </p:spPr>
        <p:txBody>
          <a:bodyPr wrap="square" rtlCol="0" anchor="ctr"/>
          <a:lstStyle/>
          <a:p>
            <a:pPr algn="r" indent="0" marL="0">
              <a:buNone/>
            </a:pPr>
            <a:r>
              <a:rPr lang="en-US" sz="800" b="1" spc="600" kern="0" dirty="0">
                <a:solidFill>
                  <a:srgbClr val="5C4F3A"/>
                </a:solidFill>
                <a:latin typeface="Calibri" pitchFamily="34" charset="0"/>
                <a:ea typeface="Calibri" pitchFamily="34" charset="-122"/>
                <a:cs typeface="Calibri" pitchFamily="34" charset="-120"/>
              </a:rPr>
              <a:t>PAGE  06  /  16</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EDE0"/>
        </a:solidFill>
      </p:bgPr>
    </p:bg>
    <p:spTree>
      <p:nvGrpSpPr>
        <p:cNvPr id="1" name=""/>
        <p:cNvGrpSpPr/>
        <p:nvPr/>
      </p:nvGrpSpPr>
      <p:grpSpPr>
        <a:xfrm>
          <a:off x="0" y="0"/>
          <a:ext cx="0" cy="0"/>
          <a:chOff x="0" y="0"/>
          <a:chExt cx="0" cy="0"/>
        </a:xfrm>
      </p:grpSpPr>
      <p:sp>
        <p:nvSpPr>
          <p:cNvPr id="2" name="Shape 0"/>
          <p:cNvSpPr/>
          <p:nvPr/>
        </p:nvSpPr>
        <p:spPr>
          <a:xfrm>
            <a:off x="457200" y="457200"/>
            <a:ext cx="11247120" cy="13716"/>
          </a:xfrm>
          <a:prstGeom prst="rect">
            <a:avLst/>
          </a:prstGeom>
          <a:solidFill>
            <a:srgbClr val="1A1A1A"/>
          </a:solidFill>
          <a:ln/>
        </p:spPr>
      </p:sp>
      <p:sp>
        <p:nvSpPr>
          <p:cNvPr id="3" name="Text 1"/>
          <p:cNvSpPr/>
          <p:nvPr/>
        </p:nvSpPr>
        <p:spPr>
          <a:xfrm>
            <a:off x="457200" y="548640"/>
            <a:ext cx="5486400" cy="274320"/>
          </a:xfrm>
          <a:prstGeom prst="rect">
            <a:avLst/>
          </a:prstGeom>
          <a:noFill/>
          <a:ln/>
        </p:spPr>
        <p:txBody>
          <a:bodyPr wrap="square" rtlCol="0" anchor="ctr"/>
          <a:lstStyle/>
          <a:p>
            <a:pPr indent="0" marL="0">
              <a:buNone/>
            </a:pPr>
            <a:r>
              <a:rPr lang="en-US" sz="900" b="1" spc="800" kern="0" dirty="0">
                <a:solidFill>
                  <a:srgbClr val="5C4F3A"/>
                </a:solidFill>
                <a:latin typeface="Calibri" pitchFamily="34" charset="0"/>
                <a:ea typeface="Calibri" pitchFamily="34" charset="-122"/>
                <a:cs typeface="Calibri" pitchFamily="34" charset="-120"/>
              </a:rPr>
              <a:t>INTRA-ORAL EXAMINATION</a:t>
            </a:r>
            <a:endParaRPr lang="en-US" sz="900" dirty="0"/>
          </a:p>
        </p:txBody>
      </p:sp>
      <p:sp>
        <p:nvSpPr>
          <p:cNvPr id="4" name="Text 2"/>
          <p:cNvSpPr/>
          <p:nvPr/>
        </p:nvSpPr>
        <p:spPr>
          <a:xfrm>
            <a:off x="6217920" y="548640"/>
            <a:ext cx="5486400" cy="274320"/>
          </a:xfrm>
          <a:prstGeom prst="rect">
            <a:avLst/>
          </a:prstGeom>
          <a:noFill/>
          <a:ln/>
        </p:spPr>
        <p:txBody>
          <a:bodyPr wrap="square" rtlCol="0" anchor="ctr"/>
          <a:lstStyle/>
          <a:p>
            <a:pPr algn="r" indent="0" marL="0">
              <a:buNone/>
            </a:pPr>
            <a:r>
              <a:rPr lang="en-US" sz="900" b="1" spc="800" kern="0" dirty="0">
                <a:solidFill>
                  <a:srgbClr val="5C4F3A"/>
                </a:solidFill>
                <a:latin typeface="Calibri" pitchFamily="34" charset="0"/>
                <a:ea typeface="Calibri" pitchFamily="34" charset="-122"/>
                <a:cs typeface="Calibri" pitchFamily="34" charset="-120"/>
              </a:rPr>
              <a:t>CASE PRESENTATION</a:t>
            </a:r>
            <a:endParaRPr lang="en-US" sz="900" dirty="0"/>
          </a:p>
        </p:txBody>
      </p:sp>
      <p:sp>
        <p:nvSpPr>
          <p:cNvPr id="5" name="Text 3"/>
          <p:cNvSpPr/>
          <p:nvPr/>
        </p:nvSpPr>
        <p:spPr>
          <a:xfrm>
            <a:off x="457200" y="914400"/>
            <a:ext cx="7315200" cy="1097280"/>
          </a:xfrm>
          <a:prstGeom prst="rect">
            <a:avLst/>
          </a:prstGeom>
          <a:noFill/>
          <a:ln/>
        </p:spPr>
        <p:txBody>
          <a:bodyPr wrap="square" lIns="0" tIns="0" rIns="0" bIns="0" rtlCol="0" anchor="ctr"/>
          <a:lstStyle/>
          <a:p>
            <a:pPr indent="0" marL="0">
              <a:buNone/>
            </a:pPr>
            <a:r>
              <a:rPr lang="en-US" sz="6400" b="1" i="1" dirty="0">
                <a:solidFill>
                  <a:srgbClr val="1A1A1A"/>
                </a:solidFill>
                <a:latin typeface="Georgia" pitchFamily="34" charset="0"/>
                <a:ea typeface="Georgia" pitchFamily="34" charset="-122"/>
                <a:cs typeface="Georgia" pitchFamily="34" charset="-120"/>
              </a:rPr>
              <a:t>In the mouth.</a:t>
            </a:r>
            <a:endParaRPr lang="en-US" sz="6400" dirty="0"/>
          </a:p>
        </p:txBody>
      </p:sp>
      <p:sp>
        <p:nvSpPr>
          <p:cNvPr id="6" name="Shape 4"/>
          <p:cNvSpPr/>
          <p:nvPr/>
        </p:nvSpPr>
        <p:spPr>
          <a:xfrm>
            <a:off x="457200" y="1920240"/>
            <a:ext cx="914400" cy="36576"/>
          </a:xfrm>
          <a:prstGeom prst="rect">
            <a:avLst/>
          </a:prstGeom>
          <a:solidFill>
            <a:srgbClr val="B8893E"/>
          </a:solidFill>
          <a:ln/>
        </p:spPr>
      </p:sp>
      <p:sp>
        <p:nvSpPr>
          <p:cNvPr id="7" name="Text 5"/>
          <p:cNvSpPr/>
          <p:nvPr/>
        </p:nvSpPr>
        <p:spPr>
          <a:xfrm>
            <a:off x="6858000" y="1325880"/>
            <a:ext cx="4846320" cy="731520"/>
          </a:xfrm>
          <a:prstGeom prst="rect">
            <a:avLst/>
          </a:prstGeom>
          <a:noFill/>
          <a:ln/>
        </p:spPr>
        <p:txBody>
          <a:bodyPr wrap="square" lIns="0" tIns="0" rIns="0" bIns="0" rtlCol="0" anchor="ctr"/>
          <a:lstStyle/>
          <a:p>
            <a:pPr indent="0" marL="0">
              <a:buNone/>
            </a:pPr>
            <a:r>
              <a:rPr lang="en-US" sz="1200" i="1" dirty="0">
                <a:solidFill>
                  <a:srgbClr val="5C4F3A"/>
                </a:solidFill>
                <a:latin typeface="Georgia" pitchFamily="34" charset="0"/>
                <a:ea typeface="Georgia" pitchFamily="34" charset="-122"/>
                <a:cs typeface="Georgia" pitchFamily="34" charset="-120"/>
              </a:rPr>
              <a:t>Three clinical views — anterior, lower occlusal, and open mouth.</a:t>
            </a:r>
            <a:endParaRPr lang="en-US" sz="1200" dirty="0"/>
          </a:p>
        </p:txBody>
      </p:sp>
      <p:sp>
        <p:nvSpPr>
          <p:cNvPr id="8" name="Shape 6"/>
          <p:cNvSpPr/>
          <p:nvPr/>
        </p:nvSpPr>
        <p:spPr>
          <a:xfrm>
            <a:off x="1109167" y="2249424"/>
            <a:ext cx="4393692" cy="2816352"/>
          </a:xfrm>
          <a:prstGeom prst="rect">
            <a:avLst/>
          </a:prstGeom>
          <a:solidFill>
            <a:srgbClr val="FFFFFF"/>
          </a:solidFill>
          <a:ln w="9525">
            <a:solidFill>
              <a:srgbClr val="C9B8A0"/>
            </a:solidFill>
            <a:prstDash val="solid"/>
          </a:ln>
        </p:spPr>
      </p:sp>
      <p:pic>
        <p:nvPicPr>
          <p:cNvPr id="9" name="Image 0" descr="/home/claude/clinical/01_anterior.png">    </p:cNvPr>
          <p:cNvPicPr>
            <a:picLocks noChangeAspect="1"/>
          </p:cNvPicPr>
          <p:nvPr/>
        </p:nvPicPr>
        <p:blipFill>
          <a:blip r:embed="rId1"/>
          <a:stretch>
            <a:fillRect/>
          </a:stretch>
        </p:blipFill>
        <p:spPr>
          <a:xfrm>
            <a:off x="1145743" y="2286000"/>
            <a:ext cx="4320540" cy="2743200"/>
          </a:xfrm>
          <a:prstGeom prst="rect">
            <a:avLst/>
          </a:prstGeom>
        </p:spPr>
      </p:pic>
      <p:sp>
        <p:nvSpPr>
          <p:cNvPr id="10" name="Text 7"/>
          <p:cNvSpPr/>
          <p:nvPr/>
        </p:nvSpPr>
        <p:spPr>
          <a:xfrm>
            <a:off x="1145743" y="5102352"/>
            <a:ext cx="4320540" cy="201168"/>
          </a:xfrm>
          <a:prstGeom prst="rect">
            <a:avLst/>
          </a:prstGeom>
          <a:noFill/>
          <a:ln/>
        </p:spPr>
        <p:txBody>
          <a:bodyPr wrap="square" rtlCol="0" anchor="ctr"/>
          <a:lstStyle/>
          <a:p>
            <a:pPr algn="ctr" indent="0" marL="0">
              <a:buNone/>
            </a:pPr>
            <a:r>
              <a:rPr lang="en-US" sz="800" b="1" spc="600" kern="0" dirty="0">
                <a:solidFill>
                  <a:srgbClr val="B8893E"/>
                </a:solidFill>
                <a:latin typeface="Calibri" pitchFamily="34" charset="0"/>
                <a:ea typeface="Calibri" pitchFamily="34" charset="-122"/>
                <a:cs typeface="Calibri" pitchFamily="34" charset="-120"/>
              </a:rPr>
              <a:t>PLATE II</a:t>
            </a:r>
            <a:endParaRPr lang="en-US" sz="800" dirty="0"/>
          </a:p>
        </p:txBody>
      </p:sp>
      <p:sp>
        <p:nvSpPr>
          <p:cNvPr id="11" name="Text 8"/>
          <p:cNvSpPr/>
          <p:nvPr/>
        </p:nvSpPr>
        <p:spPr>
          <a:xfrm>
            <a:off x="1145743" y="5285232"/>
            <a:ext cx="4320540" cy="256032"/>
          </a:xfrm>
          <a:prstGeom prst="rect">
            <a:avLst/>
          </a:prstGeom>
          <a:noFill/>
          <a:ln/>
        </p:spPr>
        <p:txBody>
          <a:bodyPr wrap="square" lIns="0" tIns="0" rIns="0" bIns="0" rtlCol="0" anchor="ctr"/>
          <a:lstStyle/>
          <a:p>
            <a:pPr algn="ctr" indent="0" marL="0">
              <a:buNone/>
            </a:pPr>
            <a:r>
              <a:rPr lang="en-US" sz="1000" b="1" i="1" dirty="0">
                <a:solidFill>
                  <a:srgbClr val="1A1A1A"/>
                </a:solidFill>
                <a:latin typeface="Georgia" pitchFamily="34" charset="0"/>
                <a:ea typeface="Georgia" pitchFamily="34" charset="-122"/>
                <a:cs typeface="Georgia" pitchFamily="34" charset="-120"/>
              </a:rPr>
              <a:t>ANTERIOR</a:t>
            </a:r>
            <a:endParaRPr lang="en-US" sz="1000" dirty="0"/>
          </a:p>
        </p:txBody>
      </p:sp>
      <p:sp>
        <p:nvSpPr>
          <p:cNvPr id="12" name="Shape 9"/>
          <p:cNvSpPr/>
          <p:nvPr/>
        </p:nvSpPr>
        <p:spPr>
          <a:xfrm>
            <a:off x="5594299" y="2249424"/>
            <a:ext cx="3411626" cy="2816352"/>
          </a:xfrm>
          <a:prstGeom prst="rect">
            <a:avLst/>
          </a:prstGeom>
          <a:solidFill>
            <a:srgbClr val="FFFFFF"/>
          </a:solidFill>
          <a:ln w="9525">
            <a:solidFill>
              <a:srgbClr val="C9B8A0"/>
            </a:solidFill>
            <a:prstDash val="solid"/>
          </a:ln>
        </p:spPr>
      </p:sp>
      <p:pic>
        <p:nvPicPr>
          <p:cNvPr id="13" name="Image 1" descr="/home/claude/clinical/02_lower_occlusal.png">    </p:cNvPr>
          <p:cNvPicPr>
            <a:picLocks noChangeAspect="1"/>
          </p:cNvPicPr>
          <p:nvPr/>
        </p:nvPicPr>
        <p:blipFill>
          <a:blip r:embed="rId2"/>
          <a:stretch>
            <a:fillRect/>
          </a:stretch>
        </p:blipFill>
        <p:spPr>
          <a:xfrm>
            <a:off x="5630875" y="2286000"/>
            <a:ext cx="3338474" cy="2743200"/>
          </a:xfrm>
          <a:prstGeom prst="rect">
            <a:avLst/>
          </a:prstGeom>
        </p:spPr>
      </p:pic>
      <p:sp>
        <p:nvSpPr>
          <p:cNvPr id="14" name="Text 10"/>
          <p:cNvSpPr/>
          <p:nvPr/>
        </p:nvSpPr>
        <p:spPr>
          <a:xfrm>
            <a:off x="5630875" y="5102352"/>
            <a:ext cx="3338474" cy="201168"/>
          </a:xfrm>
          <a:prstGeom prst="rect">
            <a:avLst/>
          </a:prstGeom>
          <a:noFill/>
          <a:ln/>
        </p:spPr>
        <p:txBody>
          <a:bodyPr wrap="square" rtlCol="0" anchor="ctr"/>
          <a:lstStyle/>
          <a:p>
            <a:pPr algn="ctr" indent="0" marL="0">
              <a:buNone/>
            </a:pPr>
            <a:r>
              <a:rPr lang="en-US" sz="800" b="1" spc="600" kern="0" dirty="0">
                <a:solidFill>
                  <a:srgbClr val="B8893E"/>
                </a:solidFill>
                <a:latin typeface="Calibri" pitchFamily="34" charset="0"/>
                <a:ea typeface="Calibri" pitchFamily="34" charset="-122"/>
                <a:cs typeface="Calibri" pitchFamily="34" charset="-120"/>
              </a:rPr>
              <a:t>PLATE III</a:t>
            </a:r>
            <a:endParaRPr lang="en-US" sz="800" dirty="0"/>
          </a:p>
        </p:txBody>
      </p:sp>
      <p:sp>
        <p:nvSpPr>
          <p:cNvPr id="15" name="Text 11"/>
          <p:cNvSpPr/>
          <p:nvPr/>
        </p:nvSpPr>
        <p:spPr>
          <a:xfrm>
            <a:off x="5630875" y="5285232"/>
            <a:ext cx="3338474" cy="256032"/>
          </a:xfrm>
          <a:prstGeom prst="rect">
            <a:avLst/>
          </a:prstGeom>
          <a:noFill/>
          <a:ln/>
        </p:spPr>
        <p:txBody>
          <a:bodyPr wrap="square" lIns="0" tIns="0" rIns="0" bIns="0" rtlCol="0" anchor="ctr"/>
          <a:lstStyle/>
          <a:p>
            <a:pPr algn="ctr" indent="0" marL="0">
              <a:buNone/>
            </a:pPr>
            <a:r>
              <a:rPr lang="en-US" sz="1000" b="1" i="1" dirty="0">
                <a:solidFill>
                  <a:srgbClr val="1A1A1A"/>
                </a:solidFill>
                <a:latin typeface="Georgia" pitchFamily="34" charset="0"/>
                <a:ea typeface="Georgia" pitchFamily="34" charset="-122"/>
                <a:cs typeface="Georgia" pitchFamily="34" charset="-120"/>
              </a:rPr>
              <a:t>LOWER OCCLUSAL</a:t>
            </a:r>
            <a:endParaRPr lang="en-US" sz="1000" dirty="0"/>
          </a:p>
        </p:txBody>
      </p:sp>
      <p:sp>
        <p:nvSpPr>
          <p:cNvPr id="16" name="Shape 12"/>
          <p:cNvSpPr/>
          <p:nvPr/>
        </p:nvSpPr>
        <p:spPr>
          <a:xfrm>
            <a:off x="9097366" y="2249424"/>
            <a:ext cx="1954987" cy="2816352"/>
          </a:xfrm>
          <a:prstGeom prst="rect">
            <a:avLst/>
          </a:prstGeom>
          <a:solidFill>
            <a:srgbClr val="FFFFFF"/>
          </a:solidFill>
          <a:ln w="9525">
            <a:solidFill>
              <a:srgbClr val="C9B8A0"/>
            </a:solidFill>
            <a:prstDash val="solid"/>
          </a:ln>
        </p:spPr>
      </p:sp>
      <p:pic>
        <p:nvPicPr>
          <p:cNvPr id="17" name="Image 2" descr="/home/claude/clinical/04_open.png">    </p:cNvPr>
          <p:cNvPicPr>
            <a:picLocks noChangeAspect="1"/>
          </p:cNvPicPr>
          <p:nvPr/>
        </p:nvPicPr>
        <p:blipFill>
          <a:blip r:embed="rId3"/>
          <a:stretch>
            <a:fillRect/>
          </a:stretch>
        </p:blipFill>
        <p:spPr>
          <a:xfrm>
            <a:off x="9133942" y="2286000"/>
            <a:ext cx="1881835" cy="2743200"/>
          </a:xfrm>
          <a:prstGeom prst="rect">
            <a:avLst/>
          </a:prstGeom>
        </p:spPr>
      </p:pic>
      <p:sp>
        <p:nvSpPr>
          <p:cNvPr id="18" name="Text 13"/>
          <p:cNvSpPr/>
          <p:nvPr/>
        </p:nvSpPr>
        <p:spPr>
          <a:xfrm>
            <a:off x="9133942" y="5102352"/>
            <a:ext cx="1881835" cy="201168"/>
          </a:xfrm>
          <a:prstGeom prst="rect">
            <a:avLst/>
          </a:prstGeom>
          <a:noFill/>
          <a:ln/>
        </p:spPr>
        <p:txBody>
          <a:bodyPr wrap="square" rtlCol="0" anchor="ctr"/>
          <a:lstStyle/>
          <a:p>
            <a:pPr algn="ctr" indent="0" marL="0">
              <a:buNone/>
            </a:pPr>
            <a:r>
              <a:rPr lang="en-US" sz="800" b="1" spc="600" kern="0" dirty="0">
                <a:solidFill>
                  <a:srgbClr val="B8893E"/>
                </a:solidFill>
                <a:latin typeface="Calibri" pitchFamily="34" charset="0"/>
                <a:ea typeface="Calibri" pitchFamily="34" charset="-122"/>
                <a:cs typeface="Calibri" pitchFamily="34" charset="-120"/>
              </a:rPr>
              <a:t>PLATE IV</a:t>
            </a:r>
            <a:endParaRPr lang="en-US" sz="800" dirty="0"/>
          </a:p>
        </p:txBody>
      </p:sp>
      <p:sp>
        <p:nvSpPr>
          <p:cNvPr id="19" name="Text 14"/>
          <p:cNvSpPr/>
          <p:nvPr/>
        </p:nvSpPr>
        <p:spPr>
          <a:xfrm>
            <a:off x="9133942" y="5285232"/>
            <a:ext cx="1881835" cy="256032"/>
          </a:xfrm>
          <a:prstGeom prst="rect">
            <a:avLst/>
          </a:prstGeom>
          <a:noFill/>
          <a:ln/>
        </p:spPr>
        <p:txBody>
          <a:bodyPr wrap="square" lIns="0" tIns="0" rIns="0" bIns="0" rtlCol="0" anchor="ctr"/>
          <a:lstStyle/>
          <a:p>
            <a:pPr algn="ctr" indent="0" marL="0">
              <a:buNone/>
            </a:pPr>
            <a:r>
              <a:rPr lang="en-US" sz="1000" b="1" i="1" dirty="0">
                <a:solidFill>
                  <a:srgbClr val="1A1A1A"/>
                </a:solidFill>
                <a:latin typeface="Georgia" pitchFamily="34" charset="0"/>
                <a:ea typeface="Georgia" pitchFamily="34" charset="-122"/>
                <a:cs typeface="Georgia" pitchFamily="34" charset="-120"/>
              </a:rPr>
              <a:t>OPEN MOUTH</a:t>
            </a:r>
            <a:endParaRPr lang="en-US" sz="1000" dirty="0"/>
          </a:p>
        </p:txBody>
      </p:sp>
      <p:sp>
        <p:nvSpPr>
          <p:cNvPr id="20" name="Shape 15"/>
          <p:cNvSpPr/>
          <p:nvPr/>
        </p:nvSpPr>
        <p:spPr>
          <a:xfrm>
            <a:off x="457200" y="5532120"/>
            <a:ext cx="11247120" cy="13716"/>
          </a:xfrm>
          <a:prstGeom prst="rect">
            <a:avLst/>
          </a:prstGeom>
          <a:solidFill>
            <a:srgbClr val="1A1A1A"/>
          </a:solidFill>
          <a:ln/>
        </p:spPr>
      </p:sp>
      <p:sp>
        <p:nvSpPr>
          <p:cNvPr id="21" name="Text 16"/>
          <p:cNvSpPr/>
          <p:nvPr/>
        </p:nvSpPr>
        <p:spPr>
          <a:xfrm>
            <a:off x="457200" y="5623560"/>
            <a:ext cx="3657600" cy="228600"/>
          </a:xfrm>
          <a:prstGeom prst="rect">
            <a:avLst/>
          </a:prstGeom>
          <a:noFill/>
          <a:ln/>
        </p:spPr>
        <p:txBody>
          <a:bodyPr wrap="square" rtlCol="0" anchor="ctr"/>
          <a:lstStyle/>
          <a:p>
            <a:pPr indent="0" marL="0">
              <a:buNone/>
            </a:pPr>
            <a:r>
              <a:rPr lang="en-US" sz="900" b="1" spc="600" kern="0" dirty="0">
                <a:solidFill>
                  <a:srgbClr val="6B1F2E"/>
                </a:solidFill>
                <a:latin typeface="Calibri" pitchFamily="34" charset="0"/>
                <a:ea typeface="Calibri" pitchFamily="34" charset="-122"/>
                <a:cs typeface="Calibri" pitchFamily="34" charset="-120"/>
              </a:rPr>
              <a:t>ON THE GINGIVA</a:t>
            </a:r>
            <a:endParaRPr lang="en-US" sz="900" dirty="0"/>
          </a:p>
        </p:txBody>
      </p:sp>
      <p:sp>
        <p:nvSpPr>
          <p:cNvPr id="22" name="Text 17"/>
          <p:cNvSpPr/>
          <p:nvPr/>
        </p:nvSpPr>
        <p:spPr>
          <a:xfrm>
            <a:off x="457200" y="5852160"/>
            <a:ext cx="3657600" cy="640080"/>
          </a:xfrm>
          <a:prstGeom prst="rect">
            <a:avLst/>
          </a:prstGeom>
          <a:noFill/>
          <a:ln/>
        </p:spPr>
        <p:txBody>
          <a:bodyPr wrap="square" lIns="0" tIns="0" rIns="0" bIns="0" rtlCol="0" anchor="ctr"/>
          <a:lstStyle/>
          <a:p>
            <a:pPr indent="0" marL="0">
              <a:buNone/>
            </a:pPr>
            <a:r>
              <a:rPr lang="en-US" sz="1200" i="1" dirty="0">
                <a:solidFill>
                  <a:srgbClr val="1A1A1A"/>
                </a:solidFill>
                <a:latin typeface="Georgia" pitchFamily="34" charset="0"/>
                <a:ea typeface="Georgia" pitchFamily="34" charset="-122"/>
                <a:cs typeface="Georgia" pitchFamily="34" charset="-120"/>
              </a:rPr>
              <a:t>Coral pink · scalloped · stippled. Mild marginal inflammation on lower anteriors.</a:t>
            </a:r>
            <a:endParaRPr lang="en-US" sz="1200" dirty="0"/>
          </a:p>
        </p:txBody>
      </p:sp>
      <p:sp>
        <p:nvSpPr>
          <p:cNvPr id="23" name="Text 18"/>
          <p:cNvSpPr/>
          <p:nvPr/>
        </p:nvSpPr>
        <p:spPr>
          <a:xfrm>
            <a:off x="4251960" y="5623560"/>
            <a:ext cx="3657600" cy="228600"/>
          </a:xfrm>
          <a:prstGeom prst="rect">
            <a:avLst/>
          </a:prstGeom>
          <a:noFill/>
          <a:ln/>
        </p:spPr>
        <p:txBody>
          <a:bodyPr wrap="square" rtlCol="0" anchor="ctr"/>
          <a:lstStyle/>
          <a:p>
            <a:pPr indent="0" marL="0">
              <a:buNone/>
            </a:pPr>
            <a:r>
              <a:rPr lang="en-US" sz="900" b="1" spc="600" kern="0" dirty="0">
                <a:solidFill>
                  <a:srgbClr val="6B1F2E"/>
                </a:solidFill>
                <a:latin typeface="Calibri" pitchFamily="34" charset="0"/>
                <a:ea typeface="Calibri" pitchFamily="34" charset="-122"/>
                <a:cs typeface="Calibri" pitchFamily="34" charset="-120"/>
              </a:rPr>
              <a:t>ORAL HYGIENE</a:t>
            </a:r>
            <a:endParaRPr lang="en-US" sz="900" dirty="0"/>
          </a:p>
        </p:txBody>
      </p:sp>
      <p:sp>
        <p:nvSpPr>
          <p:cNvPr id="24" name="Text 19"/>
          <p:cNvSpPr/>
          <p:nvPr/>
        </p:nvSpPr>
        <p:spPr>
          <a:xfrm>
            <a:off x="4251960" y="5852160"/>
            <a:ext cx="3657600" cy="777240"/>
          </a:xfrm>
          <a:prstGeom prst="rect">
            <a:avLst/>
          </a:prstGeom>
          <a:noFill/>
          <a:ln/>
        </p:spPr>
        <p:txBody>
          <a:bodyPr wrap="square" lIns="0" tIns="0" rIns="0" bIns="0" rtlCol="0" anchor="ctr"/>
          <a:lstStyle/>
          <a:p>
            <a:pPr indent="0" marL="0">
              <a:buNone/>
            </a:pPr>
            <a:r>
              <a:rPr lang="en-US" sz="1200" i="1" dirty="0">
                <a:solidFill>
                  <a:srgbClr val="1A1A1A"/>
                </a:solidFill>
                <a:latin typeface="Georgia" pitchFamily="34" charset="0"/>
                <a:ea typeface="Georgia" pitchFamily="34" charset="-122"/>
                <a:cs typeface="Georgia" pitchFamily="34" charset="-120"/>
              </a:rPr>
              <a:t>Generalized plaque and calculus, most prominent on lower anterior lingual surfaces. Mild extrinsic staining.</a:t>
            </a:r>
            <a:endParaRPr lang="en-US" sz="1200" dirty="0"/>
          </a:p>
        </p:txBody>
      </p:sp>
      <p:sp>
        <p:nvSpPr>
          <p:cNvPr id="25" name="Text 20"/>
          <p:cNvSpPr/>
          <p:nvPr/>
        </p:nvSpPr>
        <p:spPr>
          <a:xfrm>
            <a:off x="8046720" y="5623560"/>
            <a:ext cx="3657600" cy="228600"/>
          </a:xfrm>
          <a:prstGeom prst="rect">
            <a:avLst/>
          </a:prstGeom>
          <a:noFill/>
          <a:ln/>
        </p:spPr>
        <p:txBody>
          <a:bodyPr wrap="square" rtlCol="0" anchor="ctr"/>
          <a:lstStyle/>
          <a:p>
            <a:pPr indent="0" marL="0">
              <a:buNone/>
            </a:pPr>
            <a:r>
              <a:rPr lang="en-US" sz="900" b="1" spc="600" kern="0" dirty="0">
                <a:solidFill>
                  <a:srgbClr val="6B1F2E"/>
                </a:solidFill>
                <a:latin typeface="Calibri" pitchFamily="34" charset="0"/>
                <a:ea typeface="Calibri" pitchFamily="34" charset="-122"/>
                <a:cs typeface="Calibri" pitchFamily="34" charset="-120"/>
              </a:rPr>
              <a:t>SOFT TISSUES</a:t>
            </a:r>
            <a:endParaRPr lang="en-US" sz="900" dirty="0"/>
          </a:p>
        </p:txBody>
      </p:sp>
      <p:sp>
        <p:nvSpPr>
          <p:cNvPr id="26" name="Text 21"/>
          <p:cNvSpPr/>
          <p:nvPr/>
        </p:nvSpPr>
        <p:spPr>
          <a:xfrm>
            <a:off x="8046720" y="5852160"/>
            <a:ext cx="3657600" cy="777240"/>
          </a:xfrm>
          <a:prstGeom prst="rect">
            <a:avLst/>
          </a:prstGeom>
          <a:noFill/>
          <a:ln/>
        </p:spPr>
        <p:txBody>
          <a:bodyPr wrap="square" lIns="0" tIns="0" rIns="0" bIns="0" rtlCol="0" anchor="ctr"/>
          <a:lstStyle/>
          <a:p>
            <a:pPr indent="0" marL="0">
              <a:buNone/>
            </a:pPr>
            <a:r>
              <a:rPr lang="en-US" sz="1200" i="1" dirty="0">
                <a:solidFill>
                  <a:srgbClr val="1A1A1A"/>
                </a:solidFill>
                <a:latin typeface="Georgia" pitchFamily="34" charset="0"/>
                <a:ea typeface="Georgia" pitchFamily="34" charset="-122"/>
                <a:cs typeface="Georgia" pitchFamily="34" charset="-120"/>
              </a:rPr>
              <a:t>Labial · buccal mucosa · floor · vestibule · tongue · palate · tonsils — all unremarkable.</a:t>
            </a:r>
            <a:endParaRPr lang="en-US" sz="1200" dirty="0"/>
          </a:p>
        </p:txBody>
      </p:sp>
      <p:sp>
        <p:nvSpPr>
          <p:cNvPr id="27" name="Shape 22"/>
          <p:cNvSpPr/>
          <p:nvPr/>
        </p:nvSpPr>
        <p:spPr>
          <a:xfrm>
            <a:off x="457200" y="6492240"/>
            <a:ext cx="11247120" cy="13716"/>
          </a:xfrm>
          <a:prstGeom prst="rect">
            <a:avLst/>
          </a:prstGeom>
          <a:solidFill>
            <a:srgbClr val="1A1A1A"/>
          </a:solidFill>
          <a:ln/>
        </p:spPr>
      </p:sp>
      <p:sp>
        <p:nvSpPr>
          <p:cNvPr id="28" name="Text 23"/>
          <p:cNvSpPr/>
          <p:nvPr/>
        </p:nvSpPr>
        <p:spPr>
          <a:xfrm>
            <a:off x="457200" y="6565392"/>
            <a:ext cx="8686800" cy="228600"/>
          </a:xfrm>
          <a:prstGeom prst="rect">
            <a:avLst/>
          </a:prstGeom>
          <a:noFill/>
          <a:ln/>
        </p:spPr>
        <p:txBody>
          <a:bodyPr wrap="square" rtlCol="0" anchor="ctr"/>
          <a:lstStyle/>
          <a:p>
            <a:pPr indent="0" marL="0">
              <a:buNone/>
            </a:pPr>
            <a:r>
              <a:rPr lang="en-US" sz="800" i="1" spc="400" kern="0" dirty="0">
                <a:solidFill>
                  <a:srgbClr val="5C4F3A"/>
                </a:solidFill>
                <a:latin typeface="Calibri" pitchFamily="34" charset="0"/>
                <a:ea typeface="Calibri" pitchFamily="34" charset="-122"/>
                <a:cs typeface="Calibri" pitchFamily="34" charset="-120"/>
              </a:rPr>
              <a:t>IBRAHIM ALSHAHRANI · 2110301  ·  M. HANASH · M140426001</a:t>
            </a:r>
            <a:endParaRPr lang="en-US" sz="800" dirty="0"/>
          </a:p>
        </p:txBody>
      </p:sp>
      <p:sp>
        <p:nvSpPr>
          <p:cNvPr id="29" name="Text 24"/>
          <p:cNvSpPr/>
          <p:nvPr/>
        </p:nvSpPr>
        <p:spPr>
          <a:xfrm>
            <a:off x="9418320" y="6565392"/>
            <a:ext cx="2286000" cy="228600"/>
          </a:xfrm>
          <a:prstGeom prst="rect">
            <a:avLst/>
          </a:prstGeom>
          <a:noFill/>
          <a:ln/>
        </p:spPr>
        <p:txBody>
          <a:bodyPr wrap="square" rtlCol="0" anchor="ctr"/>
          <a:lstStyle/>
          <a:p>
            <a:pPr algn="r" indent="0" marL="0">
              <a:buNone/>
            </a:pPr>
            <a:r>
              <a:rPr lang="en-US" sz="800" b="1" spc="600" kern="0" dirty="0">
                <a:solidFill>
                  <a:srgbClr val="5C4F3A"/>
                </a:solidFill>
                <a:latin typeface="Calibri" pitchFamily="34" charset="0"/>
                <a:ea typeface="Calibri" pitchFamily="34" charset="-122"/>
                <a:cs typeface="Calibri" pitchFamily="34" charset="-120"/>
              </a:rPr>
              <a:t>PAGE  07  /  16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EDE0"/>
        </a:solidFill>
      </p:bgPr>
    </p:bg>
    <p:spTree>
      <p:nvGrpSpPr>
        <p:cNvPr id="1" name=""/>
        <p:cNvGrpSpPr/>
        <p:nvPr/>
      </p:nvGrpSpPr>
      <p:grpSpPr>
        <a:xfrm>
          <a:off x="0" y="0"/>
          <a:ext cx="0" cy="0"/>
          <a:chOff x="0" y="0"/>
          <a:chExt cx="0" cy="0"/>
        </a:xfrm>
      </p:grpSpPr>
      <p:sp>
        <p:nvSpPr>
          <p:cNvPr id="2" name="Shape 0"/>
          <p:cNvSpPr/>
          <p:nvPr/>
        </p:nvSpPr>
        <p:spPr>
          <a:xfrm>
            <a:off x="457200" y="457200"/>
            <a:ext cx="11247120" cy="13716"/>
          </a:xfrm>
          <a:prstGeom prst="rect">
            <a:avLst/>
          </a:prstGeom>
          <a:solidFill>
            <a:srgbClr val="1A1A1A"/>
          </a:solidFill>
          <a:ln/>
        </p:spPr>
      </p:sp>
      <p:sp>
        <p:nvSpPr>
          <p:cNvPr id="3" name="Text 1"/>
          <p:cNvSpPr/>
          <p:nvPr/>
        </p:nvSpPr>
        <p:spPr>
          <a:xfrm>
            <a:off x="457200" y="548640"/>
            <a:ext cx="5486400" cy="274320"/>
          </a:xfrm>
          <a:prstGeom prst="rect">
            <a:avLst/>
          </a:prstGeom>
          <a:noFill/>
          <a:ln/>
        </p:spPr>
        <p:txBody>
          <a:bodyPr wrap="square" rtlCol="0" anchor="ctr"/>
          <a:lstStyle/>
          <a:p>
            <a:pPr indent="0" marL="0">
              <a:buNone/>
            </a:pPr>
            <a:r>
              <a:rPr lang="en-US" sz="900" b="1" spc="800" kern="0" dirty="0">
                <a:solidFill>
                  <a:srgbClr val="5C4F3A"/>
                </a:solidFill>
                <a:latin typeface="Calibri" pitchFamily="34" charset="0"/>
                <a:ea typeface="Calibri" pitchFamily="34" charset="-122"/>
                <a:cs typeface="Calibri" pitchFamily="34" charset="-120"/>
              </a:rPr>
              <a:t>DENTAL CHART</a:t>
            </a:r>
            <a:endParaRPr lang="en-US" sz="900" dirty="0"/>
          </a:p>
        </p:txBody>
      </p:sp>
      <p:sp>
        <p:nvSpPr>
          <p:cNvPr id="4" name="Text 2"/>
          <p:cNvSpPr/>
          <p:nvPr/>
        </p:nvSpPr>
        <p:spPr>
          <a:xfrm>
            <a:off x="6217920" y="548640"/>
            <a:ext cx="5486400" cy="274320"/>
          </a:xfrm>
          <a:prstGeom prst="rect">
            <a:avLst/>
          </a:prstGeom>
          <a:noFill/>
          <a:ln/>
        </p:spPr>
        <p:txBody>
          <a:bodyPr wrap="square" rtlCol="0" anchor="ctr"/>
          <a:lstStyle/>
          <a:p>
            <a:pPr algn="r" indent="0" marL="0">
              <a:buNone/>
            </a:pPr>
            <a:r>
              <a:rPr lang="en-US" sz="900" b="1" spc="800" kern="0" dirty="0">
                <a:solidFill>
                  <a:srgbClr val="5C4F3A"/>
                </a:solidFill>
                <a:latin typeface="Calibri" pitchFamily="34" charset="0"/>
                <a:ea typeface="Calibri" pitchFamily="34" charset="-122"/>
                <a:cs typeface="Calibri" pitchFamily="34" charset="-120"/>
              </a:rPr>
              <a:t>CASE PRESENTATION</a:t>
            </a:r>
            <a:endParaRPr lang="en-US" sz="900" dirty="0"/>
          </a:p>
        </p:txBody>
      </p:sp>
      <p:sp>
        <p:nvSpPr>
          <p:cNvPr id="5" name="Text 3"/>
          <p:cNvSpPr/>
          <p:nvPr/>
        </p:nvSpPr>
        <p:spPr>
          <a:xfrm>
            <a:off x="457200" y="914400"/>
            <a:ext cx="6400800" cy="1097280"/>
          </a:xfrm>
          <a:prstGeom prst="rect">
            <a:avLst/>
          </a:prstGeom>
          <a:noFill/>
          <a:ln/>
        </p:spPr>
        <p:txBody>
          <a:bodyPr wrap="square" lIns="0" tIns="0" rIns="0" bIns="0" rtlCol="0" anchor="ctr"/>
          <a:lstStyle/>
          <a:p>
            <a:pPr indent="0" marL="0">
              <a:buNone/>
            </a:pPr>
            <a:r>
              <a:rPr lang="en-US" sz="7200" b="1" i="1" dirty="0">
                <a:solidFill>
                  <a:srgbClr val="1A1A1A"/>
                </a:solidFill>
                <a:latin typeface="Georgia" pitchFamily="34" charset="0"/>
                <a:ea typeface="Georgia" pitchFamily="34" charset="-122"/>
                <a:cs typeface="Georgia" pitchFamily="34" charset="-120"/>
              </a:rPr>
              <a:t>The chart.</a:t>
            </a:r>
            <a:endParaRPr lang="en-US" sz="7200" dirty="0"/>
          </a:p>
        </p:txBody>
      </p:sp>
      <p:sp>
        <p:nvSpPr>
          <p:cNvPr id="6" name="Shape 4"/>
          <p:cNvSpPr/>
          <p:nvPr/>
        </p:nvSpPr>
        <p:spPr>
          <a:xfrm>
            <a:off x="457200" y="1965960"/>
            <a:ext cx="914400" cy="36576"/>
          </a:xfrm>
          <a:prstGeom prst="rect">
            <a:avLst/>
          </a:prstGeom>
          <a:solidFill>
            <a:srgbClr val="B8893E"/>
          </a:solidFill>
          <a:ln/>
        </p:spPr>
      </p:sp>
      <p:sp>
        <p:nvSpPr>
          <p:cNvPr id="7" name="Text 5"/>
          <p:cNvSpPr/>
          <p:nvPr/>
        </p:nvSpPr>
        <p:spPr>
          <a:xfrm>
            <a:off x="457200" y="2103120"/>
            <a:ext cx="5486400" cy="274320"/>
          </a:xfrm>
          <a:prstGeom prst="rect">
            <a:avLst/>
          </a:prstGeom>
          <a:noFill/>
          <a:ln/>
        </p:spPr>
        <p:txBody>
          <a:bodyPr wrap="square" rtlCol="0" anchor="ctr"/>
          <a:lstStyle/>
          <a:p>
            <a:pPr indent="0" marL="0">
              <a:buNone/>
            </a:pPr>
            <a:r>
              <a:rPr lang="en-US" sz="1000" b="1" spc="600" kern="0" dirty="0">
                <a:solidFill>
                  <a:srgbClr val="6B1F2E"/>
                </a:solidFill>
                <a:latin typeface="Calibri" pitchFamily="34" charset="0"/>
                <a:ea typeface="Calibri" pitchFamily="34" charset="-122"/>
                <a:cs typeface="Calibri" pitchFamily="34" charset="-120"/>
              </a:rPr>
              <a:t>FDI TWO-DIGIT NOTATION</a:t>
            </a:r>
            <a:endParaRPr lang="en-US" sz="1000" dirty="0"/>
          </a:p>
        </p:txBody>
      </p:sp>
      <p:sp>
        <p:nvSpPr>
          <p:cNvPr id="8" name="Text 6"/>
          <p:cNvSpPr/>
          <p:nvPr/>
        </p:nvSpPr>
        <p:spPr>
          <a:xfrm>
            <a:off x="6400800" y="1280160"/>
            <a:ext cx="5303520" cy="914400"/>
          </a:xfrm>
          <a:prstGeom prst="rect">
            <a:avLst/>
          </a:prstGeom>
          <a:noFill/>
          <a:ln/>
        </p:spPr>
        <p:txBody>
          <a:bodyPr wrap="square" lIns="0" tIns="0" rIns="0" bIns="0" rtlCol="0" anchor="ctr"/>
          <a:lstStyle/>
          <a:p>
            <a:pPr indent="0" marL="0">
              <a:buNone/>
            </a:pPr>
            <a:r>
              <a:rPr lang="en-US" sz="1300" i="1" dirty="0">
                <a:solidFill>
                  <a:srgbClr val="5C4F3A"/>
                </a:solidFill>
                <a:latin typeface="Georgia" pitchFamily="34" charset="0"/>
                <a:ea typeface="Georgia" pitchFamily="34" charset="-122"/>
                <a:cs typeface="Georgia" pitchFamily="34" charset="-120"/>
              </a:rPr>
              <a:t>Two teeth of clinical interest highlighted: tooth 17 with an existing restoration, and tooth 27 — previously root canal treated, now showing recurrent caries.</a:t>
            </a:r>
            <a:endParaRPr lang="en-US" sz="1300" dirty="0"/>
          </a:p>
        </p:txBody>
      </p:sp>
      <p:pic>
        <p:nvPicPr>
          <p:cNvPr id="9" name="Image 0" descr="preencoded.png">    </p:cNvPr>
          <p:cNvPicPr>
            <a:picLocks noChangeAspect="1"/>
          </p:cNvPicPr>
          <p:nvPr/>
        </p:nvPicPr>
        <p:blipFill>
          <a:blip r:embed="rId1"/>
          <a:stretch>
            <a:fillRect/>
          </a:stretch>
        </p:blipFill>
        <p:spPr>
          <a:xfrm>
            <a:off x="2514600" y="2194560"/>
            <a:ext cx="7132320" cy="4160520"/>
          </a:xfrm>
          <a:prstGeom prst="rect">
            <a:avLst/>
          </a:prstGeom>
        </p:spPr>
      </p:pic>
      <p:sp>
        <p:nvSpPr>
          <p:cNvPr id="10" name="Shape 7"/>
          <p:cNvSpPr/>
          <p:nvPr/>
        </p:nvSpPr>
        <p:spPr>
          <a:xfrm>
            <a:off x="1371600" y="6035040"/>
            <a:ext cx="274320" cy="274320"/>
          </a:xfrm>
          <a:prstGeom prst="rect">
            <a:avLst/>
          </a:prstGeom>
          <a:solidFill>
            <a:srgbClr val="1A1A1A"/>
          </a:solidFill>
          <a:ln/>
        </p:spPr>
      </p:sp>
      <p:sp>
        <p:nvSpPr>
          <p:cNvPr id="11" name="Text 8"/>
          <p:cNvSpPr/>
          <p:nvPr/>
        </p:nvSpPr>
        <p:spPr>
          <a:xfrm>
            <a:off x="1737360" y="5989320"/>
            <a:ext cx="2834640" cy="228600"/>
          </a:xfrm>
          <a:prstGeom prst="rect">
            <a:avLst/>
          </a:prstGeom>
          <a:noFill/>
          <a:ln/>
        </p:spPr>
        <p:txBody>
          <a:bodyPr wrap="square" rtlCol="0" anchor="ctr"/>
          <a:lstStyle/>
          <a:p>
            <a:pPr indent="0" marL="0">
              <a:buNone/>
            </a:pPr>
            <a:r>
              <a:rPr lang="en-US" sz="900" b="1" spc="600" kern="0" dirty="0">
                <a:solidFill>
                  <a:srgbClr val="1A1A1A"/>
                </a:solidFill>
                <a:latin typeface="Calibri" pitchFamily="34" charset="0"/>
                <a:ea typeface="Calibri" pitchFamily="34" charset="-122"/>
                <a:cs typeface="Calibri" pitchFamily="34" charset="-120"/>
              </a:rPr>
              <a:t>EXISTING RESTORATION</a:t>
            </a:r>
            <a:endParaRPr lang="en-US" sz="900" dirty="0"/>
          </a:p>
        </p:txBody>
      </p:sp>
      <p:sp>
        <p:nvSpPr>
          <p:cNvPr id="12" name="Text 9"/>
          <p:cNvSpPr/>
          <p:nvPr/>
        </p:nvSpPr>
        <p:spPr>
          <a:xfrm>
            <a:off x="1737360" y="6190488"/>
            <a:ext cx="2834640" cy="228600"/>
          </a:xfrm>
          <a:prstGeom prst="rect">
            <a:avLst/>
          </a:prstGeom>
          <a:noFill/>
          <a:ln/>
        </p:spPr>
        <p:txBody>
          <a:bodyPr wrap="square" rtlCol="0" anchor="ctr"/>
          <a:lstStyle/>
          <a:p>
            <a:pPr indent="0" marL="0">
              <a:buNone/>
            </a:pPr>
            <a:r>
              <a:rPr lang="en-US" sz="1100" b="1" i="1" dirty="0">
                <a:solidFill>
                  <a:srgbClr val="6B1F2E"/>
                </a:solidFill>
                <a:latin typeface="Georgia" pitchFamily="34" charset="0"/>
                <a:ea typeface="Georgia" pitchFamily="34" charset="-122"/>
                <a:cs typeface="Georgia" pitchFamily="34" charset="-120"/>
              </a:rPr>
              <a:t>Tooth 17</a:t>
            </a:r>
            <a:endParaRPr lang="en-US" sz="1100" dirty="0"/>
          </a:p>
        </p:txBody>
      </p:sp>
      <p:sp>
        <p:nvSpPr>
          <p:cNvPr id="13" name="Shape 10"/>
          <p:cNvSpPr/>
          <p:nvPr/>
        </p:nvSpPr>
        <p:spPr>
          <a:xfrm>
            <a:off x="4663440" y="6035040"/>
            <a:ext cx="274320" cy="274320"/>
          </a:xfrm>
          <a:prstGeom prst="rect">
            <a:avLst/>
          </a:prstGeom>
          <a:solidFill>
            <a:srgbClr val="B8893E"/>
          </a:solidFill>
          <a:ln/>
        </p:spPr>
      </p:sp>
      <p:sp>
        <p:nvSpPr>
          <p:cNvPr id="14" name="Text 11"/>
          <p:cNvSpPr/>
          <p:nvPr/>
        </p:nvSpPr>
        <p:spPr>
          <a:xfrm>
            <a:off x="5029200" y="5989320"/>
            <a:ext cx="2834640" cy="228600"/>
          </a:xfrm>
          <a:prstGeom prst="rect">
            <a:avLst/>
          </a:prstGeom>
          <a:noFill/>
          <a:ln/>
        </p:spPr>
        <p:txBody>
          <a:bodyPr wrap="square" rtlCol="0" anchor="ctr"/>
          <a:lstStyle/>
          <a:p>
            <a:pPr indent="0" marL="0">
              <a:buNone/>
            </a:pPr>
            <a:r>
              <a:rPr lang="en-US" sz="900" b="1" spc="600" kern="0" dirty="0">
                <a:solidFill>
                  <a:srgbClr val="1A1A1A"/>
                </a:solidFill>
                <a:latin typeface="Calibri" pitchFamily="34" charset="0"/>
                <a:ea typeface="Calibri" pitchFamily="34" charset="-122"/>
                <a:cs typeface="Calibri" pitchFamily="34" charset="-120"/>
              </a:rPr>
              <a:t>ROOT-CANAL FILL</a:t>
            </a:r>
            <a:endParaRPr lang="en-US" sz="900" dirty="0"/>
          </a:p>
        </p:txBody>
      </p:sp>
      <p:sp>
        <p:nvSpPr>
          <p:cNvPr id="15" name="Text 12"/>
          <p:cNvSpPr/>
          <p:nvPr/>
        </p:nvSpPr>
        <p:spPr>
          <a:xfrm>
            <a:off x="5029200" y="6190488"/>
            <a:ext cx="2834640" cy="228600"/>
          </a:xfrm>
          <a:prstGeom prst="rect">
            <a:avLst/>
          </a:prstGeom>
          <a:noFill/>
          <a:ln/>
        </p:spPr>
        <p:txBody>
          <a:bodyPr wrap="square" rtlCol="0" anchor="ctr"/>
          <a:lstStyle/>
          <a:p>
            <a:pPr indent="0" marL="0">
              <a:buNone/>
            </a:pPr>
            <a:r>
              <a:rPr lang="en-US" sz="1100" b="1" i="1" dirty="0">
                <a:solidFill>
                  <a:srgbClr val="6B1F2E"/>
                </a:solidFill>
                <a:latin typeface="Georgia" pitchFamily="34" charset="0"/>
                <a:ea typeface="Georgia" pitchFamily="34" charset="-122"/>
                <a:cs typeface="Georgia" pitchFamily="34" charset="-120"/>
              </a:rPr>
              <a:t>Tooth 27</a:t>
            </a:r>
            <a:endParaRPr lang="en-US" sz="1100" dirty="0"/>
          </a:p>
        </p:txBody>
      </p:sp>
      <p:sp>
        <p:nvSpPr>
          <p:cNvPr id="16" name="Shape 13"/>
          <p:cNvSpPr/>
          <p:nvPr/>
        </p:nvSpPr>
        <p:spPr>
          <a:xfrm>
            <a:off x="7955280" y="6035040"/>
            <a:ext cx="274320" cy="274320"/>
          </a:xfrm>
          <a:prstGeom prst="rect">
            <a:avLst/>
          </a:prstGeom>
          <a:solidFill>
            <a:srgbClr val="6B1F2E"/>
          </a:solidFill>
          <a:ln/>
        </p:spPr>
      </p:sp>
      <p:sp>
        <p:nvSpPr>
          <p:cNvPr id="17" name="Text 14"/>
          <p:cNvSpPr/>
          <p:nvPr/>
        </p:nvSpPr>
        <p:spPr>
          <a:xfrm>
            <a:off x="8321040" y="5989320"/>
            <a:ext cx="2834640" cy="228600"/>
          </a:xfrm>
          <a:prstGeom prst="rect">
            <a:avLst/>
          </a:prstGeom>
          <a:noFill/>
          <a:ln/>
        </p:spPr>
        <p:txBody>
          <a:bodyPr wrap="square" rtlCol="0" anchor="ctr"/>
          <a:lstStyle/>
          <a:p>
            <a:pPr indent="0" marL="0">
              <a:buNone/>
            </a:pPr>
            <a:r>
              <a:rPr lang="en-US" sz="900" b="1" spc="600" kern="0" dirty="0">
                <a:solidFill>
                  <a:srgbClr val="1A1A1A"/>
                </a:solidFill>
                <a:latin typeface="Calibri" pitchFamily="34" charset="0"/>
                <a:ea typeface="Calibri" pitchFamily="34" charset="-122"/>
                <a:cs typeface="Calibri" pitchFamily="34" charset="-120"/>
              </a:rPr>
              <a:t>CARIES / LESION</a:t>
            </a:r>
            <a:endParaRPr lang="en-US" sz="900" dirty="0"/>
          </a:p>
        </p:txBody>
      </p:sp>
      <p:sp>
        <p:nvSpPr>
          <p:cNvPr id="18" name="Text 15"/>
          <p:cNvSpPr/>
          <p:nvPr/>
        </p:nvSpPr>
        <p:spPr>
          <a:xfrm>
            <a:off x="8321040" y="6190488"/>
            <a:ext cx="2834640" cy="228600"/>
          </a:xfrm>
          <a:prstGeom prst="rect">
            <a:avLst/>
          </a:prstGeom>
          <a:noFill/>
          <a:ln/>
        </p:spPr>
        <p:txBody>
          <a:bodyPr wrap="square" rtlCol="0" anchor="ctr"/>
          <a:lstStyle/>
          <a:p>
            <a:pPr indent="0" marL="0">
              <a:buNone/>
            </a:pPr>
            <a:r>
              <a:rPr lang="en-US" sz="1100" b="1" i="1" dirty="0">
                <a:solidFill>
                  <a:srgbClr val="6B1F2E"/>
                </a:solidFill>
                <a:latin typeface="Georgia" pitchFamily="34" charset="0"/>
                <a:ea typeface="Georgia" pitchFamily="34" charset="-122"/>
                <a:cs typeface="Georgia" pitchFamily="34" charset="-120"/>
              </a:rPr>
              <a:t>Tooth 27</a:t>
            </a:r>
            <a:endParaRPr lang="en-US" sz="1100" dirty="0"/>
          </a:p>
        </p:txBody>
      </p:sp>
      <p:sp>
        <p:nvSpPr>
          <p:cNvPr id="19" name="Shape 16"/>
          <p:cNvSpPr/>
          <p:nvPr/>
        </p:nvSpPr>
        <p:spPr>
          <a:xfrm>
            <a:off x="457200" y="6492240"/>
            <a:ext cx="11247120" cy="13716"/>
          </a:xfrm>
          <a:prstGeom prst="rect">
            <a:avLst/>
          </a:prstGeom>
          <a:solidFill>
            <a:srgbClr val="1A1A1A"/>
          </a:solidFill>
          <a:ln/>
        </p:spPr>
      </p:sp>
      <p:sp>
        <p:nvSpPr>
          <p:cNvPr id="20" name="Text 17"/>
          <p:cNvSpPr/>
          <p:nvPr/>
        </p:nvSpPr>
        <p:spPr>
          <a:xfrm>
            <a:off x="457200" y="6565392"/>
            <a:ext cx="8686800" cy="228600"/>
          </a:xfrm>
          <a:prstGeom prst="rect">
            <a:avLst/>
          </a:prstGeom>
          <a:noFill/>
          <a:ln/>
        </p:spPr>
        <p:txBody>
          <a:bodyPr wrap="square" rtlCol="0" anchor="ctr"/>
          <a:lstStyle/>
          <a:p>
            <a:pPr indent="0" marL="0">
              <a:buNone/>
            </a:pPr>
            <a:r>
              <a:rPr lang="en-US" sz="800" i="1" spc="400" kern="0" dirty="0">
                <a:solidFill>
                  <a:srgbClr val="5C4F3A"/>
                </a:solidFill>
                <a:latin typeface="Calibri" pitchFamily="34" charset="0"/>
                <a:ea typeface="Calibri" pitchFamily="34" charset="-122"/>
                <a:cs typeface="Calibri" pitchFamily="34" charset="-120"/>
              </a:rPr>
              <a:t>IBRAHIM ALSHAHRANI · 2110301  ·  M. HANASH · M140426001</a:t>
            </a:r>
            <a:endParaRPr lang="en-US" sz="800" dirty="0"/>
          </a:p>
        </p:txBody>
      </p:sp>
      <p:sp>
        <p:nvSpPr>
          <p:cNvPr id="21" name="Text 18"/>
          <p:cNvSpPr/>
          <p:nvPr/>
        </p:nvSpPr>
        <p:spPr>
          <a:xfrm>
            <a:off x="9418320" y="6565392"/>
            <a:ext cx="2286000" cy="228600"/>
          </a:xfrm>
          <a:prstGeom prst="rect">
            <a:avLst/>
          </a:prstGeom>
          <a:noFill/>
          <a:ln/>
        </p:spPr>
        <p:txBody>
          <a:bodyPr wrap="square" rtlCol="0" anchor="ctr"/>
          <a:lstStyle/>
          <a:p>
            <a:pPr algn="r" indent="0" marL="0">
              <a:buNone/>
            </a:pPr>
            <a:r>
              <a:rPr lang="en-US" sz="800" b="1" spc="600" kern="0" dirty="0">
                <a:solidFill>
                  <a:srgbClr val="5C4F3A"/>
                </a:solidFill>
                <a:latin typeface="Calibri" pitchFamily="34" charset="0"/>
                <a:ea typeface="Calibri" pitchFamily="34" charset="-122"/>
                <a:cs typeface="Calibri" pitchFamily="34" charset="-120"/>
              </a:rPr>
              <a:t>PAGE  08  /  16</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EDE0"/>
        </a:solidFill>
      </p:bgPr>
    </p:bg>
    <p:spTree>
      <p:nvGrpSpPr>
        <p:cNvPr id="1" name=""/>
        <p:cNvGrpSpPr/>
        <p:nvPr/>
      </p:nvGrpSpPr>
      <p:grpSpPr>
        <a:xfrm>
          <a:off x="0" y="0"/>
          <a:ext cx="0" cy="0"/>
          <a:chOff x="0" y="0"/>
          <a:chExt cx="0" cy="0"/>
        </a:xfrm>
      </p:grpSpPr>
      <p:sp>
        <p:nvSpPr>
          <p:cNvPr id="2" name="Shape 0"/>
          <p:cNvSpPr/>
          <p:nvPr/>
        </p:nvSpPr>
        <p:spPr>
          <a:xfrm>
            <a:off x="457200" y="457200"/>
            <a:ext cx="11247120" cy="13716"/>
          </a:xfrm>
          <a:prstGeom prst="rect">
            <a:avLst/>
          </a:prstGeom>
          <a:solidFill>
            <a:srgbClr val="1A1A1A"/>
          </a:solidFill>
          <a:ln/>
        </p:spPr>
      </p:sp>
      <p:sp>
        <p:nvSpPr>
          <p:cNvPr id="3" name="Text 1"/>
          <p:cNvSpPr/>
          <p:nvPr/>
        </p:nvSpPr>
        <p:spPr>
          <a:xfrm>
            <a:off x="457200" y="548640"/>
            <a:ext cx="5486400" cy="274320"/>
          </a:xfrm>
          <a:prstGeom prst="rect">
            <a:avLst/>
          </a:prstGeom>
          <a:noFill/>
          <a:ln/>
        </p:spPr>
        <p:txBody>
          <a:bodyPr wrap="square" rtlCol="0" anchor="ctr"/>
          <a:lstStyle/>
          <a:p>
            <a:pPr indent="0" marL="0">
              <a:buNone/>
            </a:pPr>
            <a:r>
              <a:rPr lang="en-US" sz="900" b="1" spc="800" kern="0" dirty="0">
                <a:solidFill>
                  <a:srgbClr val="5C4F3A"/>
                </a:solidFill>
                <a:latin typeface="Calibri" pitchFamily="34" charset="0"/>
                <a:ea typeface="Calibri" pitchFamily="34" charset="-122"/>
                <a:cs typeface="Calibri" pitchFamily="34" charset="-120"/>
              </a:rPr>
              <a:t>DIAGNOSIS</a:t>
            </a:r>
            <a:endParaRPr lang="en-US" sz="900" dirty="0"/>
          </a:p>
        </p:txBody>
      </p:sp>
      <p:sp>
        <p:nvSpPr>
          <p:cNvPr id="4" name="Text 2"/>
          <p:cNvSpPr/>
          <p:nvPr/>
        </p:nvSpPr>
        <p:spPr>
          <a:xfrm>
            <a:off x="6217920" y="548640"/>
            <a:ext cx="5486400" cy="274320"/>
          </a:xfrm>
          <a:prstGeom prst="rect">
            <a:avLst/>
          </a:prstGeom>
          <a:noFill/>
          <a:ln/>
        </p:spPr>
        <p:txBody>
          <a:bodyPr wrap="square" rtlCol="0" anchor="ctr"/>
          <a:lstStyle/>
          <a:p>
            <a:pPr algn="r" indent="0" marL="0">
              <a:buNone/>
            </a:pPr>
            <a:r>
              <a:rPr lang="en-US" sz="900" b="1" spc="800" kern="0" dirty="0">
                <a:solidFill>
                  <a:srgbClr val="5C4F3A"/>
                </a:solidFill>
                <a:latin typeface="Calibri" pitchFamily="34" charset="0"/>
                <a:ea typeface="Calibri" pitchFamily="34" charset="-122"/>
                <a:cs typeface="Calibri" pitchFamily="34" charset="-120"/>
              </a:rPr>
              <a:t>CASE PRESENTATION</a:t>
            </a:r>
            <a:endParaRPr lang="en-US" sz="900" dirty="0"/>
          </a:p>
        </p:txBody>
      </p:sp>
      <p:sp>
        <p:nvSpPr>
          <p:cNvPr id="5" name="Text 3"/>
          <p:cNvSpPr/>
          <p:nvPr/>
        </p:nvSpPr>
        <p:spPr>
          <a:xfrm>
            <a:off x="457200" y="914400"/>
            <a:ext cx="3657600" cy="1097280"/>
          </a:xfrm>
          <a:prstGeom prst="rect">
            <a:avLst/>
          </a:prstGeom>
          <a:noFill/>
          <a:ln/>
        </p:spPr>
        <p:txBody>
          <a:bodyPr wrap="square" lIns="0" tIns="0" rIns="0" bIns="0" rtlCol="0" anchor="ctr"/>
          <a:lstStyle/>
          <a:p>
            <a:pPr indent="0" marL="0">
              <a:buNone/>
            </a:pPr>
            <a:r>
              <a:rPr lang="en-US" sz="8000" b="1" i="1" dirty="0">
                <a:solidFill>
                  <a:srgbClr val="1A1A1A"/>
                </a:solidFill>
                <a:latin typeface="Georgia" pitchFamily="34" charset="0"/>
                <a:ea typeface="Georgia" pitchFamily="34" charset="-122"/>
                <a:cs typeface="Georgia" pitchFamily="34" charset="-120"/>
              </a:rPr>
              <a:t>Two</a:t>
            </a:r>
            <a:endParaRPr lang="en-US" sz="8000" dirty="0"/>
          </a:p>
        </p:txBody>
      </p:sp>
      <p:sp>
        <p:nvSpPr>
          <p:cNvPr id="6" name="Text 4"/>
          <p:cNvSpPr/>
          <p:nvPr/>
        </p:nvSpPr>
        <p:spPr>
          <a:xfrm>
            <a:off x="457200" y="1828800"/>
            <a:ext cx="6400800" cy="1097280"/>
          </a:xfrm>
          <a:prstGeom prst="rect">
            <a:avLst/>
          </a:prstGeom>
          <a:noFill/>
          <a:ln/>
        </p:spPr>
        <p:txBody>
          <a:bodyPr wrap="square" lIns="0" tIns="0" rIns="0" bIns="0" rtlCol="0" anchor="ctr"/>
          <a:lstStyle/>
          <a:p>
            <a:pPr indent="0" marL="0">
              <a:buNone/>
            </a:pPr>
            <a:r>
              <a:rPr lang="en-US" sz="8000" b="1" i="1" dirty="0">
                <a:solidFill>
                  <a:srgbClr val="6B1F2E"/>
                </a:solidFill>
                <a:latin typeface="Georgia" pitchFamily="34" charset="0"/>
                <a:ea typeface="Georgia" pitchFamily="34" charset="-122"/>
                <a:cs typeface="Georgia" pitchFamily="34" charset="-120"/>
              </a:rPr>
              <a:t>readings.</a:t>
            </a:r>
            <a:endParaRPr lang="en-US" sz="8000" dirty="0"/>
          </a:p>
        </p:txBody>
      </p:sp>
      <p:sp>
        <p:nvSpPr>
          <p:cNvPr id="7" name="Text 5"/>
          <p:cNvSpPr/>
          <p:nvPr/>
        </p:nvSpPr>
        <p:spPr>
          <a:xfrm>
            <a:off x="6858000" y="1371600"/>
            <a:ext cx="4846320" cy="1371600"/>
          </a:xfrm>
          <a:prstGeom prst="rect">
            <a:avLst/>
          </a:prstGeom>
          <a:noFill/>
          <a:ln/>
        </p:spPr>
        <p:txBody>
          <a:bodyPr wrap="square" lIns="0" tIns="0" rIns="0" bIns="0" rtlCol="0" anchor="ctr"/>
          <a:lstStyle/>
          <a:p>
            <a:pPr indent="0" marL="0">
              <a:buNone/>
            </a:pPr>
            <a:r>
              <a:rPr lang="en-US" sz="1400" i="1" dirty="0">
                <a:solidFill>
                  <a:srgbClr val="5C4F3A"/>
                </a:solidFill>
                <a:latin typeface="Georgia" pitchFamily="34" charset="0"/>
                <a:ea typeface="Georgia" pitchFamily="34" charset="-122"/>
                <a:cs typeface="Georgia" pitchFamily="34" charset="-120"/>
              </a:rPr>
              <a:t>A provisional reading from clinical findings, set against likely differentials.</a:t>
            </a:r>
            <a:endParaRPr lang="en-US" sz="1400" dirty="0"/>
          </a:p>
        </p:txBody>
      </p:sp>
      <p:sp>
        <p:nvSpPr>
          <p:cNvPr id="8" name="Shape 6"/>
          <p:cNvSpPr/>
          <p:nvPr/>
        </p:nvSpPr>
        <p:spPr>
          <a:xfrm>
            <a:off x="457200" y="3200400"/>
            <a:ext cx="5486400" cy="3200400"/>
          </a:xfrm>
          <a:prstGeom prst="rect">
            <a:avLst/>
          </a:prstGeom>
          <a:solidFill>
            <a:srgbClr val="6B1F2E"/>
          </a:solidFill>
          <a:ln/>
        </p:spPr>
      </p:sp>
      <p:sp>
        <p:nvSpPr>
          <p:cNvPr id="9" name="Text 7"/>
          <p:cNvSpPr/>
          <p:nvPr/>
        </p:nvSpPr>
        <p:spPr>
          <a:xfrm>
            <a:off x="640080" y="3337560"/>
            <a:ext cx="5120640" cy="274320"/>
          </a:xfrm>
          <a:prstGeom prst="rect">
            <a:avLst/>
          </a:prstGeom>
          <a:noFill/>
          <a:ln/>
        </p:spPr>
        <p:txBody>
          <a:bodyPr wrap="square" rtlCol="0" anchor="ctr"/>
          <a:lstStyle/>
          <a:p>
            <a:pPr indent="0" marL="0">
              <a:buNone/>
            </a:pPr>
            <a:r>
              <a:rPr lang="en-US" sz="1000" b="1" spc="1000" kern="0" dirty="0">
                <a:solidFill>
                  <a:srgbClr val="D4AF37"/>
                </a:solidFill>
                <a:latin typeface="Calibri" pitchFamily="34" charset="0"/>
                <a:ea typeface="Calibri" pitchFamily="34" charset="-122"/>
                <a:cs typeface="Calibri" pitchFamily="34" charset="-120"/>
              </a:rPr>
              <a:t>PROVISIONAL</a:t>
            </a:r>
            <a:endParaRPr lang="en-US" sz="1000" dirty="0"/>
          </a:p>
        </p:txBody>
      </p:sp>
      <p:sp>
        <p:nvSpPr>
          <p:cNvPr id="10" name="Shape 8"/>
          <p:cNvSpPr/>
          <p:nvPr/>
        </p:nvSpPr>
        <p:spPr>
          <a:xfrm>
            <a:off x="640080" y="3657600"/>
            <a:ext cx="457200" cy="27432"/>
          </a:xfrm>
          <a:prstGeom prst="rect">
            <a:avLst/>
          </a:prstGeom>
          <a:solidFill>
            <a:srgbClr val="B8893E"/>
          </a:solidFill>
          <a:ln/>
        </p:spPr>
      </p:sp>
      <p:sp>
        <p:nvSpPr>
          <p:cNvPr id="11" name="Text 9"/>
          <p:cNvSpPr/>
          <p:nvPr/>
        </p:nvSpPr>
        <p:spPr>
          <a:xfrm>
            <a:off x="640080" y="3840480"/>
            <a:ext cx="640080" cy="548640"/>
          </a:xfrm>
          <a:prstGeom prst="rect">
            <a:avLst/>
          </a:prstGeom>
          <a:noFill/>
          <a:ln/>
        </p:spPr>
        <p:txBody>
          <a:bodyPr wrap="square" lIns="0" tIns="0" rIns="0" bIns="0" rtlCol="0" anchor="ctr"/>
          <a:lstStyle/>
          <a:p>
            <a:pPr indent="0" marL="0">
              <a:buNone/>
            </a:pPr>
            <a:r>
              <a:rPr lang="en-US" sz="3600" b="1" i="1" dirty="0">
                <a:solidFill>
                  <a:srgbClr val="B8893E"/>
                </a:solidFill>
                <a:latin typeface="Georgia" pitchFamily="34" charset="0"/>
                <a:ea typeface="Georgia" pitchFamily="34" charset="-122"/>
                <a:cs typeface="Georgia" pitchFamily="34" charset="-120"/>
              </a:rPr>
              <a:t>I</a:t>
            </a:r>
            <a:endParaRPr lang="en-US" sz="3600" dirty="0"/>
          </a:p>
        </p:txBody>
      </p:sp>
      <p:sp>
        <p:nvSpPr>
          <p:cNvPr id="12" name="Text 10"/>
          <p:cNvSpPr/>
          <p:nvPr/>
        </p:nvSpPr>
        <p:spPr>
          <a:xfrm>
            <a:off x="1371600" y="3931920"/>
            <a:ext cx="3657600" cy="274320"/>
          </a:xfrm>
          <a:prstGeom prst="rect">
            <a:avLst/>
          </a:prstGeom>
          <a:noFill/>
          <a:ln/>
        </p:spPr>
        <p:txBody>
          <a:bodyPr wrap="square" rtlCol="0" anchor="ctr"/>
          <a:lstStyle/>
          <a:p>
            <a:pPr indent="0" marL="0">
              <a:buNone/>
            </a:pPr>
            <a:r>
              <a:rPr lang="en-US" sz="1000" b="1" spc="800" kern="0" dirty="0">
                <a:solidFill>
                  <a:srgbClr val="D4AF37"/>
                </a:solidFill>
                <a:latin typeface="Calibri" pitchFamily="34" charset="0"/>
                <a:ea typeface="Calibri" pitchFamily="34" charset="-122"/>
                <a:cs typeface="Calibri" pitchFamily="34" charset="-120"/>
              </a:rPr>
              <a:t>TOOTH 27</a:t>
            </a:r>
            <a:endParaRPr lang="en-US" sz="1000" dirty="0"/>
          </a:p>
        </p:txBody>
      </p:sp>
      <p:sp>
        <p:nvSpPr>
          <p:cNvPr id="13" name="Text 11"/>
          <p:cNvSpPr/>
          <p:nvPr/>
        </p:nvSpPr>
        <p:spPr>
          <a:xfrm>
            <a:off x="1371600" y="4206240"/>
            <a:ext cx="4297680" cy="822960"/>
          </a:xfrm>
          <a:prstGeom prst="rect">
            <a:avLst/>
          </a:prstGeom>
          <a:noFill/>
          <a:ln/>
        </p:spPr>
        <p:txBody>
          <a:bodyPr wrap="square" lIns="0" tIns="0" rIns="0" bIns="0" rtlCol="0" anchor="ctr"/>
          <a:lstStyle/>
          <a:p>
            <a:pPr indent="0" marL="0">
              <a:buNone/>
            </a:pPr>
            <a:r>
              <a:rPr lang="en-US" sz="1400" i="1" dirty="0">
                <a:solidFill>
                  <a:srgbClr val="F4EDE0"/>
                </a:solidFill>
                <a:latin typeface="Georgia" pitchFamily="34" charset="0"/>
                <a:ea typeface="Georgia" pitchFamily="34" charset="-122"/>
                <a:cs typeface="Georgia" pitchFamily="34" charset="-120"/>
              </a:rPr>
              <a:t>Deep caries on a previously root canal treated tooth.</a:t>
            </a:r>
            <a:endParaRPr lang="en-US" sz="1400" dirty="0"/>
          </a:p>
        </p:txBody>
      </p:sp>
      <p:sp>
        <p:nvSpPr>
          <p:cNvPr id="14" name="Text 12"/>
          <p:cNvSpPr/>
          <p:nvPr/>
        </p:nvSpPr>
        <p:spPr>
          <a:xfrm>
            <a:off x="640080" y="5120640"/>
            <a:ext cx="640080" cy="548640"/>
          </a:xfrm>
          <a:prstGeom prst="rect">
            <a:avLst/>
          </a:prstGeom>
          <a:noFill/>
          <a:ln/>
        </p:spPr>
        <p:txBody>
          <a:bodyPr wrap="square" lIns="0" tIns="0" rIns="0" bIns="0" rtlCol="0" anchor="ctr"/>
          <a:lstStyle/>
          <a:p>
            <a:pPr indent="0" marL="0">
              <a:buNone/>
            </a:pPr>
            <a:r>
              <a:rPr lang="en-US" sz="3600" b="1" i="1" dirty="0">
                <a:solidFill>
                  <a:srgbClr val="B8893E"/>
                </a:solidFill>
                <a:latin typeface="Georgia" pitchFamily="34" charset="0"/>
                <a:ea typeface="Georgia" pitchFamily="34" charset="-122"/>
                <a:cs typeface="Georgia" pitchFamily="34" charset="-120"/>
              </a:rPr>
              <a:t>II</a:t>
            </a:r>
            <a:endParaRPr lang="en-US" sz="3600" dirty="0"/>
          </a:p>
        </p:txBody>
      </p:sp>
      <p:sp>
        <p:nvSpPr>
          <p:cNvPr id="15" name="Text 13"/>
          <p:cNvSpPr/>
          <p:nvPr/>
        </p:nvSpPr>
        <p:spPr>
          <a:xfrm>
            <a:off x="1371600" y="5212080"/>
            <a:ext cx="3657600" cy="274320"/>
          </a:xfrm>
          <a:prstGeom prst="rect">
            <a:avLst/>
          </a:prstGeom>
          <a:noFill/>
          <a:ln/>
        </p:spPr>
        <p:txBody>
          <a:bodyPr wrap="square" rtlCol="0" anchor="ctr"/>
          <a:lstStyle/>
          <a:p>
            <a:pPr indent="0" marL="0">
              <a:buNone/>
            </a:pPr>
            <a:r>
              <a:rPr lang="en-US" sz="1000" b="1" spc="800" kern="0" dirty="0">
                <a:solidFill>
                  <a:srgbClr val="D4AF37"/>
                </a:solidFill>
                <a:latin typeface="Calibri" pitchFamily="34" charset="0"/>
                <a:ea typeface="Calibri" pitchFamily="34" charset="-122"/>
                <a:cs typeface="Calibri" pitchFamily="34" charset="-120"/>
              </a:rPr>
              <a:t>TOOTH 17</a:t>
            </a:r>
            <a:endParaRPr lang="en-US" sz="1000" dirty="0"/>
          </a:p>
        </p:txBody>
      </p:sp>
      <p:sp>
        <p:nvSpPr>
          <p:cNvPr id="16" name="Text 14"/>
          <p:cNvSpPr/>
          <p:nvPr/>
        </p:nvSpPr>
        <p:spPr>
          <a:xfrm>
            <a:off x="1371600" y="5486400"/>
            <a:ext cx="4297680" cy="822960"/>
          </a:xfrm>
          <a:prstGeom prst="rect">
            <a:avLst/>
          </a:prstGeom>
          <a:noFill/>
          <a:ln/>
        </p:spPr>
        <p:txBody>
          <a:bodyPr wrap="square" lIns="0" tIns="0" rIns="0" bIns="0" rtlCol="0" anchor="ctr"/>
          <a:lstStyle/>
          <a:p>
            <a:pPr indent="0" marL="0">
              <a:buNone/>
            </a:pPr>
            <a:r>
              <a:rPr lang="en-US" sz="1400" i="1" dirty="0">
                <a:solidFill>
                  <a:srgbClr val="F4EDE0"/>
                </a:solidFill>
                <a:latin typeface="Georgia" pitchFamily="34" charset="0"/>
                <a:ea typeface="Georgia" pitchFamily="34" charset="-122"/>
                <a:cs typeface="Georgia" pitchFamily="34" charset="-120"/>
              </a:rPr>
              <a:t>Over-contoured restoration with food impaction.</a:t>
            </a:r>
            <a:endParaRPr lang="en-US" sz="1400" dirty="0"/>
          </a:p>
        </p:txBody>
      </p:sp>
      <p:sp>
        <p:nvSpPr>
          <p:cNvPr id="17" name="Text 15"/>
          <p:cNvSpPr/>
          <p:nvPr/>
        </p:nvSpPr>
        <p:spPr>
          <a:xfrm>
            <a:off x="6400800" y="3337560"/>
            <a:ext cx="5120640" cy="274320"/>
          </a:xfrm>
          <a:prstGeom prst="rect">
            <a:avLst/>
          </a:prstGeom>
          <a:noFill/>
          <a:ln/>
        </p:spPr>
        <p:txBody>
          <a:bodyPr wrap="square" rtlCol="0" anchor="ctr"/>
          <a:lstStyle/>
          <a:p>
            <a:pPr indent="0" marL="0">
              <a:buNone/>
            </a:pPr>
            <a:r>
              <a:rPr lang="en-US" sz="1000" b="1" spc="1000" kern="0" dirty="0">
                <a:solidFill>
                  <a:srgbClr val="6B1F2E"/>
                </a:solidFill>
                <a:latin typeface="Calibri" pitchFamily="34" charset="0"/>
                <a:ea typeface="Calibri" pitchFamily="34" charset="-122"/>
                <a:cs typeface="Calibri" pitchFamily="34" charset="-120"/>
              </a:rPr>
              <a:t>DIFFERENTIAL</a:t>
            </a:r>
            <a:endParaRPr lang="en-US" sz="1000" dirty="0"/>
          </a:p>
        </p:txBody>
      </p:sp>
      <p:sp>
        <p:nvSpPr>
          <p:cNvPr id="18" name="Shape 16"/>
          <p:cNvSpPr/>
          <p:nvPr/>
        </p:nvSpPr>
        <p:spPr>
          <a:xfrm>
            <a:off x="6400800" y="3657600"/>
            <a:ext cx="457200" cy="27432"/>
          </a:xfrm>
          <a:prstGeom prst="rect">
            <a:avLst/>
          </a:prstGeom>
          <a:solidFill>
            <a:srgbClr val="B8893E"/>
          </a:solidFill>
          <a:ln/>
        </p:spPr>
      </p:sp>
      <p:sp>
        <p:nvSpPr>
          <p:cNvPr id="19" name="Text 17"/>
          <p:cNvSpPr/>
          <p:nvPr/>
        </p:nvSpPr>
        <p:spPr>
          <a:xfrm>
            <a:off x="6400800" y="3840480"/>
            <a:ext cx="640080" cy="548640"/>
          </a:xfrm>
          <a:prstGeom prst="rect">
            <a:avLst/>
          </a:prstGeom>
          <a:noFill/>
          <a:ln/>
        </p:spPr>
        <p:txBody>
          <a:bodyPr wrap="square" lIns="0" tIns="0" rIns="0" bIns="0" rtlCol="0" anchor="ctr"/>
          <a:lstStyle/>
          <a:p>
            <a:pPr indent="0" marL="0">
              <a:buNone/>
            </a:pPr>
            <a:r>
              <a:rPr lang="en-US" sz="3600" b="1" i="1" dirty="0">
                <a:solidFill>
                  <a:srgbClr val="B8893E"/>
                </a:solidFill>
                <a:latin typeface="Georgia" pitchFamily="34" charset="0"/>
                <a:ea typeface="Georgia" pitchFamily="34" charset="-122"/>
                <a:cs typeface="Georgia" pitchFamily="34" charset="-120"/>
              </a:rPr>
              <a:t>I</a:t>
            </a:r>
            <a:endParaRPr lang="en-US" sz="3600" dirty="0"/>
          </a:p>
        </p:txBody>
      </p:sp>
      <p:sp>
        <p:nvSpPr>
          <p:cNvPr id="20" name="Text 18"/>
          <p:cNvSpPr/>
          <p:nvPr/>
        </p:nvSpPr>
        <p:spPr>
          <a:xfrm>
            <a:off x="7040880" y="3886200"/>
            <a:ext cx="4572000" cy="457200"/>
          </a:xfrm>
          <a:prstGeom prst="rect">
            <a:avLst/>
          </a:prstGeom>
          <a:noFill/>
          <a:ln/>
        </p:spPr>
        <p:txBody>
          <a:bodyPr wrap="square" lIns="0" tIns="0" rIns="0" bIns="0" rtlCol="0" anchor="ctr"/>
          <a:lstStyle/>
          <a:p>
            <a:pPr indent="0" marL="0">
              <a:buNone/>
            </a:pPr>
            <a:r>
              <a:rPr lang="en-US" sz="1800" b="1" i="1" dirty="0">
                <a:solidFill>
                  <a:srgbClr val="1A1A1A"/>
                </a:solidFill>
                <a:latin typeface="Georgia" pitchFamily="34" charset="0"/>
                <a:ea typeface="Georgia" pitchFamily="34" charset="-122"/>
                <a:cs typeface="Georgia" pitchFamily="34" charset="-120"/>
              </a:rPr>
              <a:t>Secondary Caries</a:t>
            </a:r>
            <a:endParaRPr lang="en-US" sz="1800" dirty="0"/>
          </a:p>
        </p:txBody>
      </p:sp>
      <p:sp>
        <p:nvSpPr>
          <p:cNvPr id="21" name="Text 19"/>
          <p:cNvSpPr/>
          <p:nvPr/>
        </p:nvSpPr>
        <p:spPr>
          <a:xfrm>
            <a:off x="7040880" y="4343400"/>
            <a:ext cx="4572000" cy="731520"/>
          </a:xfrm>
          <a:prstGeom prst="rect">
            <a:avLst/>
          </a:prstGeom>
          <a:noFill/>
          <a:ln/>
        </p:spPr>
        <p:txBody>
          <a:bodyPr wrap="square" lIns="0" tIns="0" rIns="0" bIns="0" rtlCol="0" anchor="ctr"/>
          <a:lstStyle/>
          <a:p>
            <a:pPr indent="0" marL="0">
              <a:buNone/>
            </a:pPr>
            <a:r>
              <a:rPr lang="en-US" sz="1200" dirty="0">
                <a:solidFill>
                  <a:srgbClr val="5C4F3A"/>
                </a:solidFill>
                <a:latin typeface="Calibri" pitchFamily="34" charset="0"/>
                <a:ea typeface="Calibri" pitchFamily="34" charset="-122"/>
                <a:cs typeface="Calibri" pitchFamily="34" charset="-120"/>
              </a:rPr>
              <a:t>Recurrent decay beneath or adjacent to existing restoration.</a:t>
            </a:r>
            <a:endParaRPr lang="en-US" sz="1200" dirty="0"/>
          </a:p>
        </p:txBody>
      </p:sp>
      <p:sp>
        <p:nvSpPr>
          <p:cNvPr id="22" name="Text 20"/>
          <p:cNvSpPr/>
          <p:nvPr/>
        </p:nvSpPr>
        <p:spPr>
          <a:xfrm>
            <a:off x="6400800" y="5120640"/>
            <a:ext cx="640080" cy="548640"/>
          </a:xfrm>
          <a:prstGeom prst="rect">
            <a:avLst/>
          </a:prstGeom>
          <a:noFill/>
          <a:ln/>
        </p:spPr>
        <p:txBody>
          <a:bodyPr wrap="square" lIns="0" tIns="0" rIns="0" bIns="0" rtlCol="0" anchor="ctr"/>
          <a:lstStyle/>
          <a:p>
            <a:pPr indent="0" marL="0">
              <a:buNone/>
            </a:pPr>
            <a:r>
              <a:rPr lang="en-US" sz="3600" b="1" i="1" dirty="0">
                <a:solidFill>
                  <a:srgbClr val="B8893E"/>
                </a:solidFill>
                <a:latin typeface="Georgia" pitchFamily="34" charset="0"/>
                <a:ea typeface="Georgia" pitchFamily="34" charset="-122"/>
                <a:cs typeface="Georgia" pitchFamily="34" charset="-120"/>
              </a:rPr>
              <a:t>II</a:t>
            </a:r>
            <a:endParaRPr lang="en-US" sz="3600" dirty="0"/>
          </a:p>
        </p:txBody>
      </p:sp>
      <p:sp>
        <p:nvSpPr>
          <p:cNvPr id="23" name="Text 21"/>
          <p:cNvSpPr/>
          <p:nvPr/>
        </p:nvSpPr>
        <p:spPr>
          <a:xfrm>
            <a:off x="7040880" y="5166360"/>
            <a:ext cx="4572000" cy="457200"/>
          </a:xfrm>
          <a:prstGeom prst="rect">
            <a:avLst/>
          </a:prstGeom>
          <a:noFill/>
          <a:ln/>
        </p:spPr>
        <p:txBody>
          <a:bodyPr wrap="square" lIns="0" tIns="0" rIns="0" bIns="0" rtlCol="0" anchor="ctr"/>
          <a:lstStyle/>
          <a:p>
            <a:pPr indent="0" marL="0">
              <a:buNone/>
            </a:pPr>
            <a:r>
              <a:rPr lang="en-US" sz="1800" b="1" i="1" dirty="0">
                <a:solidFill>
                  <a:srgbClr val="1A1A1A"/>
                </a:solidFill>
                <a:latin typeface="Georgia" pitchFamily="34" charset="0"/>
                <a:ea typeface="Georgia" pitchFamily="34" charset="-122"/>
                <a:cs typeface="Georgia" pitchFamily="34" charset="-120"/>
              </a:rPr>
              <a:t>Defective Restoration</a:t>
            </a:r>
            <a:endParaRPr lang="en-US" sz="1800" dirty="0"/>
          </a:p>
        </p:txBody>
      </p:sp>
      <p:sp>
        <p:nvSpPr>
          <p:cNvPr id="24" name="Text 22"/>
          <p:cNvSpPr/>
          <p:nvPr/>
        </p:nvSpPr>
        <p:spPr>
          <a:xfrm>
            <a:off x="7040880" y="5623560"/>
            <a:ext cx="4572000" cy="731520"/>
          </a:xfrm>
          <a:prstGeom prst="rect">
            <a:avLst/>
          </a:prstGeom>
          <a:noFill/>
          <a:ln/>
        </p:spPr>
        <p:txBody>
          <a:bodyPr wrap="square" lIns="0" tIns="0" rIns="0" bIns="0" rtlCol="0" anchor="ctr"/>
          <a:lstStyle/>
          <a:p>
            <a:pPr indent="0" marL="0">
              <a:buNone/>
            </a:pPr>
            <a:r>
              <a:rPr lang="en-US" sz="1200" dirty="0">
                <a:solidFill>
                  <a:srgbClr val="5C4F3A"/>
                </a:solidFill>
                <a:latin typeface="Calibri" pitchFamily="34" charset="0"/>
                <a:ea typeface="Calibri" pitchFamily="34" charset="-122"/>
                <a:cs typeface="Calibri" pitchFamily="34" charset="-120"/>
              </a:rPr>
              <a:t>Marginal breakdown or open margin of the previous filling.</a:t>
            </a:r>
            <a:endParaRPr lang="en-US" sz="1200" dirty="0"/>
          </a:p>
        </p:txBody>
      </p:sp>
      <p:sp>
        <p:nvSpPr>
          <p:cNvPr id="25" name="Shape 23"/>
          <p:cNvSpPr/>
          <p:nvPr/>
        </p:nvSpPr>
        <p:spPr>
          <a:xfrm>
            <a:off x="457200" y="6492240"/>
            <a:ext cx="11247120" cy="13716"/>
          </a:xfrm>
          <a:prstGeom prst="rect">
            <a:avLst/>
          </a:prstGeom>
          <a:solidFill>
            <a:srgbClr val="1A1A1A"/>
          </a:solidFill>
          <a:ln/>
        </p:spPr>
      </p:sp>
      <p:sp>
        <p:nvSpPr>
          <p:cNvPr id="26" name="Text 24"/>
          <p:cNvSpPr/>
          <p:nvPr/>
        </p:nvSpPr>
        <p:spPr>
          <a:xfrm>
            <a:off x="457200" y="6565392"/>
            <a:ext cx="8686800" cy="228600"/>
          </a:xfrm>
          <a:prstGeom prst="rect">
            <a:avLst/>
          </a:prstGeom>
          <a:noFill/>
          <a:ln/>
        </p:spPr>
        <p:txBody>
          <a:bodyPr wrap="square" rtlCol="0" anchor="ctr"/>
          <a:lstStyle/>
          <a:p>
            <a:pPr indent="0" marL="0">
              <a:buNone/>
            </a:pPr>
            <a:r>
              <a:rPr lang="en-US" sz="800" i="1" spc="400" kern="0" dirty="0">
                <a:solidFill>
                  <a:srgbClr val="5C4F3A"/>
                </a:solidFill>
                <a:latin typeface="Calibri" pitchFamily="34" charset="0"/>
                <a:ea typeface="Calibri" pitchFamily="34" charset="-122"/>
                <a:cs typeface="Calibri" pitchFamily="34" charset="-120"/>
              </a:rPr>
              <a:t>IBRAHIM ALSHAHRANI · 2110301  ·  M. HANASH · M140426001</a:t>
            </a:r>
            <a:endParaRPr lang="en-US" sz="800" dirty="0"/>
          </a:p>
        </p:txBody>
      </p:sp>
      <p:sp>
        <p:nvSpPr>
          <p:cNvPr id="27" name="Text 25"/>
          <p:cNvSpPr/>
          <p:nvPr/>
        </p:nvSpPr>
        <p:spPr>
          <a:xfrm>
            <a:off x="9418320" y="6565392"/>
            <a:ext cx="2286000" cy="228600"/>
          </a:xfrm>
          <a:prstGeom prst="rect">
            <a:avLst/>
          </a:prstGeom>
          <a:noFill/>
          <a:ln/>
        </p:spPr>
        <p:txBody>
          <a:bodyPr wrap="square" rtlCol="0" anchor="ctr"/>
          <a:lstStyle/>
          <a:p>
            <a:pPr algn="r" indent="0" marL="0">
              <a:buNone/>
            </a:pPr>
            <a:r>
              <a:rPr lang="en-US" sz="800" b="1" spc="600" kern="0" dirty="0">
                <a:solidFill>
                  <a:srgbClr val="5C4F3A"/>
                </a:solidFill>
                <a:latin typeface="Calibri" pitchFamily="34" charset="0"/>
                <a:ea typeface="Calibri" pitchFamily="34" charset="-122"/>
                <a:cs typeface="Calibri" pitchFamily="34" charset="-120"/>
              </a:rPr>
              <a:t>PAGE  09  /  16</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EDE0"/>
        </a:solidFill>
      </p:bgPr>
    </p:bg>
    <p:spTree>
      <p:nvGrpSpPr>
        <p:cNvPr id="1" name=""/>
        <p:cNvGrpSpPr/>
        <p:nvPr/>
      </p:nvGrpSpPr>
      <p:grpSpPr>
        <a:xfrm>
          <a:off x="0" y="0"/>
          <a:ext cx="0" cy="0"/>
          <a:chOff x="0" y="0"/>
          <a:chExt cx="0" cy="0"/>
        </a:xfrm>
      </p:grpSpPr>
      <p:sp>
        <p:nvSpPr>
          <p:cNvPr id="2" name="Shape 0"/>
          <p:cNvSpPr/>
          <p:nvPr/>
        </p:nvSpPr>
        <p:spPr>
          <a:xfrm>
            <a:off x="457200" y="457200"/>
            <a:ext cx="11247120" cy="13716"/>
          </a:xfrm>
          <a:prstGeom prst="rect">
            <a:avLst/>
          </a:prstGeom>
          <a:solidFill>
            <a:srgbClr val="1A1A1A"/>
          </a:solidFill>
          <a:ln/>
        </p:spPr>
      </p:sp>
      <p:sp>
        <p:nvSpPr>
          <p:cNvPr id="3" name="Text 1"/>
          <p:cNvSpPr/>
          <p:nvPr/>
        </p:nvSpPr>
        <p:spPr>
          <a:xfrm>
            <a:off x="457200" y="548640"/>
            <a:ext cx="5486400" cy="274320"/>
          </a:xfrm>
          <a:prstGeom prst="rect">
            <a:avLst/>
          </a:prstGeom>
          <a:noFill/>
          <a:ln/>
        </p:spPr>
        <p:txBody>
          <a:bodyPr wrap="square" rtlCol="0" anchor="ctr"/>
          <a:lstStyle/>
          <a:p>
            <a:pPr indent="0" marL="0">
              <a:buNone/>
            </a:pPr>
            <a:r>
              <a:rPr lang="en-US" sz="900" b="1" spc="800" kern="0" dirty="0">
                <a:solidFill>
                  <a:srgbClr val="5C4F3A"/>
                </a:solidFill>
                <a:latin typeface="Calibri" pitchFamily="34" charset="0"/>
                <a:ea typeface="Calibri" pitchFamily="34" charset="-122"/>
                <a:cs typeface="Calibri" pitchFamily="34" charset="-120"/>
              </a:rPr>
              <a:t>INVESTIGATIONS</a:t>
            </a:r>
            <a:endParaRPr lang="en-US" sz="900" dirty="0"/>
          </a:p>
        </p:txBody>
      </p:sp>
      <p:sp>
        <p:nvSpPr>
          <p:cNvPr id="4" name="Text 2"/>
          <p:cNvSpPr/>
          <p:nvPr/>
        </p:nvSpPr>
        <p:spPr>
          <a:xfrm>
            <a:off x="6217920" y="548640"/>
            <a:ext cx="5486400" cy="274320"/>
          </a:xfrm>
          <a:prstGeom prst="rect">
            <a:avLst/>
          </a:prstGeom>
          <a:noFill/>
          <a:ln/>
        </p:spPr>
        <p:txBody>
          <a:bodyPr wrap="square" rtlCol="0" anchor="ctr"/>
          <a:lstStyle/>
          <a:p>
            <a:pPr algn="r" indent="0" marL="0">
              <a:buNone/>
            </a:pPr>
            <a:r>
              <a:rPr lang="en-US" sz="900" b="1" spc="800" kern="0" dirty="0">
                <a:solidFill>
                  <a:srgbClr val="5C4F3A"/>
                </a:solidFill>
                <a:latin typeface="Calibri" pitchFamily="34" charset="0"/>
                <a:ea typeface="Calibri" pitchFamily="34" charset="-122"/>
                <a:cs typeface="Calibri" pitchFamily="34" charset="-120"/>
              </a:rPr>
              <a:t>CASE PRESENTATION</a:t>
            </a:r>
            <a:endParaRPr lang="en-US" sz="900" dirty="0"/>
          </a:p>
        </p:txBody>
      </p:sp>
      <p:sp>
        <p:nvSpPr>
          <p:cNvPr id="5" name="Text 3"/>
          <p:cNvSpPr/>
          <p:nvPr/>
        </p:nvSpPr>
        <p:spPr>
          <a:xfrm>
            <a:off x="457200" y="914400"/>
            <a:ext cx="8229600" cy="1097280"/>
          </a:xfrm>
          <a:prstGeom prst="rect">
            <a:avLst/>
          </a:prstGeom>
          <a:noFill/>
          <a:ln/>
        </p:spPr>
        <p:txBody>
          <a:bodyPr wrap="square" lIns="0" tIns="0" rIns="0" bIns="0" rtlCol="0" anchor="ctr"/>
          <a:lstStyle/>
          <a:p>
            <a:pPr indent="0" marL="0">
              <a:buNone/>
            </a:pPr>
            <a:r>
              <a:rPr lang="en-US" sz="7200" b="1" i="1" dirty="0">
                <a:solidFill>
                  <a:srgbClr val="1A1A1A"/>
                </a:solidFill>
                <a:latin typeface="Georgia" pitchFamily="34" charset="0"/>
                <a:ea typeface="Georgia" pitchFamily="34" charset="-122"/>
                <a:cs typeface="Georgia" pitchFamily="34" charset="-120"/>
              </a:rPr>
              <a:t>The workup.</a:t>
            </a:r>
            <a:endParaRPr lang="en-US" sz="7200" dirty="0"/>
          </a:p>
        </p:txBody>
      </p:sp>
      <p:sp>
        <p:nvSpPr>
          <p:cNvPr id="6" name="Shape 4"/>
          <p:cNvSpPr/>
          <p:nvPr/>
        </p:nvSpPr>
        <p:spPr>
          <a:xfrm>
            <a:off x="457200" y="1965960"/>
            <a:ext cx="914400" cy="36576"/>
          </a:xfrm>
          <a:prstGeom prst="rect">
            <a:avLst/>
          </a:prstGeom>
          <a:solidFill>
            <a:srgbClr val="B8893E"/>
          </a:solidFill>
          <a:ln/>
        </p:spPr>
      </p:sp>
      <p:sp>
        <p:nvSpPr>
          <p:cNvPr id="7" name="Text 5"/>
          <p:cNvSpPr/>
          <p:nvPr/>
        </p:nvSpPr>
        <p:spPr>
          <a:xfrm>
            <a:off x="7315200" y="1463040"/>
            <a:ext cx="4389120" cy="365760"/>
          </a:xfrm>
          <a:prstGeom prst="rect">
            <a:avLst/>
          </a:prstGeom>
          <a:noFill/>
          <a:ln/>
        </p:spPr>
        <p:txBody>
          <a:bodyPr wrap="square" lIns="0" tIns="0" rIns="0" bIns="0" rtlCol="0" anchor="ctr"/>
          <a:lstStyle/>
          <a:p>
            <a:pPr indent="0" marL="0">
              <a:buNone/>
            </a:pPr>
            <a:r>
              <a:rPr lang="en-US" sz="1300" i="1" dirty="0">
                <a:solidFill>
                  <a:srgbClr val="5C4F3A"/>
                </a:solidFill>
                <a:latin typeface="Georgia" pitchFamily="34" charset="0"/>
                <a:ea typeface="Georgia" pitchFamily="34" charset="-122"/>
                <a:cs typeface="Georgia" pitchFamily="34" charset="-120"/>
              </a:rPr>
              <a:t>From the panoramic radiograph forward.</a:t>
            </a:r>
            <a:endParaRPr lang="en-US" sz="1300" dirty="0"/>
          </a:p>
        </p:txBody>
      </p:sp>
      <p:sp>
        <p:nvSpPr>
          <p:cNvPr id="8" name="Text 6"/>
          <p:cNvSpPr/>
          <p:nvPr/>
        </p:nvSpPr>
        <p:spPr>
          <a:xfrm>
            <a:off x="457200" y="2606040"/>
            <a:ext cx="914400" cy="640080"/>
          </a:xfrm>
          <a:prstGeom prst="rect">
            <a:avLst/>
          </a:prstGeom>
          <a:noFill/>
          <a:ln/>
        </p:spPr>
        <p:txBody>
          <a:bodyPr wrap="square" lIns="0" tIns="0" rIns="0" bIns="0" rtlCol="0" anchor="ctr"/>
          <a:lstStyle/>
          <a:p>
            <a:pPr indent="0" marL="0">
              <a:buNone/>
            </a:pPr>
            <a:r>
              <a:rPr lang="en-US" sz="3600" b="1" i="1" dirty="0">
                <a:solidFill>
                  <a:srgbClr val="B8893E"/>
                </a:solidFill>
                <a:latin typeface="Georgia" pitchFamily="34" charset="0"/>
                <a:ea typeface="Georgia" pitchFamily="34" charset="-122"/>
                <a:cs typeface="Georgia" pitchFamily="34" charset="-120"/>
              </a:rPr>
              <a:t>I</a:t>
            </a:r>
            <a:endParaRPr lang="en-US" sz="3600" dirty="0"/>
          </a:p>
        </p:txBody>
      </p:sp>
      <p:sp>
        <p:nvSpPr>
          <p:cNvPr id="9" name="Shape 7"/>
          <p:cNvSpPr/>
          <p:nvPr/>
        </p:nvSpPr>
        <p:spPr>
          <a:xfrm>
            <a:off x="1280160" y="2651760"/>
            <a:ext cx="13716" cy="548640"/>
          </a:xfrm>
          <a:prstGeom prst="rect">
            <a:avLst/>
          </a:prstGeom>
          <a:solidFill>
            <a:srgbClr val="1A1A1A"/>
          </a:solidFill>
          <a:ln/>
        </p:spPr>
      </p:sp>
      <p:sp>
        <p:nvSpPr>
          <p:cNvPr id="10" name="Text 8"/>
          <p:cNvSpPr/>
          <p:nvPr/>
        </p:nvSpPr>
        <p:spPr>
          <a:xfrm>
            <a:off x="1417320" y="2651760"/>
            <a:ext cx="6400800" cy="365760"/>
          </a:xfrm>
          <a:prstGeom prst="rect">
            <a:avLst/>
          </a:prstGeom>
          <a:noFill/>
          <a:ln/>
        </p:spPr>
        <p:txBody>
          <a:bodyPr wrap="square" lIns="0" tIns="0" rIns="0" bIns="0" rtlCol="0" anchor="ctr"/>
          <a:lstStyle/>
          <a:p>
            <a:pPr indent="0" marL="0">
              <a:buNone/>
            </a:pPr>
            <a:r>
              <a:rPr lang="en-US" sz="1800" b="1" i="1" dirty="0">
                <a:solidFill>
                  <a:srgbClr val="1A1A1A"/>
                </a:solidFill>
                <a:latin typeface="Georgia" pitchFamily="34" charset="0"/>
                <a:ea typeface="Georgia" pitchFamily="34" charset="-122"/>
                <a:cs typeface="Georgia" pitchFamily="34" charset="-120"/>
              </a:rPr>
              <a:t>Panoramic Radiograph (OPG)</a:t>
            </a:r>
            <a:endParaRPr lang="en-US" sz="1800" dirty="0"/>
          </a:p>
        </p:txBody>
      </p:sp>
      <p:sp>
        <p:nvSpPr>
          <p:cNvPr id="11" name="Text 9"/>
          <p:cNvSpPr/>
          <p:nvPr/>
        </p:nvSpPr>
        <p:spPr>
          <a:xfrm>
            <a:off x="1417320" y="3017520"/>
            <a:ext cx="6400800" cy="274320"/>
          </a:xfrm>
          <a:prstGeom prst="rect">
            <a:avLst/>
          </a:prstGeom>
          <a:noFill/>
          <a:ln/>
        </p:spPr>
        <p:txBody>
          <a:bodyPr wrap="square" rtlCol="0" anchor="ctr"/>
          <a:lstStyle/>
          <a:p>
            <a:pPr indent="0" marL="0">
              <a:buNone/>
            </a:pPr>
            <a:r>
              <a:rPr lang="en-US" sz="1100" i="1" dirty="0">
                <a:solidFill>
                  <a:srgbClr val="5C4F3A"/>
                </a:solidFill>
                <a:latin typeface="Calibri" pitchFamily="34" charset="0"/>
                <a:ea typeface="Calibri" pitchFamily="34" charset="-122"/>
                <a:cs typeface="Calibri" pitchFamily="34" charset="-120"/>
              </a:rPr>
              <a:t>Performed · 14/04/2026</a:t>
            </a:r>
            <a:endParaRPr lang="en-US" sz="1100" dirty="0"/>
          </a:p>
        </p:txBody>
      </p:sp>
      <p:sp>
        <p:nvSpPr>
          <p:cNvPr id="12" name="Shape 10"/>
          <p:cNvSpPr/>
          <p:nvPr/>
        </p:nvSpPr>
        <p:spPr>
          <a:xfrm>
            <a:off x="10058400" y="2743200"/>
            <a:ext cx="1645920" cy="411480"/>
          </a:xfrm>
          <a:prstGeom prst="rect">
            <a:avLst/>
          </a:prstGeom>
          <a:solidFill>
            <a:srgbClr val="6B1F2E"/>
          </a:solidFill>
          <a:ln/>
        </p:spPr>
      </p:sp>
      <p:sp>
        <p:nvSpPr>
          <p:cNvPr id="13" name="Text 11"/>
          <p:cNvSpPr/>
          <p:nvPr/>
        </p:nvSpPr>
        <p:spPr>
          <a:xfrm>
            <a:off x="10058400" y="2743200"/>
            <a:ext cx="1645920" cy="411480"/>
          </a:xfrm>
          <a:prstGeom prst="rect">
            <a:avLst/>
          </a:prstGeom>
          <a:noFill/>
          <a:ln/>
        </p:spPr>
        <p:txBody>
          <a:bodyPr wrap="square" lIns="0" tIns="0" rIns="0" bIns="0" rtlCol="0" anchor="ctr"/>
          <a:lstStyle/>
          <a:p>
            <a:pPr algn="ctr" indent="0" marL="0">
              <a:buNone/>
            </a:pPr>
            <a:r>
              <a:rPr lang="en-US" sz="900" b="1" spc="600" kern="0" dirty="0">
                <a:solidFill>
                  <a:srgbClr val="F4EDE0"/>
                </a:solidFill>
                <a:latin typeface="Calibri" pitchFamily="34" charset="0"/>
                <a:ea typeface="Calibri" pitchFamily="34" charset="-122"/>
                <a:cs typeface="Calibri" pitchFamily="34" charset="-120"/>
              </a:rPr>
              <a:t>DONE</a:t>
            </a:r>
            <a:endParaRPr lang="en-US" sz="900" dirty="0"/>
          </a:p>
        </p:txBody>
      </p:sp>
      <p:sp>
        <p:nvSpPr>
          <p:cNvPr id="14" name="Shape 12"/>
          <p:cNvSpPr/>
          <p:nvPr/>
        </p:nvSpPr>
        <p:spPr>
          <a:xfrm>
            <a:off x="1417320" y="3319272"/>
            <a:ext cx="10287000" cy="4572"/>
          </a:xfrm>
          <a:prstGeom prst="rect">
            <a:avLst/>
          </a:prstGeom>
          <a:solidFill>
            <a:srgbClr val="C9B8A0"/>
          </a:solidFill>
          <a:ln/>
        </p:spPr>
      </p:sp>
      <p:sp>
        <p:nvSpPr>
          <p:cNvPr id="15" name="Text 13"/>
          <p:cNvSpPr/>
          <p:nvPr/>
        </p:nvSpPr>
        <p:spPr>
          <a:xfrm>
            <a:off x="457200" y="3383280"/>
            <a:ext cx="914400" cy="640080"/>
          </a:xfrm>
          <a:prstGeom prst="rect">
            <a:avLst/>
          </a:prstGeom>
          <a:noFill/>
          <a:ln/>
        </p:spPr>
        <p:txBody>
          <a:bodyPr wrap="square" lIns="0" tIns="0" rIns="0" bIns="0" rtlCol="0" anchor="ctr"/>
          <a:lstStyle/>
          <a:p>
            <a:pPr indent="0" marL="0">
              <a:buNone/>
            </a:pPr>
            <a:r>
              <a:rPr lang="en-US" sz="3600" b="1" i="1" dirty="0">
                <a:solidFill>
                  <a:srgbClr val="B8893E"/>
                </a:solidFill>
                <a:latin typeface="Georgia" pitchFamily="34" charset="0"/>
                <a:ea typeface="Georgia" pitchFamily="34" charset="-122"/>
                <a:cs typeface="Georgia" pitchFamily="34" charset="-120"/>
              </a:rPr>
              <a:t>II</a:t>
            </a:r>
            <a:endParaRPr lang="en-US" sz="3600" dirty="0"/>
          </a:p>
        </p:txBody>
      </p:sp>
      <p:sp>
        <p:nvSpPr>
          <p:cNvPr id="16" name="Shape 14"/>
          <p:cNvSpPr/>
          <p:nvPr/>
        </p:nvSpPr>
        <p:spPr>
          <a:xfrm>
            <a:off x="1280160" y="3429000"/>
            <a:ext cx="13716" cy="548640"/>
          </a:xfrm>
          <a:prstGeom prst="rect">
            <a:avLst/>
          </a:prstGeom>
          <a:solidFill>
            <a:srgbClr val="1A1A1A"/>
          </a:solidFill>
          <a:ln/>
        </p:spPr>
      </p:sp>
      <p:sp>
        <p:nvSpPr>
          <p:cNvPr id="17" name="Text 15"/>
          <p:cNvSpPr/>
          <p:nvPr/>
        </p:nvSpPr>
        <p:spPr>
          <a:xfrm>
            <a:off x="1417320" y="3429000"/>
            <a:ext cx="6400800" cy="365760"/>
          </a:xfrm>
          <a:prstGeom prst="rect">
            <a:avLst/>
          </a:prstGeom>
          <a:noFill/>
          <a:ln/>
        </p:spPr>
        <p:txBody>
          <a:bodyPr wrap="square" lIns="0" tIns="0" rIns="0" bIns="0" rtlCol="0" anchor="ctr"/>
          <a:lstStyle/>
          <a:p>
            <a:pPr indent="0" marL="0">
              <a:buNone/>
            </a:pPr>
            <a:r>
              <a:rPr lang="en-US" sz="1800" b="1" i="1" dirty="0">
                <a:solidFill>
                  <a:srgbClr val="1A1A1A"/>
                </a:solidFill>
                <a:latin typeface="Georgia" pitchFamily="34" charset="0"/>
                <a:ea typeface="Georgia" pitchFamily="34" charset="-122"/>
                <a:cs typeface="Georgia" pitchFamily="34" charset="-120"/>
              </a:rPr>
              <a:t>Intra-Oral Periapical (IOPA)</a:t>
            </a:r>
            <a:endParaRPr lang="en-US" sz="1800" dirty="0"/>
          </a:p>
        </p:txBody>
      </p:sp>
      <p:sp>
        <p:nvSpPr>
          <p:cNvPr id="18" name="Text 16"/>
          <p:cNvSpPr/>
          <p:nvPr/>
        </p:nvSpPr>
        <p:spPr>
          <a:xfrm>
            <a:off x="1417320" y="3794760"/>
            <a:ext cx="6400800" cy="274320"/>
          </a:xfrm>
          <a:prstGeom prst="rect">
            <a:avLst/>
          </a:prstGeom>
          <a:noFill/>
          <a:ln/>
        </p:spPr>
        <p:txBody>
          <a:bodyPr wrap="square" rtlCol="0" anchor="ctr"/>
          <a:lstStyle/>
          <a:p>
            <a:pPr indent="0" marL="0">
              <a:buNone/>
            </a:pPr>
            <a:r>
              <a:rPr lang="en-US" sz="1100" i="1" dirty="0">
                <a:solidFill>
                  <a:srgbClr val="5C4F3A"/>
                </a:solidFill>
                <a:latin typeface="Calibri" pitchFamily="34" charset="0"/>
                <a:ea typeface="Calibri" pitchFamily="34" charset="-122"/>
                <a:cs typeface="Calibri" pitchFamily="34" charset="-120"/>
              </a:rPr>
              <a:t>For teeth 17 and 27</a:t>
            </a:r>
            <a:endParaRPr lang="en-US" sz="1100" dirty="0"/>
          </a:p>
        </p:txBody>
      </p:sp>
      <p:sp>
        <p:nvSpPr>
          <p:cNvPr id="19" name="Shape 17"/>
          <p:cNvSpPr/>
          <p:nvPr/>
        </p:nvSpPr>
        <p:spPr>
          <a:xfrm>
            <a:off x="10058400" y="3520440"/>
            <a:ext cx="1645920" cy="411480"/>
          </a:xfrm>
          <a:prstGeom prst="rect">
            <a:avLst/>
          </a:prstGeom>
          <a:solidFill>
            <a:srgbClr val="6B1F2E"/>
          </a:solidFill>
          <a:ln/>
        </p:spPr>
      </p:sp>
      <p:sp>
        <p:nvSpPr>
          <p:cNvPr id="20" name="Text 18"/>
          <p:cNvSpPr/>
          <p:nvPr/>
        </p:nvSpPr>
        <p:spPr>
          <a:xfrm>
            <a:off x="10058400" y="3520440"/>
            <a:ext cx="1645920" cy="411480"/>
          </a:xfrm>
          <a:prstGeom prst="rect">
            <a:avLst/>
          </a:prstGeom>
          <a:noFill/>
          <a:ln/>
        </p:spPr>
        <p:txBody>
          <a:bodyPr wrap="square" lIns="0" tIns="0" rIns="0" bIns="0" rtlCol="0" anchor="ctr"/>
          <a:lstStyle/>
          <a:p>
            <a:pPr algn="ctr" indent="0" marL="0">
              <a:buNone/>
            </a:pPr>
            <a:r>
              <a:rPr lang="en-US" sz="900" b="1" spc="600" kern="0" dirty="0">
                <a:solidFill>
                  <a:srgbClr val="F4EDE0"/>
                </a:solidFill>
                <a:latin typeface="Calibri" pitchFamily="34" charset="0"/>
                <a:ea typeface="Calibri" pitchFamily="34" charset="-122"/>
                <a:cs typeface="Calibri" pitchFamily="34" charset="-120"/>
              </a:rPr>
              <a:t>DONE</a:t>
            </a:r>
            <a:endParaRPr lang="en-US" sz="900" dirty="0"/>
          </a:p>
        </p:txBody>
      </p:sp>
      <p:sp>
        <p:nvSpPr>
          <p:cNvPr id="21" name="Shape 19"/>
          <p:cNvSpPr/>
          <p:nvPr/>
        </p:nvSpPr>
        <p:spPr>
          <a:xfrm>
            <a:off x="1417320" y="4096512"/>
            <a:ext cx="10287000" cy="4572"/>
          </a:xfrm>
          <a:prstGeom prst="rect">
            <a:avLst/>
          </a:prstGeom>
          <a:solidFill>
            <a:srgbClr val="C9B8A0"/>
          </a:solidFill>
          <a:ln/>
        </p:spPr>
      </p:sp>
      <p:sp>
        <p:nvSpPr>
          <p:cNvPr id="22" name="Text 20"/>
          <p:cNvSpPr/>
          <p:nvPr/>
        </p:nvSpPr>
        <p:spPr>
          <a:xfrm>
            <a:off x="457200" y="4160520"/>
            <a:ext cx="914400" cy="640080"/>
          </a:xfrm>
          <a:prstGeom prst="rect">
            <a:avLst/>
          </a:prstGeom>
          <a:noFill/>
          <a:ln/>
        </p:spPr>
        <p:txBody>
          <a:bodyPr wrap="square" lIns="0" tIns="0" rIns="0" bIns="0" rtlCol="0" anchor="ctr"/>
          <a:lstStyle/>
          <a:p>
            <a:pPr indent="0" marL="0">
              <a:buNone/>
            </a:pPr>
            <a:r>
              <a:rPr lang="en-US" sz="3600" b="1" i="1" dirty="0">
                <a:solidFill>
                  <a:srgbClr val="B8893E"/>
                </a:solidFill>
                <a:latin typeface="Georgia" pitchFamily="34" charset="0"/>
                <a:ea typeface="Georgia" pitchFamily="34" charset="-122"/>
                <a:cs typeface="Georgia" pitchFamily="34" charset="-120"/>
              </a:rPr>
              <a:t>III</a:t>
            </a:r>
            <a:endParaRPr lang="en-US" sz="3600" dirty="0"/>
          </a:p>
        </p:txBody>
      </p:sp>
      <p:sp>
        <p:nvSpPr>
          <p:cNvPr id="23" name="Shape 21"/>
          <p:cNvSpPr/>
          <p:nvPr/>
        </p:nvSpPr>
        <p:spPr>
          <a:xfrm>
            <a:off x="1280160" y="4206240"/>
            <a:ext cx="13716" cy="548640"/>
          </a:xfrm>
          <a:prstGeom prst="rect">
            <a:avLst/>
          </a:prstGeom>
          <a:solidFill>
            <a:srgbClr val="1A1A1A"/>
          </a:solidFill>
          <a:ln/>
        </p:spPr>
      </p:sp>
      <p:sp>
        <p:nvSpPr>
          <p:cNvPr id="24" name="Text 22"/>
          <p:cNvSpPr/>
          <p:nvPr/>
        </p:nvSpPr>
        <p:spPr>
          <a:xfrm>
            <a:off x="1417320" y="4206240"/>
            <a:ext cx="6400800" cy="365760"/>
          </a:xfrm>
          <a:prstGeom prst="rect">
            <a:avLst/>
          </a:prstGeom>
          <a:noFill/>
          <a:ln/>
        </p:spPr>
        <p:txBody>
          <a:bodyPr wrap="square" lIns="0" tIns="0" rIns="0" bIns="0" rtlCol="0" anchor="ctr"/>
          <a:lstStyle/>
          <a:p>
            <a:pPr indent="0" marL="0">
              <a:buNone/>
            </a:pPr>
            <a:r>
              <a:rPr lang="en-US" sz="1800" b="1" i="1" dirty="0">
                <a:solidFill>
                  <a:srgbClr val="1A1A1A"/>
                </a:solidFill>
                <a:latin typeface="Georgia" pitchFamily="34" charset="0"/>
                <a:ea typeface="Georgia" pitchFamily="34" charset="-122"/>
                <a:cs typeface="Georgia" pitchFamily="34" charset="-120"/>
              </a:rPr>
              <a:t>Clinical Tests</a:t>
            </a:r>
            <a:endParaRPr lang="en-US" sz="1800" dirty="0"/>
          </a:p>
        </p:txBody>
      </p:sp>
      <p:sp>
        <p:nvSpPr>
          <p:cNvPr id="25" name="Text 23"/>
          <p:cNvSpPr/>
          <p:nvPr/>
        </p:nvSpPr>
        <p:spPr>
          <a:xfrm>
            <a:off x="1417320" y="4572000"/>
            <a:ext cx="6400800" cy="274320"/>
          </a:xfrm>
          <a:prstGeom prst="rect">
            <a:avLst/>
          </a:prstGeom>
          <a:noFill/>
          <a:ln/>
        </p:spPr>
        <p:txBody>
          <a:bodyPr wrap="square" rtlCol="0" anchor="ctr"/>
          <a:lstStyle/>
          <a:p>
            <a:pPr indent="0" marL="0">
              <a:buNone/>
            </a:pPr>
            <a:r>
              <a:rPr lang="en-US" sz="1100" i="1" dirty="0">
                <a:solidFill>
                  <a:srgbClr val="5C4F3A"/>
                </a:solidFill>
                <a:latin typeface="Calibri" pitchFamily="34" charset="0"/>
                <a:ea typeface="Calibri" pitchFamily="34" charset="-122"/>
                <a:cs typeface="Calibri" pitchFamily="34" charset="-120"/>
              </a:rPr>
              <a:t>Percussion, palpation, vitality testing</a:t>
            </a:r>
            <a:endParaRPr lang="en-US" sz="1100" dirty="0"/>
          </a:p>
        </p:txBody>
      </p:sp>
      <p:sp>
        <p:nvSpPr>
          <p:cNvPr id="26" name="Shape 24"/>
          <p:cNvSpPr/>
          <p:nvPr/>
        </p:nvSpPr>
        <p:spPr>
          <a:xfrm>
            <a:off x="10058400" y="4297680"/>
            <a:ext cx="1645920" cy="411480"/>
          </a:xfrm>
          <a:prstGeom prst="rect">
            <a:avLst/>
          </a:prstGeom>
          <a:solidFill>
            <a:srgbClr val="6B1F2E"/>
          </a:solidFill>
          <a:ln/>
        </p:spPr>
      </p:sp>
      <p:sp>
        <p:nvSpPr>
          <p:cNvPr id="27" name="Text 25"/>
          <p:cNvSpPr/>
          <p:nvPr/>
        </p:nvSpPr>
        <p:spPr>
          <a:xfrm>
            <a:off x="10058400" y="4297680"/>
            <a:ext cx="1645920" cy="411480"/>
          </a:xfrm>
          <a:prstGeom prst="rect">
            <a:avLst/>
          </a:prstGeom>
          <a:noFill/>
          <a:ln/>
        </p:spPr>
        <p:txBody>
          <a:bodyPr wrap="square" lIns="0" tIns="0" rIns="0" bIns="0" rtlCol="0" anchor="ctr"/>
          <a:lstStyle/>
          <a:p>
            <a:pPr algn="ctr" indent="0" marL="0">
              <a:buNone/>
            </a:pPr>
            <a:r>
              <a:rPr lang="en-US" sz="900" b="1" spc="600" kern="0" dirty="0">
                <a:solidFill>
                  <a:srgbClr val="F4EDE0"/>
                </a:solidFill>
                <a:latin typeface="Calibri" pitchFamily="34" charset="0"/>
                <a:ea typeface="Calibri" pitchFamily="34" charset="-122"/>
                <a:cs typeface="Calibri" pitchFamily="34" charset="-120"/>
              </a:rPr>
              <a:t>INDICATED</a:t>
            </a:r>
            <a:endParaRPr lang="en-US" sz="900" dirty="0"/>
          </a:p>
        </p:txBody>
      </p:sp>
      <p:sp>
        <p:nvSpPr>
          <p:cNvPr id="28" name="Shape 26"/>
          <p:cNvSpPr/>
          <p:nvPr/>
        </p:nvSpPr>
        <p:spPr>
          <a:xfrm>
            <a:off x="1417320" y="4873752"/>
            <a:ext cx="10287000" cy="4572"/>
          </a:xfrm>
          <a:prstGeom prst="rect">
            <a:avLst/>
          </a:prstGeom>
          <a:solidFill>
            <a:srgbClr val="C9B8A0"/>
          </a:solidFill>
          <a:ln/>
        </p:spPr>
      </p:sp>
      <p:sp>
        <p:nvSpPr>
          <p:cNvPr id="29" name="Text 27"/>
          <p:cNvSpPr/>
          <p:nvPr/>
        </p:nvSpPr>
        <p:spPr>
          <a:xfrm>
            <a:off x="457200" y="4937760"/>
            <a:ext cx="914400" cy="640080"/>
          </a:xfrm>
          <a:prstGeom prst="rect">
            <a:avLst/>
          </a:prstGeom>
          <a:noFill/>
          <a:ln/>
        </p:spPr>
        <p:txBody>
          <a:bodyPr wrap="square" lIns="0" tIns="0" rIns="0" bIns="0" rtlCol="0" anchor="ctr"/>
          <a:lstStyle/>
          <a:p>
            <a:pPr indent="0" marL="0">
              <a:buNone/>
            </a:pPr>
            <a:r>
              <a:rPr lang="en-US" sz="3600" b="1" i="1" dirty="0">
                <a:solidFill>
                  <a:srgbClr val="B8893E"/>
                </a:solidFill>
                <a:latin typeface="Georgia" pitchFamily="34" charset="0"/>
                <a:ea typeface="Georgia" pitchFamily="34" charset="-122"/>
                <a:cs typeface="Georgia" pitchFamily="34" charset="-120"/>
              </a:rPr>
              <a:t>IV</a:t>
            </a:r>
            <a:endParaRPr lang="en-US" sz="3600" dirty="0"/>
          </a:p>
        </p:txBody>
      </p:sp>
      <p:sp>
        <p:nvSpPr>
          <p:cNvPr id="30" name="Shape 28"/>
          <p:cNvSpPr/>
          <p:nvPr/>
        </p:nvSpPr>
        <p:spPr>
          <a:xfrm>
            <a:off x="1280160" y="4983480"/>
            <a:ext cx="13716" cy="548640"/>
          </a:xfrm>
          <a:prstGeom prst="rect">
            <a:avLst/>
          </a:prstGeom>
          <a:solidFill>
            <a:srgbClr val="1A1A1A"/>
          </a:solidFill>
          <a:ln/>
        </p:spPr>
      </p:sp>
      <p:sp>
        <p:nvSpPr>
          <p:cNvPr id="31" name="Text 29"/>
          <p:cNvSpPr/>
          <p:nvPr/>
        </p:nvSpPr>
        <p:spPr>
          <a:xfrm>
            <a:off x="1417320" y="4983480"/>
            <a:ext cx="6400800" cy="365760"/>
          </a:xfrm>
          <a:prstGeom prst="rect">
            <a:avLst/>
          </a:prstGeom>
          <a:noFill/>
          <a:ln/>
        </p:spPr>
        <p:txBody>
          <a:bodyPr wrap="square" lIns="0" tIns="0" rIns="0" bIns="0" rtlCol="0" anchor="ctr"/>
          <a:lstStyle/>
          <a:p>
            <a:pPr indent="0" marL="0">
              <a:buNone/>
            </a:pPr>
            <a:r>
              <a:rPr lang="en-US" sz="1800" b="1" i="1" dirty="0">
                <a:solidFill>
                  <a:srgbClr val="1A1A1A"/>
                </a:solidFill>
                <a:latin typeface="Georgia" pitchFamily="34" charset="0"/>
                <a:ea typeface="Georgia" pitchFamily="34" charset="-122"/>
                <a:cs typeface="Georgia" pitchFamily="34" charset="-120"/>
              </a:rPr>
              <a:t>Laboratory Investigations</a:t>
            </a:r>
            <a:endParaRPr lang="en-US" sz="1800" dirty="0"/>
          </a:p>
        </p:txBody>
      </p:sp>
      <p:sp>
        <p:nvSpPr>
          <p:cNvPr id="32" name="Text 30"/>
          <p:cNvSpPr/>
          <p:nvPr/>
        </p:nvSpPr>
        <p:spPr>
          <a:xfrm>
            <a:off x="1417320" y="5349240"/>
            <a:ext cx="6400800" cy="274320"/>
          </a:xfrm>
          <a:prstGeom prst="rect">
            <a:avLst/>
          </a:prstGeom>
          <a:noFill/>
          <a:ln/>
        </p:spPr>
        <p:txBody>
          <a:bodyPr wrap="square" rtlCol="0" anchor="ctr"/>
          <a:lstStyle/>
          <a:p>
            <a:pPr indent="0" marL="0">
              <a:buNone/>
            </a:pPr>
            <a:r>
              <a:rPr lang="en-US" sz="1100" i="1" dirty="0">
                <a:solidFill>
                  <a:srgbClr val="5C4F3A"/>
                </a:solidFill>
                <a:latin typeface="Calibri" pitchFamily="34" charset="0"/>
                <a:ea typeface="Calibri" pitchFamily="34" charset="-122"/>
                <a:cs typeface="Calibri" pitchFamily="34" charset="-120"/>
              </a:rPr>
              <a:t>Not applicable to this case</a:t>
            </a:r>
            <a:endParaRPr lang="en-US" sz="1100" dirty="0"/>
          </a:p>
        </p:txBody>
      </p:sp>
      <p:sp>
        <p:nvSpPr>
          <p:cNvPr id="33" name="Shape 31"/>
          <p:cNvSpPr/>
          <p:nvPr/>
        </p:nvSpPr>
        <p:spPr>
          <a:xfrm>
            <a:off x="10058400" y="5074920"/>
            <a:ext cx="1645920" cy="411480"/>
          </a:xfrm>
          <a:prstGeom prst="rect">
            <a:avLst/>
          </a:prstGeom>
          <a:solidFill>
            <a:srgbClr val="5C4F3A"/>
          </a:solidFill>
          <a:ln/>
        </p:spPr>
      </p:sp>
      <p:sp>
        <p:nvSpPr>
          <p:cNvPr id="34" name="Text 32"/>
          <p:cNvSpPr/>
          <p:nvPr/>
        </p:nvSpPr>
        <p:spPr>
          <a:xfrm>
            <a:off x="10058400" y="5074920"/>
            <a:ext cx="1645920" cy="411480"/>
          </a:xfrm>
          <a:prstGeom prst="rect">
            <a:avLst/>
          </a:prstGeom>
          <a:noFill/>
          <a:ln/>
        </p:spPr>
        <p:txBody>
          <a:bodyPr wrap="square" lIns="0" tIns="0" rIns="0" bIns="0" rtlCol="0" anchor="ctr"/>
          <a:lstStyle/>
          <a:p>
            <a:pPr algn="ctr" indent="0" marL="0">
              <a:buNone/>
            </a:pPr>
            <a:r>
              <a:rPr lang="en-US" sz="900" b="1" spc="600" kern="0" dirty="0">
                <a:solidFill>
                  <a:srgbClr val="F4EDE0"/>
                </a:solidFill>
                <a:latin typeface="Calibri" pitchFamily="34" charset="0"/>
                <a:ea typeface="Calibri" pitchFamily="34" charset="-122"/>
                <a:cs typeface="Calibri" pitchFamily="34" charset="-120"/>
              </a:rPr>
              <a:t>N/A</a:t>
            </a:r>
            <a:endParaRPr lang="en-US" sz="900" dirty="0"/>
          </a:p>
        </p:txBody>
      </p:sp>
      <p:sp>
        <p:nvSpPr>
          <p:cNvPr id="35" name="Shape 33"/>
          <p:cNvSpPr/>
          <p:nvPr/>
        </p:nvSpPr>
        <p:spPr>
          <a:xfrm>
            <a:off x="457200" y="6492240"/>
            <a:ext cx="11247120" cy="13716"/>
          </a:xfrm>
          <a:prstGeom prst="rect">
            <a:avLst/>
          </a:prstGeom>
          <a:solidFill>
            <a:srgbClr val="1A1A1A"/>
          </a:solidFill>
          <a:ln/>
        </p:spPr>
      </p:sp>
      <p:sp>
        <p:nvSpPr>
          <p:cNvPr id="36" name="Text 34"/>
          <p:cNvSpPr/>
          <p:nvPr/>
        </p:nvSpPr>
        <p:spPr>
          <a:xfrm>
            <a:off x="457200" y="6565392"/>
            <a:ext cx="8686800" cy="228600"/>
          </a:xfrm>
          <a:prstGeom prst="rect">
            <a:avLst/>
          </a:prstGeom>
          <a:noFill/>
          <a:ln/>
        </p:spPr>
        <p:txBody>
          <a:bodyPr wrap="square" rtlCol="0" anchor="ctr"/>
          <a:lstStyle/>
          <a:p>
            <a:pPr indent="0" marL="0">
              <a:buNone/>
            </a:pPr>
            <a:r>
              <a:rPr lang="en-US" sz="800" i="1" spc="400" kern="0" dirty="0">
                <a:solidFill>
                  <a:srgbClr val="5C4F3A"/>
                </a:solidFill>
                <a:latin typeface="Calibri" pitchFamily="34" charset="0"/>
                <a:ea typeface="Calibri" pitchFamily="34" charset="-122"/>
                <a:cs typeface="Calibri" pitchFamily="34" charset="-120"/>
              </a:rPr>
              <a:t>IBRAHIM ALSHAHRANI · 2110301  ·  M. HANASH · M140426001</a:t>
            </a:r>
            <a:endParaRPr lang="en-US" sz="800" dirty="0"/>
          </a:p>
        </p:txBody>
      </p:sp>
      <p:sp>
        <p:nvSpPr>
          <p:cNvPr id="37" name="Text 35"/>
          <p:cNvSpPr/>
          <p:nvPr/>
        </p:nvSpPr>
        <p:spPr>
          <a:xfrm>
            <a:off x="9418320" y="6565392"/>
            <a:ext cx="2286000" cy="228600"/>
          </a:xfrm>
          <a:prstGeom prst="rect">
            <a:avLst/>
          </a:prstGeom>
          <a:noFill/>
          <a:ln/>
        </p:spPr>
        <p:txBody>
          <a:bodyPr wrap="square" rtlCol="0" anchor="ctr"/>
          <a:lstStyle/>
          <a:p>
            <a:pPr algn="r" indent="0" marL="0">
              <a:buNone/>
            </a:pPr>
            <a:r>
              <a:rPr lang="en-US" sz="800" b="1" spc="600" kern="0" dirty="0">
                <a:solidFill>
                  <a:srgbClr val="5C4F3A"/>
                </a:solidFill>
                <a:latin typeface="Calibri" pitchFamily="34" charset="0"/>
                <a:ea typeface="Calibri" pitchFamily="34" charset="-122"/>
                <a:cs typeface="Calibri" pitchFamily="34" charset="-120"/>
              </a:rPr>
              <a:t>PAGE  10  /  16</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457200" y="457200"/>
            <a:ext cx="11247120" cy="13716"/>
          </a:xfrm>
          <a:prstGeom prst="rect">
            <a:avLst/>
          </a:prstGeom>
          <a:solidFill>
            <a:srgbClr val="F4EDE0"/>
          </a:solidFill>
          <a:ln/>
        </p:spPr>
      </p:sp>
      <p:sp>
        <p:nvSpPr>
          <p:cNvPr id="3" name="Text 1"/>
          <p:cNvSpPr/>
          <p:nvPr/>
        </p:nvSpPr>
        <p:spPr>
          <a:xfrm>
            <a:off x="457200" y="548640"/>
            <a:ext cx="5486400" cy="274320"/>
          </a:xfrm>
          <a:prstGeom prst="rect">
            <a:avLst/>
          </a:prstGeom>
          <a:noFill/>
          <a:ln/>
        </p:spPr>
        <p:txBody>
          <a:bodyPr wrap="square" rtlCol="0" anchor="ctr"/>
          <a:lstStyle/>
          <a:p>
            <a:pPr indent="0" marL="0">
              <a:buNone/>
            </a:pPr>
            <a:r>
              <a:rPr lang="en-US" sz="900" b="1" spc="800" kern="0" dirty="0">
                <a:solidFill>
                  <a:srgbClr val="E8DCC4"/>
                </a:solidFill>
                <a:latin typeface="Calibri" pitchFamily="34" charset="0"/>
                <a:ea typeface="Calibri" pitchFamily="34" charset="-122"/>
                <a:cs typeface="Calibri" pitchFamily="34" charset="-120"/>
              </a:rPr>
              <a:t>RADIOGRAPHIC EVIDENCE</a:t>
            </a:r>
            <a:endParaRPr lang="en-US" sz="900" dirty="0"/>
          </a:p>
        </p:txBody>
      </p:sp>
      <p:sp>
        <p:nvSpPr>
          <p:cNvPr id="4" name="Text 2"/>
          <p:cNvSpPr/>
          <p:nvPr/>
        </p:nvSpPr>
        <p:spPr>
          <a:xfrm>
            <a:off x="6217920" y="548640"/>
            <a:ext cx="5486400" cy="274320"/>
          </a:xfrm>
          <a:prstGeom prst="rect">
            <a:avLst/>
          </a:prstGeom>
          <a:noFill/>
          <a:ln/>
        </p:spPr>
        <p:txBody>
          <a:bodyPr wrap="square" rtlCol="0" anchor="ctr"/>
          <a:lstStyle/>
          <a:p>
            <a:pPr algn="r" indent="0" marL="0">
              <a:buNone/>
            </a:pPr>
            <a:r>
              <a:rPr lang="en-US" sz="900" b="1" spc="800" kern="0" dirty="0">
                <a:solidFill>
                  <a:srgbClr val="E8DCC4"/>
                </a:solidFill>
                <a:latin typeface="Calibri" pitchFamily="34" charset="0"/>
                <a:ea typeface="Calibri" pitchFamily="34" charset="-122"/>
                <a:cs typeface="Calibri" pitchFamily="34" charset="-120"/>
              </a:rPr>
              <a:t>PLATE I</a:t>
            </a:r>
            <a:endParaRPr lang="en-US" sz="900" dirty="0"/>
          </a:p>
        </p:txBody>
      </p:sp>
      <p:sp>
        <p:nvSpPr>
          <p:cNvPr id="5" name="Text 3"/>
          <p:cNvSpPr/>
          <p:nvPr/>
        </p:nvSpPr>
        <p:spPr>
          <a:xfrm>
            <a:off x="457200" y="914400"/>
            <a:ext cx="7315200" cy="640080"/>
          </a:xfrm>
          <a:prstGeom prst="rect">
            <a:avLst/>
          </a:prstGeom>
          <a:noFill/>
          <a:ln/>
        </p:spPr>
        <p:txBody>
          <a:bodyPr wrap="square" lIns="0" tIns="0" rIns="0" bIns="0" rtlCol="0" anchor="ctr"/>
          <a:lstStyle/>
          <a:p>
            <a:pPr indent="0" marL="0">
              <a:buNone/>
            </a:pPr>
            <a:r>
              <a:rPr lang="en-US" sz="4800" b="1" i="1" dirty="0">
                <a:solidFill>
                  <a:srgbClr val="F4EDE0"/>
                </a:solidFill>
                <a:latin typeface="Georgia" pitchFamily="34" charset="0"/>
                <a:ea typeface="Georgia" pitchFamily="34" charset="-122"/>
                <a:cs typeface="Georgia" pitchFamily="34" charset="-120"/>
              </a:rPr>
              <a:t>Imaging.</a:t>
            </a:r>
            <a:endParaRPr lang="en-US" sz="4800" dirty="0"/>
          </a:p>
        </p:txBody>
      </p:sp>
      <p:sp>
        <p:nvSpPr>
          <p:cNvPr id="6" name="Text 4"/>
          <p:cNvSpPr/>
          <p:nvPr/>
        </p:nvSpPr>
        <p:spPr>
          <a:xfrm>
            <a:off x="8229600" y="1097280"/>
            <a:ext cx="3474720" cy="365760"/>
          </a:xfrm>
          <a:prstGeom prst="rect">
            <a:avLst/>
          </a:prstGeom>
          <a:noFill/>
          <a:ln/>
        </p:spPr>
        <p:txBody>
          <a:bodyPr wrap="square" lIns="0" tIns="0" rIns="0" bIns="0" rtlCol="0" anchor="ctr"/>
          <a:lstStyle/>
          <a:p>
            <a:pPr algn="r" indent="0" marL="0">
              <a:buNone/>
            </a:pPr>
            <a:r>
              <a:rPr lang="en-US" sz="1600" i="1" dirty="0">
                <a:solidFill>
                  <a:srgbClr val="B8893E"/>
                </a:solidFill>
                <a:latin typeface="Georgia" pitchFamily="34" charset="0"/>
                <a:ea typeface="Georgia" pitchFamily="34" charset="-122"/>
                <a:cs typeface="Georgia" pitchFamily="34" charset="-120"/>
              </a:rPr>
              <a:t>14 / 04 / 2026</a:t>
            </a:r>
            <a:endParaRPr lang="en-US" sz="1600" dirty="0"/>
          </a:p>
        </p:txBody>
      </p:sp>
      <p:sp>
        <p:nvSpPr>
          <p:cNvPr id="7" name="Shape 5"/>
          <p:cNvSpPr/>
          <p:nvPr/>
        </p:nvSpPr>
        <p:spPr>
          <a:xfrm>
            <a:off x="420624" y="1746504"/>
            <a:ext cx="6839712" cy="3879342"/>
          </a:xfrm>
          <a:prstGeom prst="rect">
            <a:avLst/>
          </a:prstGeom>
          <a:solidFill>
            <a:srgbClr val="F4EDE0"/>
          </a:solidFill>
          <a:ln/>
        </p:spPr>
      </p:sp>
      <p:pic>
        <p:nvPicPr>
          <p:cNvPr id="8" name="Image 0" descr="/home/claude/opg.jpeg">    </p:cNvPr>
          <p:cNvPicPr>
            <a:picLocks noChangeAspect="1"/>
          </p:cNvPicPr>
          <p:nvPr/>
        </p:nvPicPr>
        <p:blipFill>
          <a:blip r:embed="rId1"/>
          <a:stretch>
            <a:fillRect/>
          </a:stretch>
        </p:blipFill>
        <p:spPr>
          <a:xfrm>
            <a:off x="457200" y="1783080"/>
            <a:ext cx="6766560" cy="3806190"/>
          </a:xfrm>
          <a:prstGeom prst="rect">
            <a:avLst/>
          </a:prstGeom>
        </p:spPr>
      </p:pic>
      <p:sp>
        <p:nvSpPr>
          <p:cNvPr id="9" name="Text 6"/>
          <p:cNvSpPr/>
          <p:nvPr/>
        </p:nvSpPr>
        <p:spPr>
          <a:xfrm>
            <a:off x="457200" y="5680710"/>
            <a:ext cx="6766560" cy="228600"/>
          </a:xfrm>
          <a:prstGeom prst="rect">
            <a:avLst/>
          </a:prstGeom>
          <a:noFill/>
          <a:ln/>
        </p:spPr>
        <p:txBody>
          <a:bodyPr wrap="square" rtlCol="0" anchor="ctr"/>
          <a:lstStyle/>
          <a:p>
            <a:pPr indent="0" marL="0">
              <a:buNone/>
            </a:pPr>
            <a:r>
              <a:rPr lang="en-US" sz="800" b="1" spc="600" kern="0" dirty="0">
                <a:solidFill>
                  <a:srgbClr val="B8893E"/>
                </a:solidFill>
                <a:latin typeface="Calibri" pitchFamily="34" charset="0"/>
                <a:ea typeface="Calibri" pitchFamily="34" charset="-122"/>
                <a:cs typeface="Calibri" pitchFamily="34" charset="-120"/>
              </a:rPr>
              <a:t>PLATE I</a:t>
            </a:r>
            <a:endParaRPr lang="en-US" sz="800" dirty="0"/>
          </a:p>
        </p:txBody>
      </p:sp>
      <p:sp>
        <p:nvSpPr>
          <p:cNvPr id="10" name="Text 7"/>
          <p:cNvSpPr/>
          <p:nvPr/>
        </p:nvSpPr>
        <p:spPr>
          <a:xfrm>
            <a:off x="457200" y="5881878"/>
            <a:ext cx="6766560" cy="274320"/>
          </a:xfrm>
          <a:prstGeom prst="rect">
            <a:avLst/>
          </a:prstGeom>
          <a:noFill/>
          <a:ln/>
        </p:spPr>
        <p:txBody>
          <a:bodyPr wrap="square" lIns="0" tIns="0" rIns="0" bIns="0" rtlCol="0" anchor="ctr"/>
          <a:lstStyle/>
          <a:p>
            <a:pPr indent="0" marL="0">
              <a:buNone/>
            </a:pPr>
            <a:r>
              <a:rPr lang="en-US" sz="1300" b="1" i="1" dirty="0">
                <a:solidFill>
                  <a:srgbClr val="F4EDE0"/>
                </a:solidFill>
                <a:latin typeface="Georgia" pitchFamily="34" charset="0"/>
                <a:ea typeface="Georgia" pitchFamily="34" charset="-122"/>
                <a:cs typeface="Georgia" pitchFamily="34" charset="-120"/>
              </a:rPr>
              <a:t>Panoramic Radiograph (OPG)</a:t>
            </a:r>
            <a:endParaRPr lang="en-US" sz="1300" dirty="0"/>
          </a:p>
        </p:txBody>
      </p:sp>
      <p:sp>
        <p:nvSpPr>
          <p:cNvPr id="11" name="Shape 8"/>
          <p:cNvSpPr/>
          <p:nvPr/>
        </p:nvSpPr>
        <p:spPr>
          <a:xfrm>
            <a:off x="7827264" y="1746504"/>
            <a:ext cx="3182112" cy="2279653"/>
          </a:xfrm>
          <a:prstGeom prst="rect">
            <a:avLst/>
          </a:prstGeom>
          <a:solidFill>
            <a:srgbClr val="F4EDE0"/>
          </a:solidFill>
          <a:ln/>
        </p:spPr>
      </p:sp>
      <p:pic>
        <p:nvPicPr>
          <p:cNvPr id="12" name="Image 1" descr="/home/claude/clinical/05_iopa1.png">    </p:cNvPr>
          <p:cNvPicPr>
            <a:picLocks noChangeAspect="1"/>
          </p:cNvPicPr>
          <p:nvPr/>
        </p:nvPicPr>
        <p:blipFill>
          <a:blip r:embed="rId2"/>
          <a:stretch>
            <a:fillRect/>
          </a:stretch>
        </p:blipFill>
        <p:spPr>
          <a:xfrm>
            <a:off x="7863840" y="1783080"/>
            <a:ext cx="3108960" cy="2206501"/>
          </a:xfrm>
          <a:prstGeom prst="rect">
            <a:avLst/>
          </a:prstGeom>
        </p:spPr>
      </p:pic>
      <p:sp>
        <p:nvSpPr>
          <p:cNvPr id="13" name="Text 9"/>
          <p:cNvSpPr/>
          <p:nvPr/>
        </p:nvSpPr>
        <p:spPr>
          <a:xfrm>
            <a:off x="7863840" y="4044445"/>
            <a:ext cx="3108960" cy="201168"/>
          </a:xfrm>
          <a:prstGeom prst="rect">
            <a:avLst/>
          </a:prstGeom>
          <a:noFill/>
          <a:ln/>
        </p:spPr>
        <p:txBody>
          <a:bodyPr wrap="square" rtlCol="0" anchor="ctr"/>
          <a:lstStyle/>
          <a:p>
            <a:pPr indent="0" marL="0">
              <a:buNone/>
            </a:pPr>
            <a:r>
              <a:rPr lang="en-US" sz="800" b="1" spc="400" kern="0" dirty="0">
                <a:solidFill>
                  <a:srgbClr val="B8893E"/>
                </a:solidFill>
                <a:latin typeface="Calibri" pitchFamily="34" charset="0"/>
                <a:ea typeface="Calibri" pitchFamily="34" charset="-122"/>
                <a:cs typeface="Calibri" pitchFamily="34" charset="-120"/>
              </a:rPr>
              <a:t>PLATE II  ·  IOPA — TOOTH 17</a:t>
            </a:r>
            <a:endParaRPr lang="en-US" sz="800" dirty="0"/>
          </a:p>
        </p:txBody>
      </p:sp>
      <p:sp>
        <p:nvSpPr>
          <p:cNvPr id="14" name="Shape 10"/>
          <p:cNvSpPr/>
          <p:nvPr/>
        </p:nvSpPr>
        <p:spPr>
          <a:xfrm>
            <a:off x="7827264" y="4364485"/>
            <a:ext cx="2010369" cy="1524251"/>
          </a:xfrm>
          <a:prstGeom prst="rect">
            <a:avLst/>
          </a:prstGeom>
          <a:solidFill>
            <a:srgbClr val="F4EDE0"/>
          </a:solidFill>
          <a:ln/>
        </p:spPr>
      </p:sp>
      <p:pic>
        <p:nvPicPr>
          <p:cNvPr id="15" name="Image 2" descr="/home/claude/clinical/06_iopa2.png">    </p:cNvPr>
          <p:cNvPicPr>
            <a:picLocks noChangeAspect="1"/>
          </p:cNvPicPr>
          <p:nvPr/>
        </p:nvPicPr>
        <p:blipFill>
          <a:blip r:embed="rId3"/>
          <a:stretch>
            <a:fillRect/>
          </a:stretch>
        </p:blipFill>
        <p:spPr>
          <a:xfrm>
            <a:off x="7863840" y="4401061"/>
            <a:ext cx="1937217" cy="1451099"/>
          </a:xfrm>
          <a:prstGeom prst="rect">
            <a:avLst/>
          </a:prstGeom>
        </p:spPr>
      </p:pic>
      <p:sp>
        <p:nvSpPr>
          <p:cNvPr id="16" name="Text 11"/>
          <p:cNvSpPr/>
          <p:nvPr/>
        </p:nvSpPr>
        <p:spPr>
          <a:xfrm>
            <a:off x="7863840" y="5907024"/>
            <a:ext cx="3108960" cy="201168"/>
          </a:xfrm>
          <a:prstGeom prst="rect">
            <a:avLst/>
          </a:prstGeom>
          <a:noFill/>
          <a:ln/>
        </p:spPr>
        <p:txBody>
          <a:bodyPr wrap="square" rtlCol="0" anchor="ctr"/>
          <a:lstStyle/>
          <a:p>
            <a:pPr indent="0" marL="0">
              <a:buNone/>
            </a:pPr>
            <a:r>
              <a:rPr lang="en-US" sz="800" b="1" spc="400" kern="0" dirty="0">
                <a:solidFill>
                  <a:srgbClr val="B8893E"/>
                </a:solidFill>
                <a:latin typeface="Calibri" pitchFamily="34" charset="0"/>
                <a:ea typeface="Calibri" pitchFamily="34" charset="-122"/>
                <a:cs typeface="Calibri" pitchFamily="34" charset="-120"/>
              </a:rPr>
              <a:t>PLATE III  ·  IOPA — TOOTH 27</a:t>
            </a:r>
            <a:endParaRPr lang="en-US" sz="800" dirty="0"/>
          </a:p>
        </p:txBody>
      </p:sp>
      <p:sp>
        <p:nvSpPr>
          <p:cNvPr id="17" name="Shape 12"/>
          <p:cNvSpPr/>
          <p:nvPr/>
        </p:nvSpPr>
        <p:spPr>
          <a:xfrm>
            <a:off x="457200" y="6492240"/>
            <a:ext cx="11247120" cy="13716"/>
          </a:xfrm>
          <a:prstGeom prst="rect">
            <a:avLst/>
          </a:prstGeom>
          <a:solidFill>
            <a:srgbClr val="F4EDE0"/>
          </a:solidFill>
          <a:ln/>
        </p:spPr>
      </p:sp>
      <p:sp>
        <p:nvSpPr>
          <p:cNvPr id="18" name="Text 13"/>
          <p:cNvSpPr/>
          <p:nvPr/>
        </p:nvSpPr>
        <p:spPr>
          <a:xfrm>
            <a:off x="457200" y="6565392"/>
            <a:ext cx="8686800" cy="228600"/>
          </a:xfrm>
          <a:prstGeom prst="rect">
            <a:avLst/>
          </a:prstGeom>
          <a:noFill/>
          <a:ln/>
        </p:spPr>
        <p:txBody>
          <a:bodyPr wrap="square" rtlCol="0" anchor="ctr"/>
          <a:lstStyle/>
          <a:p>
            <a:pPr indent="0" marL="0">
              <a:buNone/>
            </a:pPr>
            <a:r>
              <a:rPr lang="en-US" sz="800" i="1" spc="400" kern="0" dirty="0">
                <a:solidFill>
                  <a:srgbClr val="E8DCC4"/>
                </a:solidFill>
                <a:latin typeface="Calibri" pitchFamily="34" charset="0"/>
                <a:ea typeface="Calibri" pitchFamily="34" charset="-122"/>
                <a:cs typeface="Calibri" pitchFamily="34" charset="-120"/>
              </a:rPr>
              <a:t>IBRAHIM ALSHAHRANI · 2110301  ·  M. HANASH · M140426001</a:t>
            </a:r>
            <a:endParaRPr lang="en-US" sz="800" dirty="0"/>
          </a:p>
        </p:txBody>
      </p:sp>
      <p:sp>
        <p:nvSpPr>
          <p:cNvPr id="19" name="Text 14"/>
          <p:cNvSpPr/>
          <p:nvPr/>
        </p:nvSpPr>
        <p:spPr>
          <a:xfrm>
            <a:off x="9418320" y="6565392"/>
            <a:ext cx="2286000" cy="228600"/>
          </a:xfrm>
          <a:prstGeom prst="rect">
            <a:avLst/>
          </a:prstGeom>
          <a:noFill/>
          <a:ln/>
        </p:spPr>
        <p:txBody>
          <a:bodyPr wrap="square" rtlCol="0" anchor="ctr"/>
          <a:lstStyle/>
          <a:p>
            <a:pPr algn="r" indent="0" marL="0">
              <a:buNone/>
            </a:pPr>
            <a:r>
              <a:rPr lang="en-US" sz="800" b="1" spc="600" kern="0" dirty="0">
                <a:solidFill>
                  <a:srgbClr val="E8DCC4"/>
                </a:solidFill>
                <a:latin typeface="Calibri" pitchFamily="34" charset="0"/>
                <a:ea typeface="Calibri" pitchFamily="34" charset="-122"/>
                <a:cs typeface="Calibri" pitchFamily="34" charset="-120"/>
              </a:rPr>
              <a:t>PAGE  11  /  16</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EDE0"/>
        </a:solidFill>
      </p:bgPr>
    </p:bg>
    <p:spTree>
      <p:nvGrpSpPr>
        <p:cNvPr id="1" name=""/>
        <p:cNvGrpSpPr/>
        <p:nvPr/>
      </p:nvGrpSpPr>
      <p:grpSpPr>
        <a:xfrm>
          <a:off x="0" y="0"/>
          <a:ext cx="0" cy="0"/>
          <a:chOff x="0" y="0"/>
          <a:chExt cx="0" cy="0"/>
        </a:xfrm>
      </p:grpSpPr>
      <p:sp>
        <p:nvSpPr>
          <p:cNvPr id="2" name="Shape 0"/>
          <p:cNvSpPr/>
          <p:nvPr/>
        </p:nvSpPr>
        <p:spPr>
          <a:xfrm>
            <a:off x="457200" y="457200"/>
            <a:ext cx="11247120" cy="13716"/>
          </a:xfrm>
          <a:prstGeom prst="rect">
            <a:avLst/>
          </a:prstGeom>
          <a:solidFill>
            <a:srgbClr val="1A1A1A"/>
          </a:solidFill>
          <a:ln/>
        </p:spPr>
      </p:sp>
      <p:sp>
        <p:nvSpPr>
          <p:cNvPr id="3" name="Text 1"/>
          <p:cNvSpPr/>
          <p:nvPr/>
        </p:nvSpPr>
        <p:spPr>
          <a:xfrm>
            <a:off x="457200" y="548640"/>
            <a:ext cx="5486400" cy="274320"/>
          </a:xfrm>
          <a:prstGeom prst="rect">
            <a:avLst/>
          </a:prstGeom>
          <a:noFill/>
          <a:ln/>
        </p:spPr>
        <p:txBody>
          <a:bodyPr wrap="square" rtlCol="0" anchor="ctr"/>
          <a:lstStyle/>
          <a:p>
            <a:pPr indent="0" marL="0">
              <a:buNone/>
            </a:pPr>
            <a:r>
              <a:rPr lang="en-US" sz="900" b="1" spc="800" kern="0" dirty="0">
                <a:solidFill>
                  <a:srgbClr val="5C4F3A"/>
                </a:solidFill>
                <a:latin typeface="Calibri" pitchFamily="34" charset="0"/>
                <a:ea typeface="Calibri" pitchFamily="34" charset="-122"/>
                <a:cs typeface="Calibri" pitchFamily="34" charset="-120"/>
              </a:rPr>
              <a:t>RADIOGRAPHIC FINDINGS</a:t>
            </a:r>
            <a:endParaRPr lang="en-US" sz="900" dirty="0"/>
          </a:p>
        </p:txBody>
      </p:sp>
      <p:sp>
        <p:nvSpPr>
          <p:cNvPr id="4" name="Text 2"/>
          <p:cNvSpPr/>
          <p:nvPr/>
        </p:nvSpPr>
        <p:spPr>
          <a:xfrm>
            <a:off x="6217920" y="548640"/>
            <a:ext cx="5486400" cy="274320"/>
          </a:xfrm>
          <a:prstGeom prst="rect">
            <a:avLst/>
          </a:prstGeom>
          <a:noFill/>
          <a:ln/>
        </p:spPr>
        <p:txBody>
          <a:bodyPr wrap="square" rtlCol="0" anchor="ctr"/>
          <a:lstStyle/>
          <a:p>
            <a:pPr algn="r" indent="0" marL="0">
              <a:buNone/>
            </a:pPr>
            <a:r>
              <a:rPr lang="en-US" sz="900" b="1" spc="800" kern="0" dirty="0">
                <a:solidFill>
                  <a:srgbClr val="5C4F3A"/>
                </a:solidFill>
                <a:latin typeface="Calibri" pitchFamily="34" charset="0"/>
                <a:ea typeface="Calibri" pitchFamily="34" charset="-122"/>
                <a:cs typeface="Calibri" pitchFamily="34" charset="-120"/>
              </a:rPr>
              <a:t>CASE PRESENTATION</a:t>
            </a:r>
            <a:endParaRPr lang="en-US" sz="900" dirty="0"/>
          </a:p>
        </p:txBody>
      </p:sp>
      <p:sp>
        <p:nvSpPr>
          <p:cNvPr id="5" name="Text 3"/>
          <p:cNvSpPr/>
          <p:nvPr/>
        </p:nvSpPr>
        <p:spPr>
          <a:xfrm>
            <a:off x="457200" y="914400"/>
            <a:ext cx="8229600" cy="914400"/>
          </a:xfrm>
          <a:prstGeom prst="rect">
            <a:avLst/>
          </a:prstGeom>
          <a:noFill/>
          <a:ln/>
        </p:spPr>
        <p:txBody>
          <a:bodyPr wrap="square" lIns="0" tIns="0" rIns="0" bIns="0" rtlCol="0" anchor="ctr"/>
          <a:lstStyle/>
          <a:p>
            <a:pPr indent="0" marL="0">
              <a:buNone/>
            </a:pPr>
            <a:r>
              <a:rPr lang="en-US" sz="5200" i="1" dirty="0">
                <a:solidFill>
                  <a:srgbClr val="1A1A1A"/>
                </a:solidFill>
                <a:latin typeface="Georgia" pitchFamily="34" charset="0"/>
                <a:ea typeface="Georgia" pitchFamily="34" charset="-122"/>
                <a:cs typeface="Georgia" pitchFamily="34" charset="-120"/>
              </a:rPr>
              <a:t>Reading the</a:t>
            </a:r>
            <a:endParaRPr lang="en-US" sz="5200" dirty="0"/>
          </a:p>
        </p:txBody>
      </p:sp>
      <p:sp>
        <p:nvSpPr>
          <p:cNvPr id="6" name="Text 4"/>
          <p:cNvSpPr/>
          <p:nvPr/>
        </p:nvSpPr>
        <p:spPr>
          <a:xfrm>
            <a:off x="457200" y="1691640"/>
            <a:ext cx="8229600" cy="1097280"/>
          </a:xfrm>
          <a:prstGeom prst="rect">
            <a:avLst/>
          </a:prstGeom>
          <a:noFill/>
          <a:ln/>
        </p:spPr>
        <p:txBody>
          <a:bodyPr wrap="square" lIns="0" tIns="0" rIns="0" bIns="0" rtlCol="0" anchor="ctr"/>
          <a:lstStyle/>
          <a:p>
            <a:pPr indent="0" marL="0">
              <a:buNone/>
            </a:pPr>
            <a:r>
              <a:rPr lang="en-US" sz="7200" b="1" i="1" dirty="0">
                <a:solidFill>
                  <a:srgbClr val="6B1F2E"/>
                </a:solidFill>
                <a:latin typeface="Georgia" pitchFamily="34" charset="0"/>
                <a:ea typeface="Georgia" pitchFamily="34" charset="-122"/>
                <a:cs typeface="Georgia" pitchFamily="34" charset="-120"/>
              </a:rPr>
              <a:t>films.</a:t>
            </a:r>
            <a:endParaRPr lang="en-US" sz="7200" dirty="0"/>
          </a:p>
        </p:txBody>
      </p:sp>
      <p:sp>
        <p:nvSpPr>
          <p:cNvPr id="7" name="Shape 5"/>
          <p:cNvSpPr/>
          <p:nvPr/>
        </p:nvSpPr>
        <p:spPr>
          <a:xfrm>
            <a:off x="457200" y="3017520"/>
            <a:ext cx="1280160" cy="960120"/>
          </a:xfrm>
          <a:prstGeom prst="rect">
            <a:avLst/>
          </a:prstGeom>
          <a:solidFill>
            <a:srgbClr val="6B1F2E"/>
          </a:solidFill>
          <a:ln/>
        </p:spPr>
      </p:sp>
      <p:sp>
        <p:nvSpPr>
          <p:cNvPr id="8" name="Text 6"/>
          <p:cNvSpPr/>
          <p:nvPr/>
        </p:nvSpPr>
        <p:spPr>
          <a:xfrm>
            <a:off x="457200" y="3017520"/>
            <a:ext cx="1280160" cy="960120"/>
          </a:xfrm>
          <a:prstGeom prst="rect">
            <a:avLst/>
          </a:prstGeom>
          <a:noFill/>
          <a:ln/>
        </p:spPr>
        <p:txBody>
          <a:bodyPr wrap="square" lIns="0" tIns="0" rIns="0" bIns="0" rtlCol="0" anchor="ctr"/>
          <a:lstStyle/>
          <a:p>
            <a:pPr algn="ctr" indent="0" marL="0">
              <a:buNone/>
            </a:pPr>
            <a:r>
              <a:rPr lang="en-US" sz="4400" b="1" i="1" dirty="0">
                <a:solidFill>
                  <a:srgbClr val="F4EDE0"/>
                </a:solidFill>
                <a:latin typeface="Georgia" pitchFamily="34" charset="0"/>
                <a:ea typeface="Georgia" pitchFamily="34" charset="-122"/>
                <a:cs typeface="Georgia" pitchFamily="34" charset="-120"/>
              </a:rPr>
              <a:t>17</a:t>
            </a:r>
            <a:endParaRPr lang="en-US" sz="4400" dirty="0"/>
          </a:p>
        </p:txBody>
      </p:sp>
      <p:sp>
        <p:nvSpPr>
          <p:cNvPr id="9" name="Text 7"/>
          <p:cNvSpPr/>
          <p:nvPr/>
        </p:nvSpPr>
        <p:spPr>
          <a:xfrm>
            <a:off x="1920240" y="3108960"/>
            <a:ext cx="6400800" cy="274320"/>
          </a:xfrm>
          <a:prstGeom prst="rect">
            <a:avLst/>
          </a:prstGeom>
          <a:noFill/>
          <a:ln/>
        </p:spPr>
        <p:txBody>
          <a:bodyPr wrap="square" rtlCol="0" anchor="ctr"/>
          <a:lstStyle/>
          <a:p>
            <a:pPr indent="0" marL="0">
              <a:buNone/>
            </a:pPr>
            <a:r>
              <a:rPr lang="en-US" sz="1000" b="1" spc="800" kern="0" dirty="0">
                <a:solidFill>
                  <a:srgbClr val="6B1F2E"/>
                </a:solidFill>
                <a:latin typeface="Calibri" pitchFamily="34" charset="0"/>
                <a:ea typeface="Calibri" pitchFamily="34" charset="-122"/>
                <a:cs typeface="Calibri" pitchFamily="34" charset="-120"/>
              </a:rPr>
              <a:t>UPPER RIGHT SECOND MOLAR  ·  OPG + IOPA</a:t>
            </a:r>
            <a:endParaRPr lang="en-US" sz="1000" dirty="0"/>
          </a:p>
        </p:txBody>
      </p:sp>
      <p:sp>
        <p:nvSpPr>
          <p:cNvPr id="10" name="Text 8"/>
          <p:cNvSpPr/>
          <p:nvPr/>
        </p:nvSpPr>
        <p:spPr>
          <a:xfrm>
            <a:off x="1920240" y="3383280"/>
            <a:ext cx="7772400" cy="640080"/>
          </a:xfrm>
          <a:prstGeom prst="rect">
            <a:avLst/>
          </a:prstGeom>
          <a:noFill/>
          <a:ln/>
        </p:spPr>
        <p:txBody>
          <a:bodyPr wrap="square" lIns="0" tIns="0" rIns="0" bIns="0" rtlCol="0" anchor="ctr"/>
          <a:lstStyle/>
          <a:p>
            <a:pPr indent="0" marL="0">
              <a:buNone/>
            </a:pPr>
            <a:r>
              <a:rPr lang="en-US" sz="1300" i="1" dirty="0">
                <a:solidFill>
                  <a:srgbClr val="1A1A1A"/>
                </a:solidFill>
                <a:latin typeface="Georgia" pitchFamily="34" charset="0"/>
                <a:ea typeface="Georgia" pitchFamily="34" charset="-122"/>
                <a:cs typeface="Georgia" pitchFamily="34" charset="-120"/>
              </a:rPr>
              <a:t>Large radiopaque coronal restoration extending close to the pulp horn. IOPA shows over-contoured restoration with possible mesial overhang and incipient mesial bone loss.</a:t>
            </a:r>
            <a:endParaRPr lang="en-US" sz="1300" dirty="0"/>
          </a:p>
        </p:txBody>
      </p:sp>
      <p:sp>
        <p:nvSpPr>
          <p:cNvPr id="11" name="Shape 9"/>
          <p:cNvSpPr/>
          <p:nvPr/>
        </p:nvSpPr>
        <p:spPr>
          <a:xfrm>
            <a:off x="9784080" y="3337560"/>
            <a:ext cx="1920240" cy="365760"/>
          </a:xfrm>
          <a:prstGeom prst="rect">
            <a:avLst/>
          </a:prstGeom>
          <a:solidFill>
            <a:srgbClr val="B8893E"/>
          </a:solidFill>
          <a:ln/>
        </p:spPr>
      </p:sp>
      <p:sp>
        <p:nvSpPr>
          <p:cNvPr id="12" name="Text 10"/>
          <p:cNvSpPr/>
          <p:nvPr/>
        </p:nvSpPr>
        <p:spPr>
          <a:xfrm>
            <a:off x="9784080" y="3337560"/>
            <a:ext cx="1920240" cy="365760"/>
          </a:xfrm>
          <a:prstGeom prst="rect">
            <a:avLst/>
          </a:prstGeom>
          <a:noFill/>
          <a:ln/>
        </p:spPr>
        <p:txBody>
          <a:bodyPr wrap="square" lIns="0" tIns="0" rIns="0" bIns="0" rtlCol="0" anchor="ctr"/>
          <a:lstStyle/>
          <a:p>
            <a:pPr algn="ctr" indent="0" marL="0">
              <a:buNone/>
            </a:pPr>
            <a:r>
              <a:rPr lang="en-US" sz="900" b="1" spc="600" kern="0" dirty="0">
                <a:solidFill>
                  <a:srgbClr val="1A1A1A"/>
                </a:solidFill>
                <a:latin typeface="Calibri" pitchFamily="34" charset="0"/>
                <a:ea typeface="Calibri" pitchFamily="34" charset="-122"/>
                <a:cs typeface="Calibri" pitchFamily="34" charset="-120"/>
              </a:rPr>
              <a:t>RESTORATION</a:t>
            </a:r>
            <a:endParaRPr lang="en-US" sz="900" dirty="0"/>
          </a:p>
        </p:txBody>
      </p:sp>
      <p:sp>
        <p:nvSpPr>
          <p:cNvPr id="13" name="Shape 11"/>
          <p:cNvSpPr/>
          <p:nvPr/>
        </p:nvSpPr>
        <p:spPr>
          <a:xfrm>
            <a:off x="1920240" y="4050792"/>
            <a:ext cx="9784080" cy="4572"/>
          </a:xfrm>
          <a:prstGeom prst="rect">
            <a:avLst/>
          </a:prstGeom>
          <a:solidFill>
            <a:srgbClr val="C9B8A0"/>
          </a:solidFill>
          <a:ln/>
        </p:spPr>
      </p:sp>
      <p:sp>
        <p:nvSpPr>
          <p:cNvPr id="14" name="Shape 12"/>
          <p:cNvSpPr/>
          <p:nvPr/>
        </p:nvSpPr>
        <p:spPr>
          <a:xfrm>
            <a:off x="457200" y="4114800"/>
            <a:ext cx="1280160" cy="960120"/>
          </a:xfrm>
          <a:prstGeom prst="rect">
            <a:avLst/>
          </a:prstGeom>
          <a:solidFill>
            <a:srgbClr val="6B1F2E"/>
          </a:solidFill>
          <a:ln/>
        </p:spPr>
      </p:sp>
      <p:sp>
        <p:nvSpPr>
          <p:cNvPr id="15" name="Text 13"/>
          <p:cNvSpPr/>
          <p:nvPr/>
        </p:nvSpPr>
        <p:spPr>
          <a:xfrm>
            <a:off x="457200" y="4114800"/>
            <a:ext cx="1280160" cy="960120"/>
          </a:xfrm>
          <a:prstGeom prst="rect">
            <a:avLst/>
          </a:prstGeom>
          <a:noFill/>
          <a:ln/>
        </p:spPr>
        <p:txBody>
          <a:bodyPr wrap="square" lIns="0" tIns="0" rIns="0" bIns="0" rtlCol="0" anchor="ctr"/>
          <a:lstStyle/>
          <a:p>
            <a:pPr algn="ctr" indent="0" marL="0">
              <a:buNone/>
            </a:pPr>
            <a:r>
              <a:rPr lang="en-US" sz="4400" b="1" i="1" dirty="0">
                <a:solidFill>
                  <a:srgbClr val="F4EDE0"/>
                </a:solidFill>
                <a:latin typeface="Georgia" pitchFamily="34" charset="0"/>
                <a:ea typeface="Georgia" pitchFamily="34" charset="-122"/>
                <a:cs typeface="Georgia" pitchFamily="34" charset="-120"/>
              </a:rPr>
              <a:t>27</a:t>
            </a:r>
            <a:endParaRPr lang="en-US" sz="4400" dirty="0"/>
          </a:p>
        </p:txBody>
      </p:sp>
      <p:sp>
        <p:nvSpPr>
          <p:cNvPr id="16" name="Text 14"/>
          <p:cNvSpPr/>
          <p:nvPr/>
        </p:nvSpPr>
        <p:spPr>
          <a:xfrm>
            <a:off x="1920240" y="4206240"/>
            <a:ext cx="6400800" cy="274320"/>
          </a:xfrm>
          <a:prstGeom prst="rect">
            <a:avLst/>
          </a:prstGeom>
          <a:noFill/>
          <a:ln/>
        </p:spPr>
        <p:txBody>
          <a:bodyPr wrap="square" rtlCol="0" anchor="ctr"/>
          <a:lstStyle/>
          <a:p>
            <a:pPr indent="0" marL="0">
              <a:buNone/>
            </a:pPr>
            <a:r>
              <a:rPr lang="en-US" sz="1000" b="1" spc="800" kern="0" dirty="0">
                <a:solidFill>
                  <a:srgbClr val="6B1F2E"/>
                </a:solidFill>
                <a:latin typeface="Calibri" pitchFamily="34" charset="0"/>
                <a:ea typeface="Calibri" pitchFamily="34" charset="-122"/>
                <a:cs typeface="Calibri" pitchFamily="34" charset="-120"/>
              </a:rPr>
              <a:t>UPPER LEFT SECOND MOLAR  ·  OPG + IOPA</a:t>
            </a:r>
            <a:endParaRPr lang="en-US" sz="1000" dirty="0"/>
          </a:p>
        </p:txBody>
      </p:sp>
      <p:sp>
        <p:nvSpPr>
          <p:cNvPr id="17" name="Text 15"/>
          <p:cNvSpPr/>
          <p:nvPr/>
        </p:nvSpPr>
        <p:spPr>
          <a:xfrm>
            <a:off x="1920240" y="4480560"/>
            <a:ext cx="7772400" cy="640080"/>
          </a:xfrm>
          <a:prstGeom prst="rect">
            <a:avLst/>
          </a:prstGeom>
          <a:noFill/>
          <a:ln/>
        </p:spPr>
        <p:txBody>
          <a:bodyPr wrap="square" lIns="0" tIns="0" rIns="0" bIns="0" rtlCol="0" anchor="ctr"/>
          <a:lstStyle/>
          <a:p>
            <a:pPr indent="0" marL="0">
              <a:buNone/>
            </a:pPr>
            <a:r>
              <a:rPr lang="en-US" sz="1300" i="1" dirty="0">
                <a:solidFill>
                  <a:srgbClr val="1A1A1A"/>
                </a:solidFill>
                <a:latin typeface="Georgia" pitchFamily="34" charset="0"/>
                <a:ea typeface="Georgia" pitchFamily="34" charset="-122"/>
                <a:cs typeface="Georgia" pitchFamily="34" charset="-120"/>
              </a:rPr>
              <a:t>Radiopaque material visible within the pulp canals — consistent with previous root canal treatment. IOPA shows coronal radiolucency, suggestive of recurrent caries beneath the existing restoration.</a:t>
            </a:r>
            <a:endParaRPr lang="en-US" sz="1300" dirty="0"/>
          </a:p>
        </p:txBody>
      </p:sp>
      <p:sp>
        <p:nvSpPr>
          <p:cNvPr id="18" name="Shape 16"/>
          <p:cNvSpPr/>
          <p:nvPr/>
        </p:nvSpPr>
        <p:spPr>
          <a:xfrm>
            <a:off x="9784080" y="4434840"/>
            <a:ext cx="1920240" cy="365760"/>
          </a:xfrm>
          <a:prstGeom prst="rect">
            <a:avLst/>
          </a:prstGeom>
          <a:solidFill>
            <a:srgbClr val="B8893E"/>
          </a:solidFill>
          <a:ln/>
        </p:spPr>
      </p:sp>
      <p:sp>
        <p:nvSpPr>
          <p:cNvPr id="19" name="Text 17"/>
          <p:cNvSpPr/>
          <p:nvPr/>
        </p:nvSpPr>
        <p:spPr>
          <a:xfrm>
            <a:off x="9784080" y="4434840"/>
            <a:ext cx="1920240" cy="365760"/>
          </a:xfrm>
          <a:prstGeom prst="rect">
            <a:avLst/>
          </a:prstGeom>
          <a:noFill/>
          <a:ln/>
        </p:spPr>
        <p:txBody>
          <a:bodyPr wrap="square" lIns="0" tIns="0" rIns="0" bIns="0" rtlCol="0" anchor="ctr"/>
          <a:lstStyle/>
          <a:p>
            <a:pPr algn="ctr" indent="0" marL="0">
              <a:buNone/>
            </a:pPr>
            <a:r>
              <a:rPr lang="en-US" sz="900" b="1" spc="600" kern="0" dirty="0">
                <a:solidFill>
                  <a:srgbClr val="1A1A1A"/>
                </a:solidFill>
                <a:latin typeface="Calibri" pitchFamily="34" charset="0"/>
                <a:ea typeface="Calibri" pitchFamily="34" charset="-122"/>
                <a:cs typeface="Calibri" pitchFamily="34" charset="-120"/>
              </a:rPr>
              <a:t>RCT · CARIES</a:t>
            </a:r>
            <a:endParaRPr lang="en-US" sz="900" dirty="0"/>
          </a:p>
        </p:txBody>
      </p:sp>
      <p:sp>
        <p:nvSpPr>
          <p:cNvPr id="20" name="Shape 18"/>
          <p:cNvSpPr/>
          <p:nvPr/>
        </p:nvSpPr>
        <p:spPr>
          <a:xfrm>
            <a:off x="1920240" y="5148072"/>
            <a:ext cx="9784080" cy="4572"/>
          </a:xfrm>
          <a:prstGeom prst="rect">
            <a:avLst/>
          </a:prstGeom>
          <a:solidFill>
            <a:srgbClr val="C9B8A0"/>
          </a:solidFill>
          <a:ln/>
        </p:spPr>
      </p:sp>
      <p:sp>
        <p:nvSpPr>
          <p:cNvPr id="21" name="Shape 19"/>
          <p:cNvSpPr/>
          <p:nvPr/>
        </p:nvSpPr>
        <p:spPr>
          <a:xfrm>
            <a:off x="457200" y="5212080"/>
            <a:ext cx="1280160" cy="960120"/>
          </a:xfrm>
          <a:prstGeom prst="rect">
            <a:avLst/>
          </a:prstGeom>
          <a:solidFill>
            <a:srgbClr val="6B1F2E"/>
          </a:solidFill>
          <a:ln/>
        </p:spPr>
      </p:sp>
      <p:sp>
        <p:nvSpPr>
          <p:cNvPr id="22" name="Text 20"/>
          <p:cNvSpPr/>
          <p:nvPr/>
        </p:nvSpPr>
        <p:spPr>
          <a:xfrm>
            <a:off x="457200" y="5212080"/>
            <a:ext cx="1280160" cy="960120"/>
          </a:xfrm>
          <a:prstGeom prst="rect">
            <a:avLst/>
          </a:prstGeom>
          <a:noFill/>
          <a:ln/>
        </p:spPr>
        <p:txBody>
          <a:bodyPr wrap="square" lIns="0" tIns="0" rIns="0" bIns="0" rtlCol="0" anchor="ctr"/>
          <a:lstStyle/>
          <a:p>
            <a:pPr algn="ctr" indent="0" marL="0">
              <a:buNone/>
            </a:pPr>
            <a:r>
              <a:rPr lang="en-US" sz="4400" b="1" i="1" dirty="0">
                <a:solidFill>
                  <a:srgbClr val="F4EDE0"/>
                </a:solidFill>
                <a:latin typeface="Georgia" pitchFamily="34" charset="0"/>
                <a:ea typeface="Georgia" pitchFamily="34" charset="-122"/>
                <a:cs typeface="Georgia" pitchFamily="34" charset="-120"/>
              </a:rPr>
              <a:t>—</a:t>
            </a:r>
            <a:endParaRPr lang="en-US" sz="4400" dirty="0"/>
          </a:p>
        </p:txBody>
      </p:sp>
      <p:sp>
        <p:nvSpPr>
          <p:cNvPr id="23" name="Text 21"/>
          <p:cNvSpPr/>
          <p:nvPr/>
        </p:nvSpPr>
        <p:spPr>
          <a:xfrm>
            <a:off x="1920240" y="5303520"/>
            <a:ext cx="6400800" cy="274320"/>
          </a:xfrm>
          <a:prstGeom prst="rect">
            <a:avLst/>
          </a:prstGeom>
          <a:noFill/>
          <a:ln/>
        </p:spPr>
        <p:txBody>
          <a:bodyPr wrap="square" rtlCol="0" anchor="ctr"/>
          <a:lstStyle/>
          <a:p>
            <a:pPr indent="0" marL="0">
              <a:buNone/>
            </a:pPr>
            <a:r>
              <a:rPr lang="en-US" sz="1000" b="1" spc="800" kern="0" dirty="0">
                <a:solidFill>
                  <a:srgbClr val="6B1F2E"/>
                </a:solidFill>
                <a:latin typeface="Calibri" pitchFamily="34" charset="0"/>
                <a:ea typeface="Calibri" pitchFamily="34" charset="-122"/>
                <a:cs typeface="Calibri" pitchFamily="34" charset="-120"/>
              </a:rPr>
              <a:t>GENERAL FINDINGS  ·  OPG</a:t>
            </a:r>
            <a:endParaRPr lang="en-US" sz="1000" dirty="0"/>
          </a:p>
        </p:txBody>
      </p:sp>
      <p:sp>
        <p:nvSpPr>
          <p:cNvPr id="24" name="Text 22"/>
          <p:cNvSpPr/>
          <p:nvPr/>
        </p:nvSpPr>
        <p:spPr>
          <a:xfrm>
            <a:off x="1920240" y="5577840"/>
            <a:ext cx="7772400" cy="640080"/>
          </a:xfrm>
          <a:prstGeom prst="rect">
            <a:avLst/>
          </a:prstGeom>
          <a:noFill/>
          <a:ln/>
        </p:spPr>
        <p:txBody>
          <a:bodyPr wrap="square" lIns="0" tIns="0" rIns="0" bIns="0" rtlCol="0" anchor="ctr"/>
          <a:lstStyle/>
          <a:p>
            <a:pPr indent="0" marL="0">
              <a:buNone/>
            </a:pPr>
            <a:r>
              <a:rPr lang="en-US" sz="1300" i="1" dirty="0">
                <a:solidFill>
                  <a:srgbClr val="1A1A1A"/>
                </a:solidFill>
                <a:latin typeface="Georgia" pitchFamily="34" charset="0"/>
                <a:ea typeface="Georgia" pitchFamily="34" charset="-122"/>
                <a:cs typeface="Georgia" pitchFamily="34" charset="-120"/>
              </a:rPr>
              <a:t>Maxillary sinuses clear bilaterally. Mandibular condyles symmetrical. No obvious cysts, fractures, or periapical lesions elsewhere in the dentition.</a:t>
            </a:r>
            <a:endParaRPr lang="en-US" sz="1300" dirty="0"/>
          </a:p>
        </p:txBody>
      </p:sp>
      <p:sp>
        <p:nvSpPr>
          <p:cNvPr id="25" name="Shape 23"/>
          <p:cNvSpPr/>
          <p:nvPr/>
        </p:nvSpPr>
        <p:spPr>
          <a:xfrm>
            <a:off x="9784080" y="5532120"/>
            <a:ext cx="1920240" cy="365760"/>
          </a:xfrm>
          <a:prstGeom prst="rect">
            <a:avLst/>
          </a:prstGeom>
          <a:solidFill>
            <a:srgbClr val="B8893E"/>
          </a:solidFill>
          <a:ln/>
        </p:spPr>
      </p:sp>
      <p:sp>
        <p:nvSpPr>
          <p:cNvPr id="26" name="Text 24"/>
          <p:cNvSpPr/>
          <p:nvPr/>
        </p:nvSpPr>
        <p:spPr>
          <a:xfrm>
            <a:off x="9784080" y="5532120"/>
            <a:ext cx="1920240" cy="365760"/>
          </a:xfrm>
          <a:prstGeom prst="rect">
            <a:avLst/>
          </a:prstGeom>
          <a:noFill/>
          <a:ln/>
        </p:spPr>
        <p:txBody>
          <a:bodyPr wrap="square" lIns="0" tIns="0" rIns="0" bIns="0" rtlCol="0" anchor="ctr"/>
          <a:lstStyle/>
          <a:p>
            <a:pPr algn="ctr" indent="0" marL="0">
              <a:buNone/>
            </a:pPr>
            <a:r>
              <a:rPr lang="en-US" sz="900" b="1" spc="600" kern="0" dirty="0">
                <a:solidFill>
                  <a:srgbClr val="1A1A1A"/>
                </a:solidFill>
                <a:latin typeface="Calibri" pitchFamily="34" charset="0"/>
                <a:ea typeface="Calibri" pitchFamily="34" charset="-122"/>
                <a:cs typeface="Calibri" pitchFamily="34" charset="-120"/>
              </a:rPr>
              <a:t>UNREMARKABLE</a:t>
            </a:r>
            <a:endParaRPr lang="en-US" sz="900" dirty="0"/>
          </a:p>
        </p:txBody>
      </p:sp>
      <p:sp>
        <p:nvSpPr>
          <p:cNvPr id="27" name="Shape 25"/>
          <p:cNvSpPr/>
          <p:nvPr/>
        </p:nvSpPr>
        <p:spPr>
          <a:xfrm>
            <a:off x="1920240" y="6245352"/>
            <a:ext cx="9784080" cy="4572"/>
          </a:xfrm>
          <a:prstGeom prst="rect">
            <a:avLst/>
          </a:prstGeom>
          <a:solidFill>
            <a:srgbClr val="C9B8A0"/>
          </a:solidFill>
          <a:ln/>
        </p:spPr>
      </p:sp>
      <p:sp>
        <p:nvSpPr>
          <p:cNvPr id="28" name="Shape 26"/>
          <p:cNvSpPr/>
          <p:nvPr/>
        </p:nvSpPr>
        <p:spPr>
          <a:xfrm>
            <a:off x="457200" y="6492240"/>
            <a:ext cx="11247120" cy="13716"/>
          </a:xfrm>
          <a:prstGeom prst="rect">
            <a:avLst/>
          </a:prstGeom>
          <a:solidFill>
            <a:srgbClr val="1A1A1A"/>
          </a:solidFill>
          <a:ln/>
        </p:spPr>
      </p:sp>
      <p:sp>
        <p:nvSpPr>
          <p:cNvPr id="29" name="Text 27"/>
          <p:cNvSpPr/>
          <p:nvPr/>
        </p:nvSpPr>
        <p:spPr>
          <a:xfrm>
            <a:off x="457200" y="6565392"/>
            <a:ext cx="8686800" cy="228600"/>
          </a:xfrm>
          <a:prstGeom prst="rect">
            <a:avLst/>
          </a:prstGeom>
          <a:noFill/>
          <a:ln/>
        </p:spPr>
        <p:txBody>
          <a:bodyPr wrap="square" rtlCol="0" anchor="ctr"/>
          <a:lstStyle/>
          <a:p>
            <a:pPr indent="0" marL="0">
              <a:buNone/>
            </a:pPr>
            <a:r>
              <a:rPr lang="en-US" sz="800" i="1" spc="400" kern="0" dirty="0">
                <a:solidFill>
                  <a:srgbClr val="5C4F3A"/>
                </a:solidFill>
                <a:latin typeface="Calibri" pitchFamily="34" charset="0"/>
                <a:ea typeface="Calibri" pitchFamily="34" charset="-122"/>
                <a:cs typeface="Calibri" pitchFamily="34" charset="-120"/>
              </a:rPr>
              <a:t>IBRAHIM ALSHAHRANI · 2110301  ·  M. HANASH · M140426001</a:t>
            </a:r>
            <a:endParaRPr lang="en-US" sz="800" dirty="0"/>
          </a:p>
        </p:txBody>
      </p:sp>
      <p:sp>
        <p:nvSpPr>
          <p:cNvPr id="30" name="Text 28"/>
          <p:cNvSpPr/>
          <p:nvPr/>
        </p:nvSpPr>
        <p:spPr>
          <a:xfrm>
            <a:off x="9418320" y="6565392"/>
            <a:ext cx="2286000" cy="228600"/>
          </a:xfrm>
          <a:prstGeom prst="rect">
            <a:avLst/>
          </a:prstGeom>
          <a:noFill/>
          <a:ln/>
        </p:spPr>
        <p:txBody>
          <a:bodyPr wrap="square" rtlCol="0" anchor="ctr"/>
          <a:lstStyle/>
          <a:p>
            <a:pPr algn="r" indent="0" marL="0">
              <a:buNone/>
            </a:pPr>
            <a:r>
              <a:rPr lang="en-US" sz="800" b="1" spc="600" kern="0" dirty="0">
                <a:solidFill>
                  <a:srgbClr val="5C4F3A"/>
                </a:solidFill>
                <a:latin typeface="Calibri" pitchFamily="34" charset="0"/>
                <a:ea typeface="Calibri" pitchFamily="34" charset="-122"/>
                <a:cs typeface="Calibri" pitchFamily="34" charset="-120"/>
              </a:rPr>
              <a:t>PAGE  12  /  16</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EDE0"/>
        </a:solidFill>
      </p:bgPr>
    </p:bg>
    <p:spTree>
      <p:nvGrpSpPr>
        <p:cNvPr id="1" name=""/>
        <p:cNvGrpSpPr/>
        <p:nvPr/>
      </p:nvGrpSpPr>
      <p:grpSpPr>
        <a:xfrm>
          <a:off x="0" y="0"/>
          <a:ext cx="0" cy="0"/>
          <a:chOff x="0" y="0"/>
          <a:chExt cx="0" cy="0"/>
        </a:xfrm>
      </p:grpSpPr>
      <p:sp>
        <p:nvSpPr>
          <p:cNvPr id="2" name="Shape 0"/>
          <p:cNvSpPr/>
          <p:nvPr/>
        </p:nvSpPr>
        <p:spPr>
          <a:xfrm>
            <a:off x="457200" y="457200"/>
            <a:ext cx="11247120" cy="13716"/>
          </a:xfrm>
          <a:prstGeom prst="rect">
            <a:avLst/>
          </a:prstGeom>
          <a:solidFill>
            <a:srgbClr val="1A1A1A"/>
          </a:solidFill>
          <a:ln/>
        </p:spPr>
      </p:sp>
      <p:sp>
        <p:nvSpPr>
          <p:cNvPr id="3" name="Text 1"/>
          <p:cNvSpPr/>
          <p:nvPr/>
        </p:nvSpPr>
        <p:spPr>
          <a:xfrm>
            <a:off x="457200" y="548640"/>
            <a:ext cx="5486400" cy="274320"/>
          </a:xfrm>
          <a:prstGeom prst="rect">
            <a:avLst/>
          </a:prstGeom>
          <a:noFill/>
          <a:ln/>
        </p:spPr>
        <p:txBody>
          <a:bodyPr wrap="square" rtlCol="0" anchor="ctr"/>
          <a:lstStyle/>
          <a:p>
            <a:pPr indent="0" marL="0">
              <a:buNone/>
            </a:pPr>
            <a:r>
              <a:rPr lang="en-US" sz="900" b="1" spc="800" kern="0" dirty="0">
                <a:solidFill>
                  <a:srgbClr val="5C4F3A"/>
                </a:solidFill>
                <a:latin typeface="Calibri" pitchFamily="34" charset="0"/>
                <a:ea typeface="Calibri" pitchFamily="34" charset="-122"/>
                <a:cs typeface="Calibri" pitchFamily="34" charset="-120"/>
              </a:rPr>
              <a:t>FINAL DIAGNOSIS</a:t>
            </a:r>
            <a:endParaRPr lang="en-US" sz="900" dirty="0"/>
          </a:p>
        </p:txBody>
      </p:sp>
      <p:sp>
        <p:nvSpPr>
          <p:cNvPr id="4" name="Text 2"/>
          <p:cNvSpPr/>
          <p:nvPr/>
        </p:nvSpPr>
        <p:spPr>
          <a:xfrm>
            <a:off x="6217920" y="548640"/>
            <a:ext cx="5486400" cy="274320"/>
          </a:xfrm>
          <a:prstGeom prst="rect">
            <a:avLst/>
          </a:prstGeom>
          <a:noFill/>
          <a:ln/>
        </p:spPr>
        <p:txBody>
          <a:bodyPr wrap="square" rtlCol="0" anchor="ctr"/>
          <a:lstStyle/>
          <a:p>
            <a:pPr algn="r" indent="0" marL="0">
              <a:buNone/>
            </a:pPr>
            <a:r>
              <a:rPr lang="en-US" sz="900" b="1" spc="800" kern="0" dirty="0">
                <a:solidFill>
                  <a:srgbClr val="5C4F3A"/>
                </a:solidFill>
                <a:latin typeface="Calibri" pitchFamily="34" charset="0"/>
                <a:ea typeface="Calibri" pitchFamily="34" charset="-122"/>
                <a:cs typeface="Calibri" pitchFamily="34" charset="-120"/>
              </a:rPr>
              <a:t>CASE PRESENTATION</a:t>
            </a:r>
            <a:endParaRPr lang="en-US" sz="900" dirty="0"/>
          </a:p>
        </p:txBody>
      </p:sp>
      <p:sp>
        <p:nvSpPr>
          <p:cNvPr id="5" name="Text 3"/>
          <p:cNvSpPr/>
          <p:nvPr/>
        </p:nvSpPr>
        <p:spPr>
          <a:xfrm>
            <a:off x="457200" y="914400"/>
            <a:ext cx="10058400" cy="1280160"/>
          </a:xfrm>
          <a:prstGeom prst="rect">
            <a:avLst/>
          </a:prstGeom>
          <a:noFill/>
          <a:ln/>
        </p:spPr>
        <p:txBody>
          <a:bodyPr wrap="square" lIns="0" tIns="0" rIns="0" bIns="0" rtlCol="0" anchor="ctr"/>
          <a:lstStyle/>
          <a:p>
            <a:pPr indent="0" marL="0">
              <a:buNone/>
            </a:pPr>
            <a:r>
              <a:rPr lang="en-US" sz="8800" b="1" i="1" dirty="0">
                <a:solidFill>
                  <a:srgbClr val="6B1F2E"/>
                </a:solidFill>
                <a:latin typeface="Georgia" pitchFamily="34" charset="0"/>
                <a:ea typeface="Georgia" pitchFamily="34" charset="-122"/>
                <a:cs typeface="Georgia" pitchFamily="34" charset="-120"/>
              </a:rPr>
              <a:t>Confirmed.</a:t>
            </a:r>
            <a:endParaRPr lang="en-US" sz="8800" dirty="0"/>
          </a:p>
        </p:txBody>
      </p:sp>
      <p:sp>
        <p:nvSpPr>
          <p:cNvPr id="6" name="Shape 4"/>
          <p:cNvSpPr/>
          <p:nvPr/>
        </p:nvSpPr>
        <p:spPr>
          <a:xfrm>
            <a:off x="457200" y="2286000"/>
            <a:ext cx="914400" cy="36576"/>
          </a:xfrm>
          <a:prstGeom prst="rect">
            <a:avLst/>
          </a:prstGeom>
          <a:solidFill>
            <a:srgbClr val="B8893E"/>
          </a:solidFill>
          <a:ln/>
        </p:spPr>
      </p:sp>
      <p:sp>
        <p:nvSpPr>
          <p:cNvPr id="7" name="Text 5"/>
          <p:cNvSpPr/>
          <p:nvPr/>
        </p:nvSpPr>
        <p:spPr>
          <a:xfrm>
            <a:off x="457200" y="2743200"/>
            <a:ext cx="2743200" cy="1554480"/>
          </a:xfrm>
          <a:prstGeom prst="rect">
            <a:avLst/>
          </a:prstGeom>
          <a:noFill/>
          <a:ln/>
        </p:spPr>
        <p:txBody>
          <a:bodyPr wrap="square" lIns="0" tIns="0" rIns="0" bIns="0" rtlCol="0" anchor="ctr"/>
          <a:lstStyle/>
          <a:p>
            <a:pPr indent="0" marL="0">
              <a:buNone/>
            </a:pPr>
            <a:r>
              <a:rPr lang="en-US" sz="10000" b="1" i="1" dirty="0">
                <a:solidFill>
                  <a:srgbClr val="6B1F2E"/>
                </a:solidFill>
                <a:latin typeface="Georgia" pitchFamily="34" charset="0"/>
                <a:ea typeface="Georgia" pitchFamily="34" charset="-122"/>
                <a:cs typeface="Georgia" pitchFamily="34" charset="-120"/>
              </a:rPr>
              <a:t>17</a:t>
            </a:r>
            <a:endParaRPr lang="en-US" sz="10000" dirty="0"/>
          </a:p>
        </p:txBody>
      </p:sp>
      <p:sp>
        <p:nvSpPr>
          <p:cNvPr id="8" name="Text 6"/>
          <p:cNvSpPr/>
          <p:nvPr/>
        </p:nvSpPr>
        <p:spPr>
          <a:xfrm>
            <a:off x="3291840" y="2834640"/>
            <a:ext cx="548640" cy="365760"/>
          </a:xfrm>
          <a:prstGeom prst="rect">
            <a:avLst/>
          </a:prstGeom>
          <a:noFill/>
          <a:ln/>
        </p:spPr>
        <p:txBody>
          <a:bodyPr wrap="square" rtlCol="0" anchor="ctr"/>
          <a:lstStyle/>
          <a:p>
            <a:pPr indent="0" marL="0">
              <a:buNone/>
            </a:pPr>
            <a:r>
              <a:rPr lang="en-US" sz="1600" b="1" i="1" dirty="0">
                <a:solidFill>
                  <a:srgbClr val="B8893E"/>
                </a:solidFill>
                <a:latin typeface="Georgia" pitchFamily="34" charset="0"/>
                <a:ea typeface="Georgia" pitchFamily="34" charset="-122"/>
                <a:cs typeface="Georgia" pitchFamily="34" charset="-120"/>
              </a:rPr>
              <a:t>I.</a:t>
            </a:r>
            <a:endParaRPr lang="en-US" sz="1600" dirty="0"/>
          </a:p>
        </p:txBody>
      </p:sp>
      <p:sp>
        <p:nvSpPr>
          <p:cNvPr id="9" name="Text 7"/>
          <p:cNvSpPr/>
          <p:nvPr/>
        </p:nvSpPr>
        <p:spPr>
          <a:xfrm>
            <a:off x="3291840" y="3108960"/>
            <a:ext cx="8412480" cy="640080"/>
          </a:xfrm>
          <a:prstGeom prst="rect">
            <a:avLst/>
          </a:prstGeom>
          <a:noFill/>
          <a:ln/>
        </p:spPr>
        <p:txBody>
          <a:bodyPr wrap="square" lIns="0" tIns="0" rIns="0" bIns="0" rtlCol="0" anchor="ctr"/>
          <a:lstStyle/>
          <a:p>
            <a:pPr indent="0" marL="0">
              <a:buNone/>
            </a:pPr>
            <a:r>
              <a:rPr lang="en-US" sz="3200" b="1" i="1" dirty="0">
                <a:solidFill>
                  <a:srgbClr val="1A1A1A"/>
                </a:solidFill>
                <a:latin typeface="Georgia" pitchFamily="34" charset="0"/>
                <a:ea typeface="Georgia" pitchFamily="34" charset="-122"/>
                <a:cs typeface="Georgia" pitchFamily="34" charset="-120"/>
              </a:rPr>
              <a:t>Over-contoured restoration</a:t>
            </a:r>
            <a:endParaRPr lang="en-US" sz="3200" dirty="0"/>
          </a:p>
        </p:txBody>
      </p:sp>
      <p:sp>
        <p:nvSpPr>
          <p:cNvPr id="10" name="Text 8"/>
          <p:cNvSpPr/>
          <p:nvPr/>
        </p:nvSpPr>
        <p:spPr>
          <a:xfrm>
            <a:off x="3291840" y="3703320"/>
            <a:ext cx="8412480" cy="457200"/>
          </a:xfrm>
          <a:prstGeom prst="rect">
            <a:avLst/>
          </a:prstGeom>
          <a:noFill/>
          <a:ln/>
        </p:spPr>
        <p:txBody>
          <a:bodyPr wrap="square" lIns="0" tIns="0" rIns="0" bIns="0" rtlCol="0" anchor="ctr"/>
          <a:lstStyle/>
          <a:p>
            <a:pPr indent="0" marL="0">
              <a:buNone/>
            </a:pPr>
            <a:r>
              <a:rPr lang="en-US" sz="1800" i="1" dirty="0">
                <a:solidFill>
                  <a:srgbClr val="5C4F3A"/>
                </a:solidFill>
                <a:latin typeface="Georgia" pitchFamily="34" charset="0"/>
                <a:ea typeface="Georgia" pitchFamily="34" charset="-122"/>
                <a:cs typeface="Georgia" pitchFamily="34" charset="-120"/>
              </a:rPr>
              <a:t>with food impaction causing pain.</a:t>
            </a:r>
            <a:endParaRPr lang="en-US" sz="1800" dirty="0"/>
          </a:p>
        </p:txBody>
      </p:sp>
      <p:sp>
        <p:nvSpPr>
          <p:cNvPr id="11" name="Shape 9"/>
          <p:cNvSpPr/>
          <p:nvPr/>
        </p:nvSpPr>
        <p:spPr>
          <a:xfrm>
            <a:off x="457200" y="4389120"/>
            <a:ext cx="11247120" cy="13716"/>
          </a:xfrm>
          <a:prstGeom prst="rect">
            <a:avLst/>
          </a:prstGeom>
          <a:solidFill>
            <a:srgbClr val="1A1A1A"/>
          </a:solidFill>
          <a:ln/>
        </p:spPr>
      </p:sp>
      <p:sp>
        <p:nvSpPr>
          <p:cNvPr id="12" name="Text 10"/>
          <p:cNvSpPr/>
          <p:nvPr/>
        </p:nvSpPr>
        <p:spPr>
          <a:xfrm>
            <a:off x="457200" y="4572000"/>
            <a:ext cx="2743200" cy="1554480"/>
          </a:xfrm>
          <a:prstGeom prst="rect">
            <a:avLst/>
          </a:prstGeom>
          <a:noFill/>
          <a:ln/>
        </p:spPr>
        <p:txBody>
          <a:bodyPr wrap="square" lIns="0" tIns="0" rIns="0" bIns="0" rtlCol="0" anchor="ctr"/>
          <a:lstStyle/>
          <a:p>
            <a:pPr indent="0" marL="0">
              <a:buNone/>
            </a:pPr>
            <a:r>
              <a:rPr lang="en-US" sz="10000" b="1" i="1" dirty="0">
                <a:solidFill>
                  <a:srgbClr val="6B1F2E"/>
                </a:solidFill>
                <a:latin typeface="Georgia" pitchFamily="34" charset="0"/>
                <a:ea typeface="Georgia" pitchFamily="34" charset="-122"/>
                <a:cs typeface="Georgia" pitchFamily="34" charset="-120"/>
              </a:rPr>
              <a:t>27</a:t>
            </a:r>
            <a:endParaRPr lang="en-US" sz="10000" dirty="0"/>
          </a:p>
        </p:txBody>
      </p:sp>
      <p:sp>
        <p:nvSpPr>
          <p:cNvPr id="13" name="Text 11"/>
          <p:cNvSpPr/>
          <p:nvPr/>
        </p:nvSpPr>
        <p:spPr>
          <a:xfrm>
            <a:off x="3291840" y="4663440"/>
            <a:ext cx="548640" cy="365760"/>
          </a:xfrm>
          <a:prstGeom prst="rect">
            <a:avLst/>
          </a:prstGeom>
          <a:noFill/>
          <a:ln/>
        </p:spPr>
        <p:txBody>
          <a:bodyPr wrap="square" rtlCol="0" anchor="ctr"/>
          <a:lstStyle/>
          <a:p>
            <a:pPr indent="0" marL="0">
              <a:buNone/>
            </a:pPr>
            <a:r>
              <a:rPr lang="en-US" sz="1600" b="1" i="1" dirty="0">
                <a:solidFill>
                  <a:srgbClr val="B8893E"/>
                </a:solidFill>
                <a:latin typeface="Georgia" pitchFamily="34" charset="0"/>
                <a:ea typeface="Georgia" pitchFamily="34" charset="-122"/>
                <a:cs typeface="Georgia" pitchFamily="34" charset="-120"/>
              </a:rPr>
              <a:t>II.</a:t>
            </a:r>
            <a:endParaRPr lang="en-US" sz="1600" dirty="0"/>
          </a:p>
        </p:txBody>
      </p:sp>
      <p:sp>
        <p:nvSpPr>
          <p:cNvPr id="14" name="Text 12"/>
          <p:cNvSpPr/>
          <p:nvPr/>
        </p:nvSpPr>
        <p:spPr>
          <a:xfrm>
            <a:off x="3291840" y="4937760"/>
            <a:ext cx="8412480" cy="640080"/>
          </a:xfrm>
          <a:prstGeom prst="rect">
            <a:avLst/>
          </a:prstGeom>
          <a:noFill/>
          <a:ln/>
        </p:spPr>
        <p:txBody>
          <a:bodyPr wrap="square" lIns="0" tIns="0" rIns="0" bIns="0" rtlCol="0" anchor="ctr"/>
          <a:lstStyle/>
          <a:p>
            <a:pPr indent="0" marL="0">
              <a:buNone/>
            </a:pPr>
            <a:r>
              <a:rPr lang="en-US" sz="3200" b="1" i="1" dirty="0">
                <a:solidFill>
                  <a:srgbClr val="1A1A1A"/>
                </a:solidFill>
                <a:latin typeface="Georgia" pitchFamily="34" charset="0"/>
                <a:ea typeface="Georgia" pitchFamily="34" charset="-122"/>
                <a:cs typeface="Georgia" pitchFamily="34" charset="-120"/>
              </a:rPr>
              <a:t>Deep caries</a:t>
            </a:r>
            <a:endParaRPr lang="en-US" sz="3200" dirty="0"/>
          </a:p>
        </p:txBody>
      </p:sp>
      <p:sp>
        <p:nvSpPr>
          <p:cNvPr id="15" name="Text 13"/>
          <p:cNvSpPr/>
          <p:nvPr/>
        </p:nvSpPr>
        <p:spPr>
          <a:xfrm>
            <a:off x="3291840" y="5532120"/>
            <a:ext cx="8412480" cy="457200"/>
          </a:xfrm>
          <a:prstGeom prst="rect">
            <a:avLst/>
          </a:prstGeom>
          <a:noFill/>
          <a:ln/>
        </p:spPr>
        <p:txBody>
          <a:bodyPr wrap="square" lIns="0" tIns="0" rIns="0" bIns="0" rtlCol="0" anchor="ctr"/>
          <a:lstStyle/>
          <a:p>
            <a:pPr indent="0" marL="0">
              <a:buNone/>
            </a:pPr>
            <a:r>
              <a:rPr lang="en-US" sz="1800" i="1" dirty="0">
                <a:solidFill>
                  <a:srgbClr val="5C4F3A"/>
                </a:solidFill>
                <a:latin typeface="Georgia" pitchFamily="34" charset="0"/>
                <a:ea typeface="Georgia" pitchFamily="34" charset="-122"/>
                <a:cs typeface="Georgia" pitchFamily="34" charset="-120"/>
              </a:rPr>
              <a:t>on a previously root canal treated tooth.</a:t>
            </a:r>
            <a:endParaRPr lang="en-US" sz="1800" dirty="0"/>
          </a:p>
        </p:txBody>
      </p:sp>
      <p:sp>
        <p:nvSpPr>
          <p:cNvPr id="16" name="Shape 14"/>
          <p:cNvSpPr/>
          <p:nvPr/>
        </p:nvSpPr>
        <p:spPr>
          <a:xfrm>
            <a:off x="457200" y="6492240"/>
            <a:ext cx="11247120" cy="13716"/>
          </a:xfrm>
          <a:prstGeom prst="rect">
            <a:avLst/>
          </a:prstGeom>
          <a:solidFill>
            <a:srgbClr val="1A1A1A"/>
          </a:solidFill>
          <a:ln/>
        </p:spPr>
      </p:sp>
      <p:sp>
        <p:nvSpPr>
          <p:cNvPr id="17" name="Text 15"/>
          <p:cNvSpPr/>
          <p:nvPr/>
        </p:nvSpPr>
        <p:spPr>
          <a:xfrm>
            <a:off x="457200" y="6565392"/>
            <a:ext cx="8686800" cy="228600"/>
          </a:xfrm>
          <a:prstGeom prst="rect">
            <a:avLst/>
          </a:prstGeom>
          <a:noFill/>
          <a:ln/>
        </p:spPr>
        <p:txBody>
          <a:bodyPr wrap="square" rtlCol="0" anchor="ctr"/>
          <a:lstStyle/>
          <a:p>
            <a:pPr indent="0" marL="0">
              <a:buNone/>
            </a:pPr>
            <a:r>
              <a:rPr lang="en-US" sz="800" i="1" spc="400" kern="0" dirty="0">
                <a:solidFill>
                  <a:srgbClr val="5C4F3A"/>
                </a:solidFill>
                <a:latin typeface="Calibri" pitchFamily="34" charset="0"/>
                <a:ea typeface="Calibri" pitchFamily="34" charset="-122"/>
                <a:cs typeface="Calibri" pitchFamily="34" charset="-120"/>
              </a:rPr>
              <a:t>IBRAHIM ALSHAHRANI · 2110301  ·  M. HANASH · M140426001</a:t>
            </a:r>
            <a:endParaRPr lang="en-US" sz="800" dirty="0"/>
          </a:p>
        </p:txBody>
      </p:sp>
      <p:sp>
        <p:nvSpPr>
          <p:cNvPr id="18" name="Text 16"/>
          <p:cNvSpPr/>
          <p:nvPr/>
        </p:nvSpPr>
        <p:spPr>
          <a:xfrm>
            <a:off x="9418320" y="6565392"/>
            <a:ext cx="2286000" cy="228600"/>
          </a:xfrm>
          <a:prstGeom prst="rect">
            <a:avLst/>
          </a:prstGeom>
          <a:noFill/>
          <a:ln/>
        </p:spPr>
        <p:txBody>
          <a:bodyPr wrap="square" rtlCol="0" anchor="ctr"/>
          <a:lstStyle/>
          <a:p>
            <a:pPr algn="r" indent="0" marL="0">
              <a:buNone/>
            </a:pPr>
            <a:r>
              <a:rPr lang="en-US" sz="800" b="1" spc="600" kern="0" dirty="0">
                <a:solidFill>
                  <a:srgbClr val="5C4F3A"/>
                </a:solidFill>
                <a:latin typeface="Calibri" pitchFamily="34" charset="0"/>
                <a:ea typeface="Calibri" pitchFamily="34" charset="-122"/>
                <a:cs typeface="Calibri" pitchFamily="34" charset="-120"/>
              </a:rPr>
              <a:t>PAGE  13  /  16</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EDE0"/>
        </a:solidFill>
      </p:bgPr>
    </p:bg>
    <p:spTree>
      <p:nvGrpSpPr>
        <p:cNvPr id="1" name=""/>
        <p:cNvGrpSpPr/>
        <p:nvPr/>
      </p:nvGrpSpPr>
      <p:grpSpPr>
        <a:xfrm>
          <a:off x="0" y="0"/>
          <a:ext cx="0" cy="0"/>
          <a:chOff x="0" y="0"/>
          <a:chExt cx="0" cy="0"/>
        </a:xfrm>
      </p:grpSpPr>
      <p:sp>
        <p:nvSpPr>
          <p:cNvPr id="2" name="Shape 0"/>
          <p:cNvSpPr/>
          <p:nvPr/>
        </p:nvSpPr>
        <p:spPr>
          <a:xfrm>
            <a:off x="457200" y="457200"/>
            <a:ext cx="11247120" cy="13716"/>
          </a:xfrm>
          <a:prstGeom prst="rect">
            <a:avLst/>
          </a:prstGeom>
          <a:solidFill>
            <a:srgbClr val="1A1A1A"/>
          </a:solidFill>
          <a:ln/>
        </p:spPr>
      </p:sp>
      <p:sp>
        <p:nvSpPr>
          <p:cNvPr id="3" name="Text 1"/>
          <p:cNvSpPr/>
          <p:nvPr/>
        </p:nvSpPr>
        <p:spPr>
          <a:xfrm>
            <a:off x="457200" y="548640"/>
            <a:ext cx="5486400" cy="274320"/>
          </a:xfrm>
          <a:prstGeom prst="rect">
            <a:avLst/>
          </a:prstGeom>
          <a:noFill/>
          <a:ln/>
        </p:spPr>
        <p:txBody>
          <a:bodyPr wrap="square" rtlCol="0" anchor="ctr"/>
          <a:lstStyle/>
          <a:p>
            <a:pPr indent="0" marL="0">
              <a:buNone/>
            </a:pPr>
            <a:r>
              <a:rPr lang="en-US" sz="900" b="1" spc="800" kern="0" dirty="0">
                <a:solidFill>
                  <a:srgbClr val="5C4F3A"/>
                </a:solidFill>
                <a:latin typeface="Calibri" pitchFamily="34" charset="0"/>
                <a:ea typeface="Calibri" pitchFamily="34" charset="-122"/>
                <a:cs typeface="Calibri" pitchFamily="34" charset="-120"/>
              </a:rPr>
              <a:t>TREATMENT PLAN</a:t>
            </a:r>
            <a:endParaRPr lang="en-US" sz="900" dirty="0"/>
          </a:p>
        </p:txBody>
      </p:sp>
      <p:sp>
        <p:nvSpPr>
          <p:cNvPr id="4" name="Text 2"/>
          <p:cNvSpPr/>
          <p:nvPr/>
        </p:nvSpPr>
        <p:spPr>
          <a:xfrm>
            <a:off x="6217920" y="548640"/>
            <a:ext cx="5486400" cy="274320"/>
          </a:xfrm>
          <a:prstGeom prst="rect">
            <a:avLst/>
          </a:prstGeom>
          <a:noFill/>
          <a:ln/>
        </p:spPr>
        <p:txBody>
          <a:bodyPr wrap="square" rtlCol="0" anchor="ctr"/>
          <a:lstStyle/>
          <a:p>
            <a:pPr algn="r" indent="0" marL="0">
              <a:buNone/>
            </a:pPr>
            <a:r>
              <a:rPr lang="en-US" sz="900" b="1" spc="800" kern="0" dirty="0">
                <a:solidFill>
                  <a:srgbClr val="5C4F3A"/>
                </a:solidFill>
                <a:latin typeface="Calibri" pitchFamily="34" charset="0"/>
                <a:ea typeface="Calibri" pitchFamily="34" charset="-122"/>
                <a:cs typeface="Calibri" pitchFamily="34" charset="-120"/>
              </a:rPr>
              <a:t>CASE PRESENTATION</a:t>
            </a:r>
            <a:endParaRPr lang="en-US" sz="900" dirty="0"/>
          </a:p>
        </p:txBody>
      </p:sp>
      <p:sp>
        <p:nvSpPr>
          <p:cNvPr id="5" name="Text 3"/>
          <p:cNvSpPr/>
          <p:nvPr/>
        </p:nvSpPr>
        <p:spPr>
          <a:xfrm>
            <a:off x="457200" y="914400"/>
            <a:ext cx="7315200" cy="1097280"/>
          </a:xfrm>
          <a:prstGeom prst="rect">
            <a:avLst/>
          </a:prstGeom>
          <a:noFill/>
          <a:ln/>
        </p:spPr>
        <p:txBody>
          <a:bodyPr wrap="square" lIns="0" tIns="0" rIns="0" bIns="0" rtlCol="0" anchor="ctr"/>
          <a:lstStyle/>
          <a:p>
            <a:pPr indent="0" marL="0">
              <a:buNone/>
            </a:pPr>
            <a:r>
              <a:rPr lang="en-US" sz="7200" i="1" dirty="0">
                <a:solidFill>
                  <a:srgbClr val="1A1A1A"/>
                </a:solidFill>
                <a:latin typeface="Georgia" pitchFamily="34" charset="0"/>
                <a:ea typeface="Georgia" pitchFamily="34" charset="-122"/>
                <a:cs typeface="Georgia" pitchFamily="34" charset="-120"/>
              </a:rPr>
              <a:t>The plan,</a:t>
            </a:r>
            <a:endParaRPr lang="en-US" sz="7200" dirty="0"/>
          </a:p>
        </p:txBody>
      </p:sp>
      <p:sp>
        <p:nvSpPr>
          <p:cNvPr id="6" name="Text 4"/>
          <p:cNvSpPr/>
          <p:nvPr/>
        </p:nvSpPr>
        <p:spPr>
          <a:xfrm>
            <a:off x="457200" y="1828800"/>
            <a:ext cx="7315200" cy="1097280"/>
          </a:xfrm>
          <a:prstGeom prst="rect">
            <a:avLst/>
          </a:prstGeom>
          <a:noFill/>
          <a:ln/>
        </p:spPr>
        <p:txBody>
          <a:bodyPr wrap="square" lIns="0" tIns="0" rIns="0" bIns="0" rtlCol="0" anchor="ctr"/>
          <a:lstStyle/>
          <a:p>
            <a:pPr indent="0" marL="0">
              <a:buNone/>
            </a:pPr>
            <a:r>
              <a:rPr lang="en-US" sz="7200" b="1" i="1" dirty="0">
                <a:solidFill>
                  <a:srgbClr val="6B1F2E"/>
                </a:solidFill>
                <a:latin typeface="Georgia" pitchFamily="34" charset="0"/>
                <a:ea typeface="Georgia" pitchFamily="34" charset="-122"/>
                <a:cs typeface="Georgia" pitchFamily="34" charset="-120"/>
              </a:rPr>
              <a:t>in four acts.</a:t>
            </a:r>
            <a:endParaRPr lang="en-US" sz="7200" dirty="0"/>
          </a:p>
        </p:txBody>
      </p:sp>
      <p:sp>
        <p:nvSpPr>
          <p:cNvPr id="7" name="Text 5"/>
          <p:cNvSpPr/>
          <p:nvPr/>
        </p:nvSpPr>
        <p:spPr>
          <a:xfrm>
            <a:off x="7772400" y="1371600"/>
            <a:ext cx="3931920" cy="1280160"/>
          </a:xfrm>
          <a:prstGeom prst="rect">
            <a:avLst/>
          </a:prstGeom>
          <a:noFill/>
          <a:ln/>
        </p:spPr>
        <p:txBody>
          <a:bodyPr wrap="square" lIns="0" tIns="0" rIns="0" bIns="0" rtlCol="0" anchor="ctr"/>
          <a:lstStyle/>
          <a:p>
            <a:pPr indent="0" marL="0">
              <a:buNone/>
            </a:pPr>
            <a:r>
              <a:rPr lang="en-US" sz="1300" i="1" dirty="0">
                <a:solidFill>
                  <a:srgbClr val="5C4F3A"/>
                </a:solidFill>
                <a:latin typeface="Georgia" pitchFamily="34" charset="0"/>
                <a:ea typeface="Georgia" pitchFamily="34" charset="-122"/>
                <a:cs typeface="Georgia" pitchFamily="34" charset="-120"/>
              </a:rPr>
              <a:t>Phased management from preventive care through definitive restoration to long-term maintenance.</a:t>
            </a:r>
            <a:endParaRPr lang="en-US" sz="1300" dirty="0"/>
          </a:p>
        </p:txBody>
      </p:sp>
      <p:sp>
        <p:nvSpPr>
          <p:cNvPr id="8" name="Shape 6"/>
          <p:cNvSpPr/>
          <p:nvPr/>
        </p:nvSpPr>
        <p:spPr>
          <a:xfrm>
            <a:off x="457200" y="3291840"/>
            <a:ext cx="11247120" cy="36576"/>
          </a:xfrm>
          <a:prstGeom prst="rect">
            <a:avLst/>
          </a:prstGeom>
          <a:solidFill>
            <a:srgbClr val="1A1A1A"/>
          </a:solidFill>
          <a:ln/>
        </p:spPr>
      </p:sp>
      <p:sp>
        <p:nvSpPr>
          <p:cNvPr id="9" name="Text 7"/>
          <p:cNvSpPr/>
          <p:nvPr/>
        </p:nvSpPr>
        <p:spPr>
          <a:xfrm>
            <a:off x="457200" y="3383280"/>
            <a:ext cx="2651760" cy="274320"/>
          </a:xfrm>
          <a:prstGeom prst="rect">
            <a:avLst/>
          </a:prstGeom>
          <a:noFill/>
          <a:ln/>
        </p:spPr>
        <p:txBody>
          <a:bodyPr wrap="square" rtlCol="0" anchor="ctr"/>
          <a:lstStyle/>
          <a:p>
            <a:pPr indent="0" marL="0">
              <a:buNone/>
            </a:pPr>
            <a:r>
              <a:rPr lang="en-US" sz="900" b="1" spc="800" kern="0" dirty="0">
                <a:solidFill>
                  <a:srgbClr val="B8893E"/>
                </a:solidFill>
                <a:latin typeface="Calibri" pitchFamily="34" charset="0"/>
                <a:ea typeface="Calibri" pitchFamily="34" charset="-122"/>
                <a:cs typeface="Calibri" pitchFamily="34" charset="-120"/>
              </a:rPr>
              <a:t>ACT ONE</a:t>
            </a:r>
            <a:endParaRPr lang="en-US" sz="900" dirty="0"/>
          </a:p>
        </p:txBody>
      </p:sp>
      <p:sp>
        <p:nvSpPr>
          <p:cNvPr id="10" name="Text 8"/>
          <p:cNvSpPr/>
          <p:nvPr/>
        </p:nvSpPr>
        <p:spPr>
          <a:xfrm>
            <a:off x="457200" y="3657600"/>
            <a:ext cx="2651760" cy="1097280"/>
          </a:xfrm>
          <a:prstGeom prst="rect">
            <a:avLst/>
          </a:prstGeom>
          <a:noFill/>
          <a:ln/>
        </p:spPr>
        <p:txBody>
          <a:bodyPr wrap="square" lIns="0" tIns="0" rIns="0" bIns="0" rtlCol="0" anchor="ctr"/>
          <a:lstStyle/>
          <a:p>
            <a:pPr indent="0" marL="0">
              <a:buNone/>
            </a:pPr>
            <a:r>
              <a:rPr lang="en-US" sz="9600" b="1" i="1" dirty="0">
                <a:solidFill>
                  <a:srgbClr val="6B1F2E"/>
                </a:solidFill>
                <a:latin typeface="Georgia" pitchFamily="34" charset="0"/>
                <a:ea typeface="Georgia" pitchFamily="34" charset="-122"/>
                <a:cs typeface="Georgia" pitchFamily="34" charset="-120"/>
              </a:rPr>
              <a:t>I</a:t>
            </a:r>
            <a:endParaRPr lang="en-US" sz="9600" dirty="0"/>
          </a:p>
        </p:txBody>
      </p:sp>
      <p:sp>
        <p:nvSpPr>
          <p:cNvPr id="11" name="Text 9"/>
          <p:cNvSpPr/>
          <p:nvPr/>
        </p:nvSpPr>
        <p:spPr>
          <a:xfrm>
            <a:off x="457200" y="4800600"/>
            <a:ext cx="2651760" cy="777240"/>
          </a:xfrm>
          <a:prstGeom prst="rect">
            <a:avLst/>
          </a:prstGeom>
          <a:noFill/>
          <a:ln/>
        </p:spPr>
        <p:txBody>
          <a:bodyPr wrap="square" lIns="0" tIns="0" rIns="0" bIns="0" rtlCol="0" anchor="ctr"/>
          <a:lstStyle/>
          <a:p>
            <a:pPr indent="0" marL="0">
              <a:buNone/>
            </a:pPr>
            <a:r>
              <a:rPr lang="en-US" sz="1800" b="1" i="1" dirty="0">
                <a:solidFill>
                  <a:srgbClr val="1A1A1A"/>
                </a:solidFill>
                <a:latin typeface="Georgia" pitchFamily="34" charset="0"/>
                <a:ea typeface="Georgia" pitchFamily="34" charset="-122"/>
                <a:cs typeface="Georgia" pitchFamily="34" charset="-120"/>
              </a:rPr>
              <a:t>Emergency &amp;</a:t>
            </a:r>
            <a:endParaRPr lang="en-US" sz="1800" dirty="0"/>
          </a:p>
          <a:p>
            <a:pPr indent="0" marL="0">
              <a:buNone/>
            </a:pPr>
            <a:r>
              <a:rPr lang="en-US" sz="1800" b="1" i="1" dirty="0">
                <a:solidFill>
                  <a:srgbClr val="1A1A1A"/>
                </a:solidFill>
                <a:latin typeface="Georgia" pitchFamily="34" charset="0"/>
                <a:ea typeface="Georgia" pitchFamily="34" charset="-122"/>
                <a:cs typeface="Georgia" pitchFamily="34" charset="-120"/>
              </a:rPr>
              <a:t>Preventive</a:t>
            </a:r>
            <a:endParaRPr lang="en-US" sz="1800" dirty="0"/>
          </a:p>
        </p:txBody>
      </p:sp>
      <p:sp>
        <p:nvSpPr>
          <p:cNvPr id="12" name="Text 10"/>
          <p:cNvSpPr/>
          <p:nvPr/>
        </p:nvSpPr>
        <p:spPr>
          <a:xfrm>
            <a:off x="457200" y="5623560"/>
            <a:ext cx="2651760" cy="914400"/>
          </a:xfrm>
          <a:prstGeom prst="rect">
            <a:avLst/>
          </a:prstGeom>
          <a:noFill/>
          <a:ln/>
        </p:spPr>
        <p:txBody>
          <a:bodyPr wrap="square" lIns="0" tIns="0" rIns="0" bIns="0" rtlCol="0" anchor="ctr"/>
          <a:lstStyle/>
          <a:p>
            <a:pPr indent="0" marL="0">
              <a:buNone/>
            </a:pPr>
            <a:r>
              <a:rPr lang="en-US" sz="1100" dirty="0">
                <a:solidFill>
                  <a:srgbClr val="5C4F3A"/>
                </a:solidFill>
                <a:latin typeface="Calibri" pitchFamily="34" charset="0"/>
                <a:ea typeface="Calibri" pitchFamily="34" charset="-122"/>
                <a:cs typeface="Calibri" pitchFamily="34" charset="-120"/>
              </a:rPr>
              <a:t>Oral hygiene instructions, scaling and polishing.</a:t>
            </a:r>
            <a:endParaRPr lang="en-US" sz="1100" dirty="0"/>
          </a:p>
        </p:txBody>
      </p:sp>
      <p:sp>
        <p:nvSpPr>
          <p:cNvPr id="13" name="Text 11"/>
          <p:cNvSpPr/>
          <p:nvPr/>
        </p:nvSpPr>
        <p:spPr>
          <a:xfrm>
            <a:off x="3291840" y="3383280"/>
            <a:ext cx="2651760" cy="274320"/>
          </a:xfrm>
          <a:prstGeom prst="rect">
            <a:avLst/>
          </a:prstGeom>
          <a:noFill/>
          <a:ln/>
        </p:spPr>
        <p:txBody>
          <a:bodyPr wrap="square" rtlCol="0" anchor="ctr"/>
          <a:lstStyle/>
          <a:p>
            <a:pPr indent="0" marL="0">
              <a:buNone/>
            </a:pPr>
            <a:r>
              <a:rPr lang="en-US" sz="900" b="1" spc="800" kern="0" dirty="0">
                <a:solidFill>
                  <a:srgbClr val="B8893E"/>
                </a:solidFill>
                <a:latin typeface="Calibri" pitchFamily="34" charset="0"/>
                <a:ea typeface="Calibri" pitchFamily="34" charset="-122"/>
                <a:cs typeface="Calibri" pitchFamily="34" charset="-120"/>
              </a:rPr>
              <a:t>ACT TWO</a:t>
            </a:r>
            <a:endParaRPr lang="en-US" sz="900" dirty="0"/>
          </a:p>
        </p:txBody>
      </p:sp>
      <p:sp>
        <p:nvSpPr>
          <p:cNvPr id="14" name="Text 12"/>
          <p:cNvSpPr/>
          <p:nvPr/>
        </p:nvSpPr>
        <p:spPr>
          <a:xfrm>
            <a:off x="3291840" y="3657600"/>
            <a:ext cx="2651760" cy="1097280"/>
          </a:xfrm>
          <a:prstGeom prst="rect">
            <a:avLst/>
          </a:prstGeom>
          <a:noFill/>
          <a:ln/>
        </p:spPr>
        <p:txBody>
          <a:bodyPr wrap="square" lIns="0" tIns="0" rIns="0" bIns="0" rtlCol="0" anchor="ctr"/>
          <a:lstStyle/>
          <a:p>
            <a:pPr indent="0" marL="0">
              <a:buNone/>
            </a:pPr>
            <a:r>
              <a:rPr lang="en-US" sz="9600" b="1" i="1" dirty="0">
                <a:solidFill>
                  <a:srgbClr val="6B1F2E"/>
                </a:solidFill>
                <a:latin typeface="Georgia" pitchFamily="34" charset="0"/>
                <a:ea typeface="Georgia" pitchFamily="34" charset="-122"/>
                <a:cs typeface="Georgia" pitchFamily="34" charset="-120"/>
              </a:rPr>
              <a:t>II</a:t>
            </a:r>
            <a:endParaRPr lang="en-US" sz="9600" dirty="0"/>
          </a:p>
        </p:txBody>
      </p:sp>
      <p:sp>
        <p:nvSpPr>
          <p:cNvPr id="15" name="Text 13"/>
          <p:cNvSpPr/>
          <p:nvPr/>
        </p:nvSpPr>
        <p:spPr>
          <a:xfrm>
            <a:off x="3291840" y="4800600"/>
            <a:ext cx="2651760" cy="777240"/>
          </a:xfrm>
          <a:prstGeom prst="rect">
            <a:avLst/>
          </a:prstGeom>
          <a:noFill/>
          <a:ln/>
        </p:spPr>
        <p:txBody>
          <a:bodyPr wrap="square" lIns="0" tIns="0" rIns="0" bIns="0" rtlCol="0" anchor="ctr"/>
          <a:lstStyle/>
          <a:p>
            <a:pPr indent="0" marL="0">
              <a:buNone/>
            </a:pPr>
            <a:r>
              <a:rPr lang="en-US" sz="1800" b="1" i="1" dirty="0">
                <a:solidFill>
                  <a:srgbClr val="1A1A1A"/>
                </a:solidFill>
                <a:latin typeface="Georgia" pitchFamily="34" charset="0"/>
                <a:ea typeface="Georgia" pitchFamily="34" charset="-122"/>
                <a:cs typeface="Georgia" pitchFamily="34" charset="-120"/>
              </a:rPr>
              <a:t>Disease</a:t>
            </a:r>
            <a:endParaRPr lang="en-US" sz="1800" dirty="0"/>
          </a:p>
          <a:p>
            <a:pPr indent="0" marL="0">
              <a:buNone/>
            </a:pPr>
            <a:r>
              <a:rPr lang="en-US" sz="1800" b="1" i="1" dirty="0">
                <a:solidFill>
                  <a:srgbClr val="1A1A1A"/>
                </a:solidFill>
                <a:latin typeface="Georgia" pitchFamily="34" charset="0"/>
                <a:ea typeface="Georgia" pitchFamily="34" charset="-122"/>
                <a:cs typeface="Georgia" pitchFamily="34" charset="-120"/>
              </a:rPr>
              <a:t>Control</a:t>
            </a:r>
            <a:endParaRPr lang="en-US" sz="1800" dirty="0"/>
          </a:p>
        </p:txBody>
      </p:sp>
      <p:sp>
        <p:nvSpPr>
          <p:cNvPr id="16" name="Text 14"/>
          <p:cNvSpPr/>
          <p:nvPr/>
        </p:nvSpPr>
        <p:spPr>
          <a:xfrm>
            <a:off x="3291840" y="5623560"/>
            <a:ext cx="2651760" cy="914400"/>
          </a:xfrm>
          <a:prstGeom prst="rect">
            <a:avLst/>
          </a:prstGeom>
          <a:noFill/>
          <a:ln/>
        </p:spPr>
        <p:txBody>
          <a:bodyPr wrap="square" lIns="0" tIns="0" rIns="0" bIns="0" rtlCol="0" anchor="ctr"/>
          <a:lstStyle/>
          <a:p>
            <a:pPr indent="0" marL="0">
              <a:buNone/>
            </a:pPr>
            <a:r>
              <a:rPr lang="en-US" sz="1100" dirty="0">
                <a:solidFill>
                  <a:srgbClr val="5C4F3A"/>
                </a:solidFill>
                <a:latin typeface="Calibri" pitchFamily="34" charset="0"/>
                <a:ea typeface="Calibri" pitchFamily="34" charset="-122"/>
                <a:cs typeface="Calibri" pitchFamily="34" charset="-120"/>
              </a:rPr>
              <a:t>17 — correction of restoration. 27 — caries removal &amp; RCT assessment.</a:t>
            </a:r>
            <a:endParaRPr lang="en-US" sz="1100" dirty="0"/>
          </a:p>
        </p:txBody>
      </p:sp>
      <p:sp>
        <p:nvSpPr>
          <p:cNvPr id="17" name="Text 15"/>
          <p:cNvSpPr/>
          <p:nvPr/>
        </p:nvSpPr>
        <p:spPr>
          <a:xfrm>
            <a:off x="6126480" y="3383280"/>
            <a:ext cx="2651760" cy="274320"/>
          </a:xfrm>
          <a:prstGeom prst="rect">
            <a:avLst/>
          </a:prstGeom>
          <a:noFill/>
          <a:ln/>
        </p:spPr>
        <p:txBody>
          <a:bodyPr wrap="square" rtlCol="0" anchor="ctr"/>
          <a:lstStyle/>
          <a:p>
            <a:pPr indent="0" marL="0">
              <a:buNone/>
            </a:pPr>
            <a:r>
              <a:rPr lang="en-US" sz="900" b="1" spc="800" kern="0" dirty="0">
                <a:solidFill>
                  <a:srgbClr val="B8893E"/>
                </a:solidFill>
                <a:latin typeface="Calibri" pitchFamily="34" charset="0"/>
                <a:ea typeface="Calibri" pitchFamily="34" charset="-122"/>
                <a:cs typeface="Calibri" pitchFamily="34" charset="-120"/>
              </a:rPr>
              <a:t>ACT THREE</a:t>
            </a:r>
            <a:endParaRPr lang="en-US" sz="900" dirty="0"/>
          </a:p>
        </p:txBody>
      </p:sp>
      <p:sp>
        <p:nvSpPr>
          <p:cNvPr id="18" name="Text 16"/>
          <p:cNvSpPr/>
          <p:nvPr/>
        </p:nvSpPr>
        <p:spPr>
          <a:xfrm>
            <a:off x="6126480" y="3657600"/>
            <a:ext cx="2651760" cy="1097280"/>
          </a:xfrm>
          <a:prstGeom prst="rect">
            <a:avLst/>
          </a:prstGeom>
          <a:noFill/>
          <a:ln/>
        </p:spPr>
        <p:txBody>
          <a:bodyPr wrap="square" lIns="0" tIns="0" rIns="0" bIns="0" rtlCol="0" anchor="ctr"/>
          <a:lstStyle/>
          <a:p>
            <a:pPr indent="0" marL="0">
              <a:buNone/>
            </a:pPr>
            <a:r>
              <a:rPr lang="en-US" sz="9600" b="1" i="1" dirty="0">
                <a:solidFill>
                  <a:srgbClr val="6B1F2E"/>
                </a:solidFill>
                <a:latin typeface="Georgia" pitchFamily="34" charset="0"/>
                <a:ea typeface="Georgia" pitchFamily="34" charset="-122"/>
                <a:cs typeface="Georgia" pitchFamily="34" charset="-120"/>
              </a:rPr>
              <a:t>III</a:t>
            </a:r>
            <a:endParaRPr lang="en-US" sz="9600" dirty="0"/>
          </a:p>
        </p:txBody>
      </p:sp>
      <p:sp>
        <p:nvSpPr>
          <p:cNvPr id="19" name="Text 17"/>
          <p:cNvSpPr/>
          <p:nvPr/>
        </p:nvSpPr>
        <p:spPr>
          <a:xfrm>
            <a:off x="6126480" y="4800600"/>
            <a:ext cx="2651760" cy="777240"/>
          </a:xfrm>
          <a:prstGeom prst="rect">
            <a:avLst/>
          </a:prstGeom>
          <a:noFill/>
          <a:ln/>
        </p:spPr>
        <p:txBody>
          <a:bodyPr wrap="square" lIns="0" tIns="0" rIns="0" bIns="0" rtlCol="0" anchor="ctr"/>
          <a:lstStyle/>
          <a:p>
            <a:pPr indent="0" marL="0">
              <a:buNone/>
            </a:pPr>
            <a:r>
              <a:rPr lang="en-US" sz="1800" b="1" i="1" dirty="0">
                <a:solidFill>
                  <a:srgbClr val="1A1A1A"/>
                </a:solidFill>
                <a:latin typeface="Georgia" pitchFamily="34" charset="0"/>
                <a:ea typeface="Georgia" pitchFamily="34" charset="-122"/>
                <a:cs typeface="Georgia" pitchFamily="34" charset="-120"/>
              </a:rPr>
              <a:t>Definitive</a:t>
            </a:r>
            <a:endParaRPr lang="en-US" sz="1800" dirty="0"/>
          </a:p>
          <a:p>
            <a:pPr indent="0" marL="0">
              <a:buNone/>
            </a:pPr>
            <a:r>
              <a:rPr lang="en-US" sz="1800" b="1" i="1" dirty="0">
                <a:solidFill>
                  <a:srgbClr val="1A1A1A"/>
                </a:solidFill>
                <a:latin typeface="Georgia" pitchFamily="34" charset="0"/>
                <a:ea typeface="Georgia" pitchFamily="34" charset="-122"/>
                <a:cs typeface="Georgia" pitchFamily="34" charset="-120"/>
              </a:rPr>
              <a:t>Restorative</a:t>
            </a:r>
            <a:endParaRPr lang="en-US" sz="1800" dirty="0"/>
          </a:p>
        </p:txBody>
      </p:sp>
      <p:sp>
        <p:nvSpPr>
          <p:cNvPr id="20" name="Text 18"/>
          <p:cNvSpPr/>
          <p:nvPr/>
        </p:nvSpPr>
        <p:spPr>
          <a:xfrm>
            <a:off x="6126480" y="5623560"/>
            <a:ext cx="2651760" cy="914400"/>
          </a:xfrm>
          <a:prstGeom prst="rect">
            <a:avLst/>
          </a:prstGeom>
          <a:noFill/>
          <a:ln/>
        </p:spPr>
        <p:txBody>
          <a:bodyPr wrap="square" lIns="0" tIns="0" rIns="0" bIns="0" rtlCol="0" anchor="ctr"/>
          <a:lstStyle/>
          <a:p>
            <a:pPr indent="0" marL="0">
              <a:buNone/>
            </a:pPr>
            <a:r>
              <a:rPr lang="en-US" sz="1100" dirty="0">
                <a:solidFill>
                  <a:srgbClr val="5C4F3A"/>
                </a:solidFill>
                <a:latin typeface="Calibri" pitchFamily="34" charset="0"/>
                <a:ea typeface="Calibri" pitchFamily="34" charset="-122"/>
                <a:cs typeface="Calibri" pitchFamily="34" charset="-120"/>
              </a:rPr>
              <a:t>27 — re-RCT and crown if RCT failed. Otherwise, restoration and full coverage crown.</a:t>
            </a:r>
            <a:endParaRPr lang="en-US" sz="1100" dirty="0"/>
          </a:p>
        </p:txBody>
      </p:sp>
      <p:sp>
        <p:nvSpPr>
          <p:cNvPr id="21" name="Text 19"/>
          <p:cNvSpPr/>
          <p:nvPr/>
        </p:nvSpPr>
        <p:spPr>
          <a:xfrm>
            <a:off x="8961120" y="3383280"/>
            <a:ext cx="2651760" cy="274320"/>
          </a:xfrm>
          <a:prstGeom prst="rect">
            <a:avLst/>
          </a:prstGeom>
          <a:noFill/>
          <a:ln/>
        </p:spPr>
        <p:txBody>
          <a:bodyPr wrap="square" rtlCol="0" anchor="ctr"/>
          <a:lstStyle/>
          <a:p>
            <a:pPr indent="0" marL="0">
              <a:buNone/>
            </a:pPr>
            <a:r>
              <a:rPr lang="en-US" sz="900" b="1" spc="800" kern="0" dirty="0">
                <a:solidFill>
                  <a:srgbClr val="B8893E"/>
                </a:solidFill>
                <a:latin typeface="Calibri" pitchFamily="34" charset="0"/>
                <a:ea typeface="Calibri" pitchFamily="34" charset="-122"/>
                <a:cs typeface="Calibri" pitchFamily="34" charset="-120"/>
              </a:rPr>
              <a:t>ACT FOUR</a:t>
            </a:r>
            <a:endParaRPr lang="en-US" sz="900" dirty="0"/>
          </a:p>
        </p:txBody>
      </p:sp>
      <p:sp>
        <p:nvSpPr>
          <p:cNvPr id="22" name="Text 20"/>
          <p:cNvSpPr/>
          <p:nvPr/>
        </p:nvSpPr>
        <p:spPr>
          <a:xfrm>
            <a:off x="8961120" y="3657600"/>
            <a:ext cx="2651760" cy="1097280"/>
          </a:xfrm>
          <a:prstGeom prst="rect">
            <a:avLst/>
          </a:prstGeom>
          <a:noFill/>
          <a:ln/>
        </p:spPr>
        <p:txBody>
          <a:bodyPr wrap="square" lIns="0" tIns="0" rIns="0" bIns="0" rtlCol="0" anchor="ctr"/>
          <a:lstStyle/>
          <a:p>
            <a:pPr indent="0" marL="0">
              <a:buNone/>
            </a:pPr>
            <a:r>
              <a:rPr lang="en-US" sz="9600" b="1" i="1" dirty="0">
                <a:solidFill>
                  <a:srgbClr val="6B1F2E"/>
                </a:solidFill>
                <a:latin typeface="Georgia" pitchFamily="34" charset="0"/>
                <a:ea typeface="Georgia" pitchFamily="34" charset="-122"/>
                <a:cs typeface="Georgia" pitchFamily="34" charset="-120"/>
              </a:rPr>
              <a:t>IV</a:t>
            </a:r>
            <a:endParaRPr lang="en-US" sz="9600" dirty="0"/>
          </a:p>
        </p:txBody>
      </p:sp>
      <p:sp>
        <p:nvSpPr>
          <p:cNvPr id="23" name="Text 21"/>
          <p:cNvSpPr/>
          <p:nvPr/>
        </p:nvSpPr>
        <p:spPr>
          <a:xfrm>
            <a:off x="8961120" y="4800600"/>
            <a:ext cx="2651760" cy="777240"/>
          </a:xfrm>
          <a:prstGeom prst="rect">
            <a:avLst/>
          </a:prstGeom>
          <a:noFill/>
          <a:ln/>
        </p:spPr>
        <p:txBody>
          <a:bodyPr wrap="square" lIns="0" tIns="0" rIns="0" bIns="0" rtlCol="0" anchor="ctr"/>
          <a:lstStyle/>
          <a:p>
            <a:pPr indent="0" marL="0">
              <a:buNone/>
            </a:pPr>
            <a:r>
              <a:rPr lang="en-US" sz="1800" b="1" i="1" dirty="0">
                <a:solidFill>
                  <a:srgbClr val="1A1A1A"/>
                </a:solidFill>
                <a:latin typeface="Georgia" pitchFamily="34" charset="0"/>
                <a:ea typeface="Georgia" pitchFamily="34" charset="-122"/>
                <a:cs typeface="Georgia" pitchFamily="34" charset="-120"/>
              </a:rPr>
              <a:t>Maintenance</a:t>
            </a:r>
            <a:endParaRPr lang="en-US" sz="1800" dirty="0"/>
          </a:p>
          <a:p>
            <a:pPr indent="0" marL="0">
              <a:buNone/>
            </a:pPr>
            <a:r>
              <a:rPr lang="en-US" sz="1800" b="1" i="1" dirty="0">
                <a:solidFill>
                  <a:srgbClr val="1A1A1A"/>
                </a:solidFill>
                <a:latin typeface="Georgia" pitchFamily="34" charset="0"/>
                <a:ea typeface="Georgia" pitchFamily="34" charset="-122"/>
                <a:cs typeface="Georgia" pitchFamily="34" charset="-120"/>
              </a:rPr>
              <a:t>&amp; Follow-up</a:t>
            </a:r>
            <a:endParaRPr lang="en-US" sz="1800" dirty="0"/>
          </a:p>
        </p:txBody>
      </p:sp>
      <p:sp>
        <p:nvSpPr>
          <p:cNvPr id="24" name="Text 22"/>
          <p:cNvSpPr/>
          <p:nvPr/>
        </p:nvSpPr>
        <p:spPr>
          <a:xfrm>
            <a:off x="8961120" y="5623560"/>
            <a:ext cx="2651760" cy="914400"/>
          </a:xfrm>
          <a:prstGeom prst="rect">
            <a:avLst/>
          </a:prstGeom>
          <a:noFill/>
          <a:ln/>
        </p:spPr>
        <p:txBody>
          <a:bodyPr wrap="square" lIns="0" tIns="0" rIns="0" bIns="0" rtlCol="0" anchor="ctr"/>
          <a:lstStyle/>
          <a:p>
            <a:pPr indent="0" marL="0">
              <a:buNone/>
            </a:pPr>
            <a:r>
              <a:rPr lang="en-US" sz="1100" dirty="0">
                <a:solidFill>
                  <a:srgbClr val="5C4F3A"/>
                </a:solidFill>
                <a:latin typeface="Calibri" pitchFamily="34" charset="0"/>
                <a:ea typeface="Calibri" pitchFamily="34" charset="-122"/>
                <a:cs typeface="Calibri" pitchFamily="34" charset="-120"/>
              </a:rPr>
              <a:t>Periodic recall to monitor restorations and overall oral health.</a:t>
            </a:r>
            <a:endParaRPr lang="en-US" sz="1100" dirty="0"/>
          </a:p>
        </p:txBody>
      </p:sp>
      <p:sp>
        <p:nvSpPr>
          <p:cNvPr id="25" name="Shape 23"/>
          <p:cNvSpPr/>
          <p:nvPr/>
        </p:nvSpPr>
        <p:spPr>
          <a:xfrm>
            <a:off x="457200" y="6492240"/>
            <a:ext cx="11247120" cy="13716"/>
          </a:xfrm>
          <a:prstGeom prst="rect">
            <a:avLst/>
          </a:prstGeom>
          <a:solidFill>
            <a:srgbClr val="1A1A1A"/>
          </a:solidFill>
          <a:ln/>
        </p:spPr>
      </p:sp>
      <p:sp>
        <p:nvSpPr>
          <p:cNvPr id="26" name="Text 24"/>
          <p:cNvSpPr/>
          <p:nvPr/>
        </p:nvSpPr>
        <p:spPr>
          <a:xfrm>
            <a:off x="457200" y="6565392"/>
            <a:ext cx="8686800" cy="228600"/>
          </a:xfrm>
          <a:prstGeom prst="rect">
            <a:avLst/>
          </a:prstGeom>
          <a:noFill/>
          <a:ln/>
        </p:spPr>
        <p:txBody>
          <a:bodyPr wrap="square" rtlCol="0" anchor="ctr"/>
          <a:lstStyle/>
          <a:p>
            <a:pPr indent="0" marL="0">
              <a:buNone/>
            </a:pPr>
            <a:r>
              <a:rPr lang="en-US" sz="800" i="1" spc="400" kern="0" dirty="0">
                <a:solidFill>
                  <a:srgbClr val="5C4F3A"/>
                </a:solidFill>
                <a:latin typeface="Calibri" pitchFamily="34" charset="0"/>
                <a:ea typeface="Calibri" pitchFamily="34" charset="-122"/>
                <a:cs typeface="Calibri" pitchFamily="34" charset="-120"/>
              </a:rPr>
              <a:t>IBRAHIM ALSHAHRANI · 2110301  ·  M. HANASH · M140426001</a:t>
            </a:r>
            <a:endParaRPr lang="en-US" sz="800" dirty="0"/>
          </a:p>
        </p:txBody>
      </p:sp>
      <p:sp>
        <p:nvSpPr>
          <p:cNvPr id="27" name="Text 25"/>
          <p:cNvSpPr/>
          <p:nvPr/>
        </p:nvSpPr>
        <p:spPr>
          <a:xfrm>
            <a:off x="9418320" y="6565392"/>
            <a:ext cx="2286000" cy="228600"/>
          </a:xfrm>
          <a:prstGeom prst="rect">
            <a:avLst/>
          </a:prstGeom>
          <a:noFill/>
          <a:ln/>
        </p:spPr>
        <p:txBody>
          <a:bodyPr wrap="square" rtlCol="0" anchor="ctr"/>
          <a:lstStyle/>
          <a:p>
            <a:pPr algn="r" indent="0" marL="0">
              <a:buNone/>
            </a:pPr>
            <a:r>
              <a:rPr lang="en-US" sz="800" b="1" spc="600" kern="0" dirty="0">
                <a:solidFill>
                  <a:srgbClr val="5C4F3A"/>
                </a:solidFill>
                <a:latin typeface="Calibri" pitchFamily="34" charset="0"/>
                <a:ea typeface="Calibri" pitchFamily="34" charset="-122"/>
                <a:cs typeface="Calibri" pitchFamily="34" charset="-120"/>
              </a:rPr>
              <a:t>PAGE  14  /  16</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6B1F2E"/>
        </a:solidFill>
      </p:bgPr>
    </p:bg>
    <p:spTree>
      <p:nvGrpSpPr>
        <p:cNvPr id="1" name=""/>
        <p:cNvGrpSpPr/>
        <p:nvPr/>
      </p:nvGrpSpPr>
      <p:grpSpPr>
        <a:xfrm>
          <a:off x="0" y="0"/>
          <a:ext cx="0" cy="0"/>
          <a:chOff x="0" y="0"/>
          <a:chExt cx="0" cy="0"/>
        </a:xfrm>
      </p:grpSpPr>
      <p:sp>
        <p:nvSpPr>
          <p:cNvPr id="2" name="Shape 0"/>
          <p:cNvSpPr/>
          <p:nvPr/>
        </p:nvSpPr>
        <p:spPr>
          <a:xfrm>
            <a:off x="457200" y="457200"/>
            <a:ext cx="11247120" cy="13716"/>
          </a:xfrm>
          <a:prstGeom prst="rect">
            <a:avLst/>
          </a:prstGeom>
          <a:solidFill>
            <a:srgbClr val="F4EDE0"/>
          </a:solidFill>
          <a:ln/>
        </p:spPr>
      </p:sp>
      <p:sp>
        <p:nvSpPr>
          <p:cNvPr id="3" name="Text 1"/>
          <p:cNvSpPr/>
          <p:nvPr/>
        </p:nvSpPr>
        <p:spPr>
          <a:xfrm>
            <a:off x="457200" y="548640"/>
            <a:ext cx="5486400" cy="274320"/>
          </a:xfrm>
          <a:prstGeom prst="rect">
            <a:avLst/>
          </a:prstGeom>
          <a:noFill/>
          <a:ln/>
        </p:spPr>
        <p:txBody>
          <a:bodyPr wrap="square" rtlCol="0" anchor="ctr"/>
          <a:lstStyle/>
          <a:p>
            <a:pPr indent="0" marL="0">
              <a:buNone/>
            </a:pPr>
            <a:r>
              <a:rPr lang="en-US" sz="1000" b="1" spc="1200" kern="0" dirty="0">
                <a:solidFill>
                  <a:srgbClr val="E8DCC4"/>
                </a:solidFill>
                <a:latin typeface="Calibri" pitchFamily="34" charset="0"/>
                <a:ea typeface="Calibri" pitchFamily="34" charset="-122"/>
                <a:cs typeface="Calibri" pitchFamily="34" charset="-120"/>
              </a:rPr>
              <a:t>THE  ORAL  MEDICINE  QUARTERLY</a:t>
            </a:r>
            <a:endParaRPr lang="en-US" sz="1000" dirty="0"/>
          </a:p>
        </p:txBody>
      </p:sp>
      <p:sp>
        <p:nvSpPr>
          <p:cNvPr id="4" name="Text 2"/>
          <p:cNvSpPr/>
          <p:nvPr/>
        </p:nvSpPr>
        <p:spPr>
          <a:xfrm>
            <a:off x="5760720" y="548640"/>
            <a:ext cx="5943600" cy="274320"/>
          </a:xfrm>
          <a:prstGeom prst="rect">
            <a:avLst/>
          </a:prstGeom>
          <a:noFill/>
          <a:ln/>
        </p:spPr>
        <p:txBody>
          <a:bodyPr wrap="square" rtlCol="0" anchor="ctr"/>
          <a:lstStyle/>
          <a:p>
            <a:pPr algn="r" indent="0" marL="0">
              <a:buNone/>
            </a:pPr>
            <a:r>
              <a:rPr lang="en-US" sz="1000" b="1" spc="1200" kern="0" dirty="0">
                <a:solidFill>
                  <a:srgbClr val="E8DCC4"/>
                </a:solidFill>
                <a:latin typeface="Calibri" pitchFamily="34" charset="0"/>
                <a:ea typeface="Calibri" pitchFamily="34" charset="-122"/>
                <a:cs typeface="Calibri" pitchFamily="34" charset="-120"/>
              </a:rPr>
              <a:t>—  END OF CASE PRESENTATION</a:t>
            </a:r>
            <a:endParaRPr lang="en-US" sz="1000" dirty="0"/>
          </a:p>
        </p:txBody>
      </p:sp>
      <p:sp>
        <p:nvSpPr>
          <p:cNvPr id="5" name="Text 3"/>
          <p:cNvSpPr/>
          <p:nvPr/>
        </p:nvSpPr>
        <p:spPr>
          <a:xfrm>
            <a:off x="457200" y="1097280"/>
            <a:ext cx="11247120" cy="1463040"/>
          </a:xfrm>
          <a:prstGeom prst="rect">
            <a:avLst/>
          </a:prstGeom>
          <a:noFill/>
          <a:ln/>
        </p:spPr>
        <p:txBody>
          <a:bodyPr wrap="square" lIns="0" tIns="0" rIns="0" bIns="0" rtlCol="0" anchor="ctr"/>
          <a:lstStyle/>
          <a:p>
            <a:pPr indent="0" marL="0">
              <a:buNone/>
            </a:pPr>
            <a:r>
              <a:rPr lang="en-US" sz="16000" b="1" i="1" dirty="0">
                <a:solidFill>
                  <a:srgbClr val="F4EDE0"/>
                </a:solidFill>
                <a:latin typeface="Georgia" pitchFamily="34" charset="0"/>
                <a:ea typeface="Georgia" pitchFamily="34" charset="-122"/>
                <a:cs typeface="Georgia" pitchFamily="34" charset="-120"/>
              </a:rPr>
              <a:t>Thank</a:t>
            </a:r>
            <a:endParaRPr lang="en-US" sz="16000" dirty="0"/>
          </a:p>
        </p:txBody>
      </p:sp>
      <p:sp>
        <p:nvSpPr>
          <p:cNvPr id="6" name="Text 4"/>
          <p:cNvSpPr/>
          <p:nvPr/>
        </p:nvSpPr>
        <p:spPr>
          <a:xfrm>
            <a:off x="457200" y="2606040"/>
            <a:ext cx="11247120" cy="1463040"/>
          </a:xfrm>
          <a:prstGeom prst="rect">
            <a:avLst/>
          </a:prstGeom>
          <a:noFill/>
          <a:ln/>
        </p:spPr>
        <p:txBody>
          <a:bodyPr wrap="square" lIns="0" tIns="0" rIns="0" bIns="0" rtlCol="0" anchor="ctr"/>
          <a:lstStyle/>
          <a:p>
            <a:pPr indent="0" marL="0">
              <a:buNone/>
            </a:pPr>
            <a:r>
              <a:rPr lang="en-US" sz="16000" b="1" i="1" dirty="0">
                <a:solidFill>
                  <a:srgbClr val="F4EDE0"/>
                </a:solidFill>
                <a:latin typeface="Georgia" pitchFamily="34" charset="0"/>
                <a:ea typeface="Georgia" pitchFamily="34" charset="-122"/>
                <a:cs typeface="Georgia" pitchFamily="34" charset="-120"/>
              </a:rPr>
              <a:t>you.</a:t>
            </a:r>
            <a:endParaRPr lang="en-US" sz="16000" dirty="0"/>
          </a:p>
        </p:txBody>
      </p:sp>
      <p:sp>
        <p:nvSpPr>
          <p:cNvPr id="7" name="Shape 5"/>
          <p:cNvSpPr/>
          <p:nvPr/>
        </p:nvSpPr>
        <p:spPr>
          <a:xfrm>
            <a:off x="457200" y="4160520"/>
            <a:ext cx="1371600" cy="45720"/>
          </a:xfrm>
          <a:prstGeom prst="rect">
            <a:avLst/>
          </a:prstGeom>
          <a:solidFill>
            <a:srgbClr val="B8893E"/>
          </a:solidFill>
          <a:ln/>
        </p:spPr>
      </p:sp>
      <p:sp>
        <p:nvSpPr>
          <p:cNvPr id="8" name="Shape 6"/>
          <p:cNvSpPr/>
          <p:nvPr/>
        </p:nvSpPr>
        <p:spPr>
          <a:xfrm>
            <a:off x="457200" y="4572000"/>
            <a:ext cx="11247120" cy="13716"/>
          </a:xfrm>
          <a:prstGeom prst="rect">
            <a:avLst/>
          </a:prstGeom>
          <a:solidFill>
            <a:srgbClr val="F4EDE0"/>
          </a:solidFill>
          <a:ln/>
        </p:spPr>
      </p:sp>
      <p:sp>
        <p:nvSpPr>
          <p:cNvPr id="9" name="Text 7"/>
          <p:cNvSpPr/>
          <p:nvPr/>
        </p:nvSpPr>
        <p:spPr>
          <a:xfrm>
            <a:off x="457200" y="4663440"/>
            <a:ext cx="5486400" cy="274320"/>
          </a:xfrm>
          <a:prstGeom prst="rect">
            <a:avLst/>
          </a:prstGeom>
          <a:noFill/>
          <a:ln/>
        </p:spPr>
        <p:txBody>
          <a:bodyPr wrap="square" rtlCol="0" anchor="ctr"/>
          <a:lstStyle/>
          <a:p>
            <a:pPr indent="0" marL="0">
              <a:buNone/>
            </a:pPr>
            <a:r>
              <a:rPr lang="en-US" sz="1000" b="1" spc="1000" kern="0" dirty="0">
                <a:solidFill>
                  <a:srgbClr val="D4AF37"/>
                </a:solidFill>
                <a:latin typeface="Calibri" pitchFamily="34" charset="0"/>
                <a:ea typeface="Calibri" pitchFamily="34" charset="-122"/>
                <a:cs typeface="Calibri" pitchFamily="34" charset="-120"/>
              </a:rPr>
              <a:t>ACKNOWLEDGEMENTS</a:t>
            </a:r>
            <a:endParaRPr lang="en-US" sz="1000" dirty="0"/>
          </a:p>
        </p:txBody>
      </p:sp>
      <p:sp>
        <p:nvSpPr>
          <p:cNvPr id="10" name="Text 8"/>
          <p:cNvSpPr/>
          <p:nvPr/>
        </p:nvSpPr>
        <p:spPr>
          <a:xfrm>
            <a:off x="457200" y="5074920"/>
            <a:ext cx="10972800" cy="411480"/>
          </a:xfrm>
          <a:prstGeom prst="rect">
            <a:avLst/>
          </a:prstGeom>
          <a:noFill/>
          <a:ln/>
        </p:spPr>
        <p:txBody>
          <a:bodyPr wrap="square" lIns="0" tIns="0" rIns="0" bIns="0" rtlCol="0" anchor="ctr"/>
          <a:lstStyle/>
          <a:p>
            <a:pPr indent="0" marL="0">
              <a:buNone/>
            </a:pPr>
            <a:r>
              <a:rPr lang="en-US" sz="1800" b="1" i="1" dirty="0">
                <a:solidFill>
                  <a:srgbClr val="B8893E"/>
                </a:solidFill>
                <a:latin typeface="Georgia" pitchFamily="34" charset="0"/>
                <a:ea typeface="Georgia" pitchFamily="34" charset="-122"/>
                <a:cs typeface="Georgia" pitchFamily="34" charset="-120"/>
              </a:rPr>
              <a:t>01   </a:t>
            </a:r>
            <a:pPr indent="0" marL="0">
              <a:buNone/>
            </a:pPr>
            <a:r>
              <a:rPr lang="en-US" sz="1800" i="1" dirty="0">
                <a:solidFill>
                  <a:srgbClr val="F4EDE0"/>
                </a:solidFill>
                <a:latin typeface="Georgia" pitchFamily="34" charset="0"/>
                <a:ea typeface="Georgia" pitchFamily="34" charset="-122"/>
                <a:cs typeface="Georgia" pitchFamily="34" charset="-120"/>
              </a:rPr>
              <a:t>Dr. Syed Mukith</a:t>
            </a:r>
            <a:endParaRPr lang="en-US" sz="1800" dirty="0"/>
          </a:p>
        </p:txBody>
      </p:sp>
      <p:sp>
        <p:nvSpPr>
          <p:cNvPr id="11" name="Text 9"/>
          <p:cNvSpPr/>
          <p:nvPr/>
        </p:nvSpPr>
        <p:spPr>
          <a:xfrm>
            <a:off x="457200" y="5532120"/>
            <a:ext cx="10972800" cy="411480"/>
          </a:xfrm>
          <a:prstGeom prst="rect">
            <a:avLst/>
          </a:prstGeom>
          <a:noFill/>
          <a:ln/>
        </p:spPr>
        <p:txBody>
          <a:bodyPr wrap="square" lIns="0" tIns="0" rIns="0" bIns="0" rtlCol="0" anchor="ctr"/>
          <a:lstStyle/>
          <a:p>
            <a:pPr indent="0" marL="0">
              <a:buNone/>
            </a:pPr>
            <a:r>
              <a:rPr lang="en-US" sz="1800" b="1" i="1" dirty="0">
                <a:solidFill>
                  <a:srgbClr val="B8893E"/>
                </a:solidFill>
                <a:latin typeface="Georgia" pitchFamily="34" charset="0"/>
                <a:ea typeface="Georgia" pitchFamily="34" charset="-122"/>
                <a:cs typeface="Georgia" pitchFamily="34" charset="-120"/>
              </a:rPr>
              <a:t>02   </a:t>
            </a:r>
            <a:pPr indent="0" marL="0">
              <a:buNone/>
            </a:pPr>
            <a:r>
              <a:rPr lang="en-US" sz="1800" i="1" dirty="0">
                <a:solidFill>
                  <a:srgbClr val="F4EDE0"/>
                </a:solidFill>
                <a:latin typeface="Georgia" pitchFamily="34" charset="0"/>
                <a:ea typeface="Georgia" pitchFamily="34" charset="-122"/>
                <a:cs typeface="Georgia" pitchFamily="34" charset="-120"/>
              </a:rPr>
              <a:t>Dr. Sajda Gajdhar</a:t>
            </a:r>
            <a:endParaRPr lang="en-US" sz="1800" dirty="0"/>
          </a:p>
        </p:txBody>
      </p:sp>
      <p:sp>
        <p:nvSpPr>
          <p:cNvPr id="12" name="Text 10"/>
          <p:cNvSpPr/>
          <p:nvPr/>
        </p:nvSpPr>
        <p:spPr>
          <a:xfrm>
            <a:off x="457200" y="5989320"/>
            <a:ext cx="10972800" cy="411480"/>
          </a:xfrm>
          <a:prstGeom prst="rect">
            <a:avLst/>
          </a:prstGeom>
          <a:noFill/>
          <a:ln/>
        </p:spPr>
        <p:txBody>
          <a:bodyPr wrap="square" lIns="0" tIns="0" rIns="0" bIns="0" rtlCol="0" anchor="ctr"/>
          <a:lstStyle/>
          <a:p>
            <a:pPr indent="0" marL="0">
              <a:buNone/>
            </a:pPr>
            <a:r>
              <a:rPr lang="en-US" sz="1800" b="1" i="1" dirty="0">
                <a:solidFill>
                  <a:srgbClr val="B8893E"/>
                </a:solidFill>
                <a:latin typeface="Georgia" pitchFamily="34" charset="0"/>
                <a:ea typeface="Georgia" pitchFamily="34" charset="-122"/>
                <a:cs typeface="Georgia" pitchFamily="34" charset="-120"/>
              </a:rPr>
              <a:t>03   </a:t>
            </a:r>
            <a:pPr indent="0" marL="0">
              <a:buNone/>
            </a:pPr>
            <a:r>
              <a:rPr lang="en-US" sz="1800" i="1" dirty="0">
                <a:solidFill>
                  <a:srgbClr val="F4EDE0"/>
                </a:solidFill>
                <a:latin typeface="Georgia" pitchFamily="34" charset="0"/>
                <a:ea typeface="Georgia" pitchFamily="34" charset="-122"/>
                <a:cs typeface="Georgia" pitchFamily="34" charset="-120"/>
              </a:rPr>
              <a:t>Dr. Vanaja Reddy</a:t>
            </a:r>
            <a:endParaRPr lang="en-US" sz="1800" dirty="0"/>
          </a:p>
        </p:txBody>
      </p:sp>
      <p:sp>
        <p:nvSpPr>
          <p:cNvPr id="13" name="Shape 11"/>
          <p:cNvSpPr/>
          <p:nvPr/>
        </p:nvSpPr>
        <p:spPr>
          <a:xfrm>
            <a:off x="457200" y="6629400"/>
            <a:ext cx="11247120" cy="13716"/>
          </a:xfrm>
          <a:prstGeom prst="rect">
            <a:avLst/>
          </a:prstGeom>
          <a:solidFill>
            <a:srgbClr val="F4EDE0"/>
          </a:solidFill>
          <a:ln/>
        </p:spPr>
      </p:sp>
      <p:sp>
        <p:nvSpPr>
          <p:cNvPr id="14" name="Text 12"/>
          <p:cNvSpPr/>
          <p:nvPr/>
        </p:nvSpPr>
        <p:spPr>
          <a:xfrm>
            <a:off x="457200" y="6693408"/>
            <a:ext cx="11247120" cy="182880"/>
          </a:xfrm>
          <a:prstGeom prst="rect">
            <a:avLst/>
          </a:prstGeom>
          <a:noFill/>
          <a:ln/>
        </p:spPr>
        <p:txBody>
          <a:bodyPr wrap="square" rtlCol="0" anchor="ctr"/>
          <a:lstStyle/>
          <a:p>
            <a:pPr indent="0" marL="0">
              <a:buNone/>
            </a:pPr>
            <a:r>
              <a:rPr lang="en-US" sz="800" i="1" spc="600" kern="0" dirty="0">
                <a:solidFill>
                  <a:srgbClr val="E8DCC4"/>
                </a:solidFill>
                <a:latin typeface="Calibri" pitchFamily="34" charset="0"/>
                <a:ea typeface="Calibri" pitchFamily="34" charset="-122"/>
                <a:cs typeface="Calibri" pitchFamily="34" charset="-120"/>
              </a:rPr>
              <a:t>IBRAHIM ALSHAHRANI · 2110301  ·  PATIENT: M. HANASH · M140426001  ·  3RD BDS · 2025/26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Oral Cavity in Disease — Case Presentation</dc:title>
  <dc:subject>PptxGenJS Presentation</dc:subject>
  <dc:creator>PptxGenJS</dc:creator>
  <cp:lastModifiedBy>PptxGenJS</cp:lastModifiedBy>
  <cp:revision>1</cp:revision>
  <dcterms:created xsi:type="dcterms:W3CDTF">2026-05-05T22:23:57Z</dcterms:created>
  <dcterms:modified xsi:type="dcterms:W3CDTF">2026-05-05T22:23:57Z</dcterms:modified>
</cp:coreProperties>
</file>